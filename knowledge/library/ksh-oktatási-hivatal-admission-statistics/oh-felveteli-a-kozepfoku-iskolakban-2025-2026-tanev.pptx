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3.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4.xml" ContentType="application/vnd.openxmlformats-officedocument.themeOverride+xml"/>
  <Override PartName="/ppt/drawings/drawing1.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2.xml" ContentType="application/vnd.openxmlformats-officedocument.drawingml.chartshapes+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3.xml" ContentType="application/vnd.openxmlformats-officedocument.drawingml.chartshapes+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style16.xml" ContentType="application/vnd.ms-office.chartstyle+xml"/>
  <Override PartName="/ppt/charts/colors16.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8"/>
  </p:notesMasterIdLst>
  <p:sldIdLst>
    <p:sldId id="261" r:id="rId5"/>
    <p:sldId id="259" r:id="rId6"/>
    <p:sldId id="263" r:id="rId7"/>
    <p:sldId id="264" r:id="rId8"/>
    <p:sldId id="265" r:id="rId9"/>
    <p:sldId id="267" r:id="rId10"/>
    <p:sldId id="266" r:id="rId11"/>
    <p:sldId id="298" r:id="rId12"/>
    <p:sldId id="299" r:id="rId13"/>
    <p:sldId id="300" r:id="rId14"/>
    <p:sldId id="301" r:id="rId15"/>
    <p:sldId id="302" r:id="rId16"/>
    <p:sldId id="303" r:id="rId17"/>
    <p:sldId id="304" r:id="rId18"/>
    <p:sldId id="305" r:id="rId19"/>
    <p:sldId id="306" r:id="rId20"/>
    <p:sldId id="307" r:id="rId21"/>
    <p:sldId id="308" r:id="rId22"/>
    <p:sldId id="309" r:id="rId23"/>
    <p:sldId id="280" r:id="rId24"/>
    <p:sldId id="310" r:id="rId25"/>
    <p:sldId id="311" r:id="rId26"/>
    <p:sldId id="312" r:id="rId27"/>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gasz János" initials="DJ" lastIdx="11" clrIdx="0">
    <p:extLst>
      <p:ext uri="{19B8F6BF-5375-455C-9EA6-DF929625EA0E}">
        <p15:presenceInfo xmlns:p15="http://schemas.microsoft.com/office/powerpoint/2012/main" userId="S::dugaszj@oh.gov.hu::286a3f0a-1020-4fa4-bfb0-2b4cdf90fd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5133"/>
    <a:srgbClr val="8C6440"/>
    <a:srgbClr val="936943"/>
    <a:srgbClr val="AC7B4E"/>
    <a:srgbClr val="C0966C"/>
    <a:srgbClr val="D59A63"/>
    <a:srgbClr val="E9A168"/>
    <a:srgbClr val="E9A864"/>
    <a:srgbClr val="E7B791"/>
    <a:srgbClr val="EFD0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97" autoAdjust="0"/>
    <p:restoredTop sz="94660"/>
  </p:normalViewPr>
  <p:slideViewPr>
    <p:cSldViewPr snapToGrid="0">
      <p:cViewPr varScale="1">
        <p:scale>
          <a:sx n="114" d="100"/>
          <a:sy n="114" d="100"/>
        </p:scale>
        <p:origin x="234" y="102"/>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6.xml"/><Relationship Id="rId1" Type="http://schemas.microsoft.com/office/2011/relationships/chartStyle" Target="style6.xml"/><Relationship Id="rId5" Type="http://schemas.openxmlformats.org/officeDocument/2006/relationships/chartUserShapes" Target="../drawings/drawing1.xml"/><Relationship Id="rId4"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2.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chartUserShapes" Target="../drawings/drawing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6.xml"/><Relationship Id="rId1" Type="http://schemas.microsoft.com/office/2011/relationships/chartStyle" Target="style1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600" b="1" i="0" u="none" strike="noStrike" kern="1200" spc="0" baseline="0">
                <a:solidFill>
                  <a:schemeClr val="tx1"/>
                </a:solidFill>
                <a:latin typeface="+mn-lt"/>
                <a:ea typeface="+mn-ea"/>
                <a:cs typeface="+mn-cs"/>
              </a:defRPr>
            </a:pPr>
            <a:r>
              <a:rPr lang="en-US" sz="1600" b="1"/>
              <a:t>A </a:t>
            </a:r>
            <a:r>
              <a:rPr lang="hu-HU" sz="1600" b="1"/>
              <a:t>részt vevő</a:t>
            </a:r>
            <a:r>
              <a:rPr lang="en-US" sz="1600" b="1"/>
              <a:t> </a:t>
            </a:r>
            <a:r>
              <a:rPr lang="hu-HU" sz="1600" b="1"/>
              <a:t>tanulók</a:t>
            </a:r>
            <a:r>
              <a:rPr lang="en-US" sz="1600" b="1"/>
              <a:t> </a:t>
            </a:r>
            <a:r>
              <a:rPr lang="hu-HU" sz="1600" b="1"/>
              <a:t>száma*</a:t>
            </a:r>
            <a:endParaRPr lang="en-US" sz="1600" b="1"/>
          </a:p>
        </c:rich>
      </c:tx>
      <c:overlay val="0"/>
      <c:spPr>
        <a:noFill/>
        <a:ln>
          <a:noFill/>
        </a:ln>
        <a:effectLst/>
      </c:spPr>
      <c:txPr>
        <a:bodyPr rot="0" spcFirstLastPara="1" vertOverflow="ellipsis" vert="horz" wrap="square" anchor="ctr" anchorCtr="1"/>
        <a:lstStyle/>
        <a:p>
          <a:pPr>
            <a:defRPr lang="en-US" sz="1600" b="1" i="0" u="none" strike="noStrike" kern="1200" spc="0" baseline="0">
              <a:solidFill>
                <a:schemeClr val="tx1"/>
              </a:solidFill>
              <a:latin typeface="+mn-lt"/>
              <a:ea typeface="+mn-ea"/>
              <a:cs typeface="+mn-cs"/>
            </a:defRPr>
          </a:pPr>
          <a:endParaRPr lang="hu-HU"/>
        </a:p>
      </c:txPr>
    </c:title>
    <c:autoTitleDeleted val="0"/>
    <c:plotArea>
      <c:layout/>
      <c:barChart>
        <c:barDir val="col"/>
        <c:grouping val="clustered"/>
        <c:varyColors val="0"/>
        <c:ser>
          <c:idx val="0"/>
          <c:order val="0"/>
          <c:tx>
            <c:strRef>
              <c:f>Munka1!$B$1</c:f>
              <c:strCache>
                <c:ptCount val="1"/>
                <c:pt idx="0">
                  <c:v>A résztvevő tanulók számának változása</c:v>
                </c:pt>
              </c:strCache>
            </c:strRef>
          </c:tx>
          <c:spPr>
            <a:solidFill>
              <a:schemeClr val="tx1"/>
            </a:solidFill>
            <a:ln>
              <a:solidFill>
                <a:schemeClr val="tx1"/>
              </a:solidFill>
            </a:ln>
            <a:effectLst/>
          </c:spPr>
          <c:invertIfNegative val="0"/>
          <c:dLbls>
            <c:numFmt formatCode="#,##0" sourceLinked="0"/>
            <c:spPr>
              <a:noFill/>
              <a:ln>
                <a:noFill/>
              </a:ln>
              <a:effectLst/>
            </c:spPr>
            <c:txPr>
              <a:bodyPr rot="-5400000" spcFirstLastPara="1" vertOverflow="ellipsis" wrap="square" lIns="38100" tIns="19050" rIns="38100" bIns="19050" anchor="ctr" anchorCtr="1"/>
              <a:lstStyle/>
              <a:p>
                <a:pPr>
                  <a:defRPr lang="en-US" sz="1195" b="1" i="0" u="none" strike="noStrike" kern="1200" baseline="0">
                    <a:solidFill>
                      <a:schemeClr val="bg1">
                        <a:lumMod val="95000"/>
                      </a:schemeClr>
                    </a:solidFill>
                    <a:latin typeface="+mn-lt"/>
                    <a:ea typeface="+mn-ea"/>
                    <a:cs typeface="+mn-cs"/>
                  </a:defRPr>
                </a:pPr>
                <a:endParaRPr lang="hu-H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Munka1!$A$2:$A$17</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Munka1!$B$2:$B$17</c:f>
              <c:numCache>
                <c:formatCode>General</c:formatCode>
                <c:ptCount val="10"/>
                <c:pt idx="0">
                  <c:v>48728</c:v>
                </c:pt>
                <c:pt idx="1">
                  <c:v>47886</c:v>
                </c:pt>
                <c:pt idx="2">
                  <c:v>49410</c:v>
                </c:pt>
                <c:pt idx="3" formatCode="#,##0">
                  <c:v>50863</c:v>
                </c:pt>
                <c:pt idx="4" formatCode="#,##0">
                  <c:v>54894</c:v>
                </c:pt>
                <c:pt idx="5" formatCode="#,##0">
                  <c:v>48869</c:v>
                </c:pt>
                <c:pt idx="6" formatCode="#,##0">
                  <c:v>49207</c:v>
                </c:pt>
                <c:pt idx="7" formatCode="#,##0">
                  <c:v>47273</c:v>
                </c:pt>
                <c:pt idx="8" formatCode="#,##0">
                  <c:v>43782</c:v>
                </c:pt>
                <c:pt idx="9" formatCode="#,##0">
                  <c:v>44866</c:v>
                </c:pt>
              </c:numCache>
            </c:numRef>
          </c:val>
          <c:extLst>
            <c:ext xmlns:c16="http://schemas.microsoft.com/office/drawing/2014/chart" uri="{C3380CC4-5D6E-409C-BE32-E72D297353CC}">
              <c16:uniqueId val="{00000000-6A3E-4EA8-BF16-F48F8BCEBA6A}"/>
            </c:ext>
          </c:extLst>
        </c:ser>
        <c:dLbls>
          <c:showLegendKey val="0"/>
          <c:showVal val="1"/>
          <c:showCatName val="0"/>
          <c:showSerName val="0"/>
          <c:showPercent val="0"/>
          <c:showBubbleSize val="0"/>
        </c:dLbls>
        <c:gapWidth val="75"/>
        <c:overlap val="-27"/>
        <c:axId val="542360608"/>
        <c:axId val="542361920"/>
      </c:barChart>
      <c:catAx>
        <c:axId val="5423606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hu-HU"/>
          </a:p>
        </c:txPr>
        <c:crossAx val="542361920"/>
        <c:crosses val="autoZero"/>
        <c:auto val="1"/>
        <c:lblAlgn val="ctr"/>
        <c:lblOffset val="100"/>
        <c:noMultiLvlLbl val="0"/>
      </c:catAx>
      <c:valAx>
        <c:axId val="542361920"/>
        <c:scaling>
          <c:orientation val="minMax"/>
          <c:max val="6200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hu-HU"/>
          </a:p>
        </c:txPr>
        <c:crossAx val="542360608"/>
        <c:crosses val="autoZero"/>
        <c:crossBetween val="between"/>
      </c:valAx>
      <c:spPr>
        <a:noFill/>
        <a:ln>
          <a:noFill/>
        </a:ln>
        <a:effectLst/>
      </c:spPr>
    </c:plotArea>
    <c:plotVisOnly val="1"/>
    <c:dispBlanksAs val="gap"/>
    <c:showDLblsOverMax val="0"/>
    <c:extLst>
      <c:ext uri="{0b15fc19-7d7d-44ad-8c2d-2c3a37ce22c3}">
        <chartProps xmlns="https://web.wps.cn/et/2018/main" chartId="{179bc766-962e-4c0c-9688-ea06689fa045}"/>
      </c:ext>
    </c:extLst>
  </c:chart>
  <c:spPr>
    <a:noFill/>
    <a:ln>
      <a:noFill/>
    </a:ln>
    <a:effectLst/>
  </c:spPr>
  <c:txPr>
    <a:bodyPr/>
    <a:lstStyle/>
    <a:p>
      <a:pPr>
        <a:defRPr lang="en-US">
          <a:solidFill>
            <a:schemeClr val="tx1"/>
          </a:solidFill>
        </a:defRPr>
      </a:pPr>
      <a:endParaRPr lang="hu-HU"/>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600" b="0" i="0" u="none" strike="noStrike" kern="1200" spc="0" baseline="0">
                <a:solidFill>
                  <a:schemeClr val="tx1"/>
                </a:solidFill>
                <a:latin typeface="+mn-lt"/>
                <a:ea typeface="+mn-ea"/>
                <a:cs typeface="+mn-cs"/>
              </a:defRPr>
            </a:pPr>
            <a:r>
              <a:rPr lang="en-US" sz="1600" b="1" i="0" dirty="0">
                <a:solidFill>
                  <a:schemeClr val="tx1"/>
                </a:solidFill>
              </a:rPr>
              <a:t>A </a:t>
            </a:r>
            <a:r>
              <a:rPr lang="hu-HU" sz="1600" b="1" i="0" noProof="0" dirty="0">
                <a:solidFill>
                  <a:schemeClr val="tx1"/>
                </a:solidFill>
              </a:rPr>
              <a:t>részt</a:t>
            </a:r>
            <a:r>
              <a:rPr lang="hu-HU" sz="1600" b="1" i="0" dirty="0">
                <a:solidFill>
                  <a:schemeClr val="tx1"/>
                </a:solidFill>
              </a:rPr>
              <a:t> </a:t>
            </a:r>
            <a:r>
              <a:rPr lang="hu-HU" sz="1600" b="1" i="0" noProof="0" dirty="0">
                <a:solidFill>
                  <a:schemeClr val="tx1"/>
                </a:solidFill>
              </a:rPr>
              <a:t>vevő</a:t>
            </a:r>
            <a:r>
              <a:rPr lang="en-US" sz="1600" b="1" i="0" dirty="0">
                <a:solidFill>
                  <a:schemeClr val="tx1"/>
                </a:solidFill>
              </a:rPr>
              <a:t> </a:t>
            </a:r>
            <a:r>
              <a:rPr lang="hu-HU" sz="1600" b="1" i="0" noProof="0" dirty="0">
                <a:solidFill>
                  <a:schemeClr val="tx1"/>
                </a:solidFill>
              </a:rPr>
              <a:t>iskolák</a:t>
            </a:r>
            <a:r>
              <a:rPr lang="en-US" sz="1600" b="1" i="0" dirty="0">
                <a:solidFill>
                  <a:schemeClr val="tx1"/>
                </a:solidFill>
              </a:rPr>
              <a:t> </a:t>
            </a:r>
            <a:r>
              <a:rPr lang="hu-HU" sz="1600" b="1" i="0" noProof="0" dirty="0">
                <a:solidFill>
                  <a:schemeClr val="tx1"/>
                </a:solidFill>
              </a:rPr>
              <a:t>szám</a:t>
            </a:r>
            <a:r>
              <a:rPr lang="hu-HU" sz="1600" b="1" i="0" dirty="0">
                <a:solidFill>
                  <a:schemeClr val="tx1"/>
                </a:solidFill>
              </a:rPr>
              <a:t>a</a:t>
            </a:r>
            <a:endParaRPr lang="en-US" sz="1600" b="1" i="0" dirty="0">
              <a:solidFill>
                <a:schemeClr val="tx1"/>
              </a:solidFill>
            </a:endParaRPr>
          </a:p>
        </c:rich>
      </c:tx>
      <c:layout>
        <c:manualLayout>
          <c:xMode val="edge"/>
          <c:yMode val="edge"/>
          <c:x val="0.114342796906704"/>
          <c:y val="0"/>
        </c:manualLayout>
      </c:layout>
      <c:overlay val="0"/>
      <c:spPr>
        <a:noFill/>
        <a:ln>
          <a:noFill/>
        </a:ln>
        <a:effectLst/>
      </c:spPr>
      <c:txPr>
        <a:bodyPr rot="0" spcFirstLastPara="1" vertOverflow="ellipsis" vert="horz" wrap="square" anchor="ctr" anchorCtr="1"/>
        <a:lstStyle/>
        <a:p>
          <a:pPr>
            <a:defRPr lang="en-US" sz="1600" b="0" i="0" u="none" strike="noStrike" kern="1200" spc="0" baseline="0">
              <a:solidFill>
                <a:schemeClr val="tx1"/>
              </a:solidFill>
              <a:latin typeface="+mn-lt"/>
              <a:ea typeface="+mn-ea"/>
              <a:cs typeface="+mn-cs"/>
            </a:defRPr>
          </a:pPr>
          <a:endParaRPr lang="hu-HU"/>
        </a:p>
      </c:txPr>
    </c:title>
    <c:autoTitleDeleted val="0"/>
    <c:plotArea>
      <c:layout/>
      <c:barChart>
        <c:barDir val="col"/>
        <c:grouping val="clustered"/>
        <c:varyColors val="0"/>
        <c:ser>
          <c:idx val="0"/>
          <c:order val="0"/>
          <c:tx>
            <c:strRef>
              <c:f>Munka1!$B$1</c:f>
              <c:strCache>
                <c:ptCount val="1"/>
                <c:pt idx="0">
                  <c:v>A résztvevő iskolák számának változása</c:v>
                </c:pt>
              </c:strCache>
            </c:strRef>
          </c:tx>
          <c:spPr>
            <a:solidFill>
              <a:schemeClr val="tx1"/>
            </a:solidFill>
            <a:ln>
              <a:solidFill>
                <a:schemeClr val="tx1"/>
              </a:solidFill>
            </a:ln>
            <a:effectLst/>
          </c:spPr>
          <c:invertIfNegative val="0"/>
          <c:dLbls>
            <c:dLbl>
              <c:idx val="5"/>
              <c:layout>
                <c:manualLayout>
                  <c:x val="2.52853612292588E-3"/>
                  <c:y val="0.12592688258830301"/>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FDF-45DF-ACA6-EF10CC286511}"/>
                </c:ext>
              </c:extLst>
            </c:dLbl>
            <c:spPr>
              <a:noFill/>
              <a:ln>
                <a:noFill/>
              </a:ln>
              <a:effectLst/>
            </c:spPr>
            <c:txPr>
              <a:bodyPr rot="-5400000" spcFirstLastPara="1" vertOverflow="ellipsis" wrap="square" lIns="38100" tIns="19050" rIns="38100" bIns="19050" anchor="ctr" anchorCtr="1">
                <a:spAutoFit/>
              </a:bodyPr>
              <a:lstStyle/>
              <a:p>
                <a:pPr>
                  <a:defRPr lang="en-US" sz="1195" b="1" i="0" u="none" strike="noStrike" kern="1200" baseline="0">
                    <a:solidFill>
                      <a:schemeClr val="bg1">
                        <a:lumMod val="95000"/>
                      </a:schemeClr>
                    </a:solidFill>
                    <a:latin typeface="+mn-lt"/>
                    <a:ea typeface="+mn-ea"/>
                    <a:cs typeface="+mn-cs"/>
                  </a:defRPr>
                </a:pPr>
                <a:endParaRPr lang="hu-H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Munka1!$A$2:$A$17</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Munka1!$B$2:$B$17</c:f>
              <c:numCache>
                <c:formatCode>General</c:formatCode>
                <c:ptCount val="10"/>
                <c:pt idx="0">
                  <c:v>388</c:v>
                </c:pt>
                <c:pt idx="1">
                  <c:v>392</c:v>
                </c:pt>
                <c:pt idx="2">
                  <c:v>401</c:v>
                </c:pt>
                <c:pt idx="3">
                  <c:v>408</c:v>
                </c:pt>
                <c:pt idx="4">
                  <c:v>506</c:v>
                </c:pt>
                <c:pt idx="5">
                  <c:v>517</c:v>
                </c:pt>
                <c:pt idx="6">
                  <c:v>514</c:v>
                </c:pt>
                <c:pt idx="7">
                  <c:v>514</c:v>
                </c:pt>
                <c:pt idx="8">
                  <c:v>516</c:v>
                </c:pt>
                <c:pt idx="9">
                  <c:v>530</c:v>
                </c:pt>
              </c:numCache>
            </c:numRef>
          </c:val>
          <c:extLst>
            <c:ext xmlns:c16="http://schemas.microsoft.com/office/drawing/2014/chart" uri="{C3380CC4-5D6E-409C-BE32-E72D297353CC}">
              <c16:uniqueId val="{00000001-EFDF-45DF-ACA6-EF10CC286511}"/>
            </c:ext>
          </c:extLst>
        </c:ser>
        <c:dLbls>
          <c:showLegendKey val="0"/>
          <c:showVal val="0"/>
          <c:showCatName val="0"/>
          <c:showSerName val="0"/>
          <c:showPercent val="0"/>
          <c:showBubbleSize val="0"/>
        </c:dLbls>
        <c:gapWidth val="75"/>
        <c:overlap val="-27"/>
        <c:axId val="539156016"/>
        <c:axId val="539155688"/>
      </c:barChart>
      <c:catAx>
        <c:axId val="539156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hu-HU"/>
          </a:p>
        </c:txPr>
        <c:crossAx val="539155688"/>
        <c:crosses val="autoZero"/>
        <c:auto val="1"/>
        <c:lblAlgn val="ctr"/>
        <c:lblOffset val="100"/>
        <c:noMultiLvlLbl val="0"/>
      </c:catAx>
      <c:valAx>
        <c:axId val="5391556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hu-HU"/>
          </a:p>
        </c:txPr>
        <c:crossAx val="539156016"/>
        <c:crosses val="autoZero"/>
        <c:crossBetween val="between"/>
        <c:majorUnit val="50"/>
      </c:valAx>
      <c:spPr>
        <a:noFill/>
        <a:ln>
          <a:noFill/>
        </a:ln>
        <a:effectLst/>
      </c:spPr>
    </c:plotArea>
    <c:plotVisOnly val="1"/>
    <c:dispBlanksAs val="gap"/>
    <c:showDLblsOverMax val="0"/>
    <c:extLst>
      <c:ext uri="{0b15fc19-7d7d-44ad-8c2d-2c3a37ce22c3}">
        <chartProps xmlns="https://web.wps.cn/et/2018/main" chartId="{f6d14781-c47e-42b9-a8b9-3be943e7fa85}"/>
      </c:ext>
    </c:extLst>
  </c:chart>
  <c:spPr>
    <a:noFill/>
    <a:ln>
      <a:noFill/>
    </a:ln>
    <a:effectLst/>
  </c:spPr>
  <c:txPr>
    <a:bodyPr/>
    <a:lstStyle/>
    <a:p>
      <a:pPr>
        <a:defRPr lang="en-US"/>
      </a:pPr>
      <a:endParaRPr lang="hu-HU"/>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rtl="0">
              <a:defRPr lang="en-US" sz="1800" b="1" i="0" u="none" strike="noStrike" kern="1200" spc="0" baseline="0">
                <a:solidFill>
                  <a:schemeClr val="tx1"/>
                </a:solidFill>
                <a:latin typeface="+mn-lt"/>
                <a:ea typeface="+mn-ea"/>
                <a:cs typeface="+mn-cs"/>
              </a:defRPr>
            </a:pPr>
            <a:r>
              <a:rPr lang="hu-HU" sz="1400" b="1" dirty="0">
                <a:latin typeface="Verdana" panose="020B0604030504040204" pitchFamily="34" charset="0"/>
                <a:ea typeface="Verdana" panose="020B0604030504040204" pitchFamily="34" charset="0"/>
                <a:cs typeface="Verdana" panose="020B0604030504040204" pitchFamily="34" charset="0"/>
              </a:rPr>
              <a:t>A részt vevő iskolák száma</a:t>
            </a:r>
          </a:p>
        </c:rich>
      </c:tx>
      <c:overlay val="0"/>
      <c:spPr>
        <a:noFill/>
        <a:ln>
          <a:noFill/>
        </a:ln>
        <a:effectLst/>
      </c:spPr>
      <c:txPr>
        <a:bodyPr rot="0" spcFirstLastPara="1" vertOverflow="ellipsis" vert="horz" wrap="square" anchor="ctr" anchorCtr="1"/>
        <a:lstStyle/>
        <a:p>
          <a:pPr algn="ctr" rtl="0">
            <a:defRPr lang="en-US" sz="1800" b="1" i="0" u="none" strike="noStrike" kern="1200" spc="0" baseline="0">
              <a:solidFill>
                <a:schemeClr val="tx1"/>
              </a:solidFill>
              <a:latin typeface="+mn-lt"/>
              <a:ea typeface="+mn-ea"/>
              <a:cs typeface="+mn-cs"/>
            </a:defRPr>
          </a:pPr>
          <a:endParaRPr lang="hu-HU"/>
        </a:p>
      </c:txPr>
    </c:title>
    <c:autoTitleDeleted val="0"/>
    <c:plotArea>
      <c:layout/>
      <c:barChart>
        <c:barDir val="col"/>
        <c:grouping val="clustered"/>
        <c:varyColors val="0"/>
        <c:ser>
          <c:idx val="0"/>
          <c:order val="0"/>
          <c:tx>
            <c:strRef>
              <c:f>Munka1!$B$1</c:f>
              <c:strCache>
                <c:ptCount val="1"/>
                <c:pt idx="0">
                  <c:v>8 évfolyamos gimnázium</c:v>
                </c:pt>
              </c:strCache>
            </c:strRef>
          </c:tx>
          <c:spPr>
            <a:solidFill>
              <a:sysClr val="window" lastClr="FFFFFF">
                <a:lumMod val="65000"/>
              </a:sysClr>
            </a:solidFill>
            <a:ln>
              <a:solidFill>
                <a:sysClr val="window" lastClr="FFFFFF">
                  <a:lumMod val="50000"/>
                </a:sysClr>
              </a:solidFill>
            </a:ln>
            <a:effectLst/>
          </c:spPr>
          <c:invertIfNegative val="0"/>
          <c:dPt>
            <c:idx val="3"/>
            <c:invertIfNegative val="0"/>
            <c:bubble3D val="0"/>
            <c:spPr>
              <a:solidFill>
                <a:sysClr val="window" lastClr="FFFFFF">
                  <a:lumMod val="65000"/>
                </a:sysClr>
              </a:solidFill>
              <a:ln>
                <a:solidFill>
                  <a:sysClr val="window" lastClr="FFFFFF">
                    <a:lumMod val="50000"/>
                  </a:sysClr>
                </a:solidFill>
              </a:ln>
              <a:effectLst/>
            </c:spPr>
            <c:extLst>
              <c:ext xmlns:c16="http://schemas.microsoft.com/office/drawing/2014/chart" uri="{C3380CC4-5D6E-409C-BE32-E72D297353CC}">
                <c16:uniqueId val="{00000001-099B-4B2C-ABF2-1FFCD47612A3}"/>
              </c:ext>
            </c:extLst>
          </c:dPt>
          <c:dLbls>
            <c:spPr>
              <a:noFill/>
              <a:ln>
                <a:noFill/>
              </a:ln>
              <a:effectLst/>
            </c:spPr>
            <c:txPr>
              <a:bodyPr rot="-5400000" spcFirstLastPara="1" vertOverflow="ellipsis" wrap="square" lIns="38100" tIns="19050" rIns="38100" bIns="19050" anchor="ctr" anchorCtr="1"/>
              <a:lstStyle/>
              <a:p>
                <a:pPr>
                  <a:defRPr lang="en-US" sz="1195" b="0" i="0" u="none" strike="noStrike" kern="1200" baseline="0">
                    <a:solidFill>
                      <a:schemeClr val="bg1">
                        <a:lumMod val="95000"/>
                      </a:schemeClr>
                    </a:solidFill>
                    <a:latin typeface="+mn-lt"/>
                    <a:ea typeface="+mn-ea"/>
                    <a:cs typeface="+mn-cs"/>
                  </a:defRPr>
                </a:pPr>
                <a:endParaRPr lang="hu-H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Munka1!$A$2:$A$17</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Munka1!$B$2:$B$17</c:f>
              <c:numCache>
                <c:formatCode>General</c:formatCode>
                <c:ptCount val="10"/>
                <c:pt idx="0">
                  <c:v>56</c:v>
                </c:pt>
                <c:pt idx="1">
                  <c:v>60</c:v>
                </c:pt>
                <c:pt idx="2">
                  <c:v>59</c:v>
                </c:pt>
                <c:pt idx="3">
                  <c:v>61</c:v>
                </c:pt>
                <c:pt idx="4">
                  <c:v>66</c:v>
                </c:pt>
                <c:pt idx="5">
                  <c:v>65</c:v>
                </c:pt>
                <c:pt idx="6">
                  <c:v>64</c:v>
                </c:pt>
                <c:pt idx="7">
                  <c:v>64</c:v>
                </c:pt>
                <c:pt idx="8">
                  <c:v>67</c:v>
                </c:pt>
                <c:pt idx="9">
                  <c:v>71</c:v>
                </c:pt>
              </c:numCache>
            </c:numRef>
          </c:val>
          <c:extLst>
            <c:ext xmlns:c16="http://schemas.microsoft.com/office/drawing/2014/chart" uri="{C3380CC4-5D6E-409C-BE32-E72D297353CC}">
              <c16:uniqueId val="{00000002-099B-4B2C-ABF2-1FFCD47612A3}"/>
            </c:ext>
          </c:extLst>
        </c:ser>
        <c:ser>
          <c:idx val="1"/>
          <c:order val="1"/>
          <c:tx>
            <c:strRef>
              <c:f>Munka1!$C$1</c:f>
              <c:strCache>
                <c:ptCount val="1"/>
                <c:pt idx="0">
                  <c:v>6 évfolyamos gimnázium</c:v>
                </c:pt>
              </c:strCache>
            </c:strRef>
          </c:tx>
          <c:spPr>
            <a:solidFill>
              <a:sysClr val="windowText" lastClr="000000"/>
            </a:solidFill>
            <a:ln>
              <a:solidFill>
                <a:sysClr val="windowText" lastClr="000000"/>
              </a:solidFill>
            </a:ln>
            <a:effectLst/>
          </c:spPr>
          <c:invertIfNegative val="0"/>
          <c:dLbls>
            <c:spPr>
              <a:noFill/>
              <a:ln>
                <a:noFill/>
              </a:ln>
              <a:effectLst/>
            </c:spPr>
            <c:txPr>
              <a:bodyPr rot="-5400000" spcFirstLastPara="1" vertOverflow="ellipsis" wrap="square" lIns="38100" tIns="19050" rIns="38100" bIns="19050" anchor="ctr" anchorCtr="1"/>
              <a:lstStyle/>
              <a:p>
                <a:pPr>
                  <a:defRPr lang="en-US" sz="1195" b="0" i="0" u="none" strike="noStrike" kern="1200" baseline="0">
                    <a:solidFill>
                      <a:schemeClr val="bg1">
                        <a:lumMod val="95000"/>
                      </a:schemeClr>
                    </a:solidFill>
                    <a:latin typeface="+mn-lt"/>
                    <a:ea typeface="+mn-ea"/>
                    <a:cs typeface="+mn-cs"/>
                  </a:defRPr>
                </a:pPr>
                <a:endParaRPr lang="hu-H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Munka1!$A$2:$A$17</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Munka1!$C$2:$C$17</c:f>
              <c:numCache>
                <c:formatCode>General</c:formatCode>
                <c:ptCount val="10"/>
                <c:pt idx="0">
                  <c:v>79</c:v>
                </c:pt>
                <c:pt idx="1">
                  <c:v>79</c:v>
                </c:pt>
                <c:pt idx="2">
                  <c:v>84</c:v>
                </c:pt>
                <c:pt idx="3">
                  <c:v>91</c:v>
                </c:pt>
                <c:pt idx="4">
                  <c:v>92</c:v>
                </c:pt>
                <c:pt idx="5">
                  <c:v>95</c:v>
                </c:pt>
                <c:pt idx="6">
                  <c:v>94</c:v>
                </c:pt>
                <c:pt idx="7">
                  <c:v>97</c:v>
                </c:pt>
                <c:pt idx="8">
                  <c:v>100</c:v>
                </c:pt>
                <c:pt idx="9">
                  <c:v>111</c:v>
                </c:pt>
              </c:numCache>
            </c:numRef>
          </c:val>
          <c:extLst>
            <c:ext xmlns:c16="http://schemas.microsoft.com/office/drawing/2014/chart" uri="{C3380CC4-5D6E-409C-BE32-E72D297353CC}">
              <c16:uniqueId val="{00000003-099B-4B2C-ABF2-1FFCD47612A3}"/>
            </c:ext>
          </c:extLst>
        </c:ser>
        <c:dLbls>
          <c:showLegendKey val="0"/>
          <c:showVal val="1"/>
          <c:showCatName val="0"/>
          <c:showSerName val="0"/>
          <c:showPercent val="0"/>
          <c:showBubbleSize val="0"/>
        </c:dLbls>
        <c:gapWidth val="50"/>
        <c:overlap val="-27"/>
        <c:axId val="555190432"/>
        <c:axId val="555189448"/>
      </c:barChart>
      <c:catAx>
        <c:axId val="555190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hu-HU"/>
          </a:p>
        </c:txPr>
        <c:crossAx val="555189448"/>
        <c:crosses val="autoZero"/>
        <c:auto val="1"/>
        <c:lblAlgn val="ctr"/>
        <c:lblOffset val="100"/>
        <c:noMultiLvlLbl val="0"/>
      </c:catAx>
      <c:valAx>
        <c:axId val="555189448"/>
        <c:scaling>
          <c:orientation val="minMax"/>
          <c:max val="12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5" b="0" i="0" u="none" strike="noStrike" kern="1200" baseline="0">
                <a:solidFill>
                  <a:schemeClr val="tx1"/>
                </a:solidFill>
                <a:latin typeface="+mn-lt"/>
                <a:ea typeface="+mn-ea"/>
                <a:cs typeface="+mn-cs"/>
              </a:defRPr>
            </a:pPr>
            <a:endParaRPr lang="hu-HU"/>
          </a:p>
        </c:txPr>
        <c:crossAx val="5551904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hu-HU"/>
        </a:p>
      </c:txPr>
    </c:legend>
    <c:plotVisOnly val="1"/>
    <c:dispBlanksAs val="gap"/>
    <c:showDLblsOverMax val="0"/>
    <c:extLst>
      <c:ext uri="{0b15fc19-7d7d-44ad-8c2d-2c3a37ce22c3}">
        <chartProps xmlns="https://web.wps.cn/et/2018/main" chartId="{3799347a-f4f8-4e4a-ac1d-26d29cb74200}"/>
      </c:ext>
    </c:extLst>
  </c:chart>
  <c:spPr>
    <a:noFill/>
    <a:ln>
      <a:noFill/>
    </a:ln>
    <a:effectLst/>
  </c:spPr>
  <c:txPr>
    <a:bodyPr/>
    <a:lstStyle/>
    <a:p>
      <a:pPr>
        <a:defRPr lang="en-US">
          <a:solidFill>
            <a:schemeClr val="tx1"/>
          </a:solidFill>
        </a:defRPr>
      </a:pPr>
      <a:endParaRPr lang="hu-HU"/>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en-US" sz="1860" b="0" i="0" u="none" strike="noStrike" kern="1200" spc="0" baseline="0">
                <a:solidFill>
                  <a:schemeClr val="tx1"/>
                </a:solidFill>
                <a:latin typeface="+mn-lt"/>
                <a:ea typeface="+mn-ea"/>
                <a:cs typeface="+mn-cs"/>
              </a:defRPr>
            </a:pPr>
            <a:r>
              <a:rPr lang="hu-HU" sz="1400" b="1"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 részt vevő tanulók száma</a:t>
            </a:r>
            <a:r>
              <a:rPr lang="hu-HU" sz="1400" b="1" i="0" u="none" strike="noStrike" kern="1200" spc="0" baseline="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t>
            </a:r>
          </a:p>
        </c:rich>
      </c:tx>
      <c:overlay val="0"/>
      <c:spPr>
        <a:noFill/>
        <a:ln>
          <a:noFill/>
        </a:ln>
        <a:effectLst/>
      </c:spPr>
      <c:txPr>
        <a:bodyPr rot="0" spcFirstLastPara="1" vertOverflow="ellipsis" vert="horz" wrap="square" anchor="ctr" anchorCtr="1"/>
        <a:lstStyle/>
        <a:p>
          <a:pPr>
            <a:defRPr lang="en-US" sz="1860" b="0" i="0" u="none" strike="noStrike" kern="1200" spc="0" baseline="0">
              <a:solidFill>
                <a:schemeClr val="tx1"/>
              </a:solidFill>
              <a:latin typeface="+mn-lt"/>
              <a:ea typeface="+mn-ea"/>
              <a:cs typeface="+mn-cs"/>
            </a:defRPr>
          </a:pPr>
          <a:endParaRPr lang="hu-HU"/>
        </a:p>
      </c:txPr>
    </c:title>
    <c:autoTitleDeleted val="0"/>
    <c:plotArea>
      <c:layout/>
      <c:barChart>
        <c:barDir val="col"/>
        <c:grouping val="clustered"/>
        <c:varyColors val="0"/>
        <c:ser>
          <c:idx val="0"/>
          <c:order val="0"/>
          <c:tx>
            <c:strRef>
              <c:f>Munka1!$B$1</c:f>
              <c:strCache>
                <c:ptCount val="1"/>
                <c:pt idx="0">
                  <c:v>8 évfolyamos gimnázium</c:v>
                </c:pt>
              </c:strCache>
            </c:strRef>
          </c:tx>
          <c:spPr>
            <a:solidFill>
              <a:sysClr val="window" lastClr="FFFFFF">
                <a:lumMod val="50000"/>
              </a:sysClr>
            </a:solidFill>
            <a:ln>
              <a:solidFill>
                <a:sysClr val="window" lastClr="FFFFFF">
                  <a:lumMod val="50000"/>
                </a:sysClr>
              </a:solidFill>
            </a:ln>
            <a:effectLst/>
          </c:spPr>
          <c:invertIfNegative val="0"/>
          <c:dLbls>
            <c:numFmt formatCode="#,##0" sourceLinked="0"/>
            <c:spPr>
              <a:noFill/>
              <a:ln>
                <a:noFill/>
              </a:ln>
              <a:effectLst/>
            </c:spPr>
            <c:txPr>
              <a:bodyPr rot="-5400000" spcFirstLastPara="1" vertOverflow="ellipsis" wrap="square" lIns="38100" tIns="19050" rIns="38100" bIns="19050" anchor="ctr" anchorCtr="1">
                <a:spAutoFit/>
              </a:bodyPr>
              <a:lstStyle/>
              <a:p>
                <a:pPr>
                  <a:defRPr lang="en-US" sz="1195" b="0" i="0" u="none" strike="noStrike" kern="1200" baseline="0">
                    <a:solidFill>
                      <a:schemeClr val="bg1">
                        <a:lumMod val="95000"/>
                      </a:schemeClr>
                    </a:solidFill>
                    <a:latin typeface="+mn-lt"/>
                    <a:ea typeface="+mn-ea"/>
                    <a:cs typeface="+mn-cs"/>
                  </a:defRPr>
                </a:pPr>
                <a:endParaRPr lang="hu-H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Munka1!$A$2:$A$17</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Munka1!$B$2:$B$17</c:f>
              <c:numCache>
                <c:formatCode>General</c:formatCode>
                <c:ptCount val="10"/>
                <c:pt idx="0">
                  <c:v>5933</c:v>
                </c:pt>
                <c:pt idx="1">
                  <c:v>5805</c:v>
                </c:pt>
                <c:pt idx="2">
                  <c:v>5677</c:v>
                </c:pt>
                <c:pt idx="3">
                  <c:v>5641</c:v>
                </c:pt>
                <c:pt idx="4">
                  <c:v>5236</c:v>
                </c:pt>
                <c:pt idx="5">
                  <c:v>5092</c:v>
                </c:pt>
                <c:pt idx="6">
                  <c:v>5867</c:v>
                </c:pt>
                <c:pt idx="7">
                  <c:v>6629</c:v>
                </c:pt>
                <c:pt idx="8">
                  <c:v>6771</c:v>
                </c:pt>
                <c:pt idx="9">
                  <c:v>6144</c:v>
                </c:pt>
              </c:numCache>
            </c:numRef>
          </c:val>
          <c:extLst>
            <c:ext xmlns:c16="http://schemas.microsoft.com/office/drawing/2014/chart" uri="{C3380CC4-5D6E-409C-BE32-E72D297353CC}">
              <c16:uniqueId val="{00000000-3373-4B7D-BCBE-0124B363B9EB}"/>
            </c:ext>
          </c:extLst>
        </c:ser>
        <c:ser>
          <c:idx val="1"/>
          <c:order val="1"/>
          <c:tx>
            <c:strRef>
              <c:f>Munka1!$C$1</c:f>
              <c:strCache>
                <c:ptCount val="1"/>
                <c:pt idx="0">
                  <c:v>6 évfolyamos gimnázium</c:v>
                </c:pt>
              </c:strCache>
            </c:strRef>
          </c:tx>
          <c:spPr>
            <a:solidFill>
              <a:sysClr val="windowText" lastClr="000000"/>
            </a:solidFill>
            <a:ln>
              <a:noFill/>
            </a:ln>
            <a:effectLst/>
          </c:spPr>
          <c:invertIfNegative val="0"/>
          <c:dLbls>
            <c:numFmt formatCode="#,##0" sourceLinked="0"/>
            <c:spPr>
              <a:noFill/>
              <a:ln>
                <a:noFill/>
              </a:ln>
              <a:effectLst/>
            </c:spPr>
            <c:txPr>
              <a:bodyPr rot="-5400000" spcFirstLastPara="1" vertOverflow="ellipsis" wrap="square" lIns="38100" tIns="19050" rIns="38100" bIns="19050" anchor="ctr" anchorCtr="1">
                <a:spAutoFit/>
              </a:bodyPr>
              <a:lstStyle/>
              <a:p>
                <a:pPr>
                  <a:defRPr lang="en-US" sz="1195" b="0" i="0" u="none" strike="noStrike" kern="1200" baseline="0">
                    <a:solidFill>
                      <a:schemeClr val="bg1">
                        <a:lumMod val="95000"/>
                      </a:schemeClr>
                    </a:solidFill>
                    <a:latin typeface="+mn-lt"/>
                    <a:ea typeface="+mn-ea"/>
                    <a:cs typeface="+mn-cs"/>
                  </a:defRPr>
                </a:pPr>
                <a:endParaRPr lang="hu-HU"/>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Munka1!$A$2:$A$17</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Munka1!$C$2:$C$17</c:f>
              <c:numCache>
                <c:formatCode>General</c:formatCode>
                <c:ptCount val="10"/>
                <c:pt idx="0">
                  <c:v>7695</c:v>
                </c:pt>
                <c:pt idx="1">
                  <c:v>8239</c:v>
                </c:pt>
                <c:pt idx="2">
                  <c:v>9337</c:v>
                </c:pt>
                <c:pt idx="3">
                  <c:v>8982</c:v>
                </c:pt>
                <c:pt idx="4">
                  <c:v>7844</c:v>
                </c:pt>
                <c:pt idx="5">
                  <c:v>7991</c:v>
                </c:pt>
                <c:pt idx="6">
                  <c:v>8674</c:v>
                </c:pt>
                <c:pt idx="7">
                  <c:v>9510</c:v>
                </c:pt>
                <c:pt idx="8">
                  <c:v>9300</c:v>
                </c:pt>
                <c:pt idx="9">
                  <c:v>10309</c:v>
                </c:pt>
              </c:numCache>
            </c:numRef>
          </c:val>
          <c:extLst>
            <c:ext xmlns:c16="http://schemas.microsoft.com/office/drawing/2014/chart" uri="{C3380CC4-5D6E-409C-BE32-E72D297353CC}">
              <c16:uniqueId val="{00000001-3373-4B7D-BCBE-0124B363B9EB}"/>
            </c:ext>
          </c:extLst>
        </c:ser>
        <c:dLbls>
          <c:showLegendKey val="0"/>
          <c:showVal val="1"/>
          <c:showCatName val="0"/>
          <c:showSerName val="0"/>
          <c:showPercent val="0"/>
          <c:showBubbleSize val="0"/>
        </c:dLbls>
        <c:gapWidth val="50"/>
        <c:overlap val="-27"/>
        <c:axId val="706517032"/>
        <c:axId val="706514736"/>
      </c:barChart>
      <c:catAx>
        <c:axId val="706517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hu-HU"/>
          </a:p>
        </c:txPr>
        <c:crossAx val="706514736"/>
        <c:crosses val="autoZero"/>
        <c:auto val="1"/>
        <c:lblAlgn val="ctr"/>
        <c:lblOffset val="100"/>
        <c:noMultiLvlLbl val="0"/>
      </c:catAx>
      <c:valAx>
        <c:axId val="706514736"/>
        <c:scaling>
          <c:orientation val="minMax"/>
          <c:max val="1050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195" b="0" i="0" u="none" strike="noStrike" kern="1200" baseline="0">
                <a:solidFill>
                  <a:schemeClr val="tx1"/>
                </a:solidFill>
                <a:latin typeface="+mn-lt"/>
                <a:ea typeface="+mn-ea"/>
                <a:cs typeface="+mn-cs"/>
              </a:defRPr>
            </a:pPr>
            <a:endParaRPr lang="hu-HU"/>
          </a:p>
        </c:txPr>
        <c:crossAx val="7065170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hu-HU"/>
        </a:p>
      </c:txPr>
    </c:legend>
    <c:plotVisOnly val="1"/>
    <c:dispBlanksAs val="gap"/>
    <c:showDLblsOverMax val="0"/>
    <c:extLst>
      <c:ext uri="{0b15fc19-7d7d-44ad-8c2d-2c3a37ce22c3}">
        <chartProps xmlns="https://web.wps.cn/et/2018/main" chartId="{536349cc-4f37-49f7-910b-175022ea8f8e}"/>
      </c:ext>
    </c:extLst>
  </c:chart>
  <c:spPr>
    <a:noFill/>
    <a:ln>
      <a:noFill/>
    </a:ln>
    <a:effectLst/>
  </c:spPr>
  <c:txPr>
    <a:bodyPr/>
    <a:lstStyle/>
    <a:p>
      <a:pPr>
        <a:defRPr lang="en-US"/>
      </a:pPr>
      <a:endParaRPr lang="hu-HU"/>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1359416010498697E-2"/>
          <c:y val="4.7430927813576301E-2"/>
          <c:w val="0.91739058398950102"/>
          <c:h val="0.78278488187339101"/>
        </c:manualLayout>
      </c:layout>
      <c:barChart>
        <c:barDir val="col"/>
        <c:grouping val="stacked"/>
        <c:varyColors val="0"/>
        <c:ser>
          <c:idx val="0"/>
          <c:order val="0"/>
          <c:tx>
            <c:strRef>
              <c:f>Munka1!$B$1</c:f>
              <c:strCache>
                <c:ptCount val="1"/>
                <c:pt idx="0">
                  <c:v>Arány1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t" anchorCtr="0">
                <a:spAutoFit/>
              </a:bodyPr>
              <a:lstStyle/>
              <a:p>
                <a:pPr>
                  <a:defRPr lang="en-US" sz="1195" b="0" i="0" u="none" strike="noStrike" kern="1200" baseline="0">
                    <a:solidFill>
                      <a:schemeClr val="bg1">
                        <a:lumMod val="95000"/>
                      </a:schemeClr>
                    </a:solidFill>
                    <a:latin typeface="+mn-lt"/>
                    <a:ea typeface="+mn-ea"/>
                    <a:cs typeface="+mn-cs"/>
                  </a:defRPr>
                </a:pPr>
                <a:endParaRPr lang="hu-HU"/>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Munka1!$A$2:$A$17</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Munka1!$B$2:$B$17</c:f>
              <c:numCache>
                <c:formatCode>0.0%</c:formatCode>
                <c:ptCount val="10"/>
                <c:pt idx="0">
                  <c:v>0.59509299854670694</c:v>
                </c:pt>
                <c:pt idx="1">
                  <c:v>0.58929362539995078</c:v>
                </c:pt>
                <c:pt idx="2">
                  <c:v>0.60293597237306129</c:v>
                </c:pt>
                <c:pt idx="3">
                  <c:v>0.60713816771113105</c:v>
                </c:pt>
                <c:pt idx="4">
                  <c:v>0.60503256952021955</c:v>
                </c:pt>
                <c:pt idx="5">
                  <c:v>0.57300143048096996</c:v>
                </c:pt>
                <c:pt idx="6">
                  <c:v>0.59509239551083593</c:v>
                </c:pt>
                <c:pt idx="7">
                  <c:v>0.58795801099475142</c:v>
                </c:pt>
                <c:pt idx="8">
                  <c:v>0.58433654539145286</c:v>
                </c:pt>
                <c:pt idx="9">
                  <c:v>0.58880810519961158</c:v>
                </c:pt>
              </c:numCache>
            </c:numRef>
          </c:val>
          <c:extLst>
            <c:ext xmlns:c16="http://schemas.microsoft.com/office/drawing/2014/chart" uri="{C3380CC4-5D6E-409C-BE32-E72D297353CC}">
              <c16:uniqueId val="{00000000-A595-441A-9F92-DCDA576FC8C0}"/>
            </c:ext>
          </c:extLst>
        </c:ser>
        <c:ser>
          <c:idx val="1"/>
          <c:order val="1"/>
          <c:tx>
            <c:strRef>
              <c:f>Munka1!$C$1</c:f>
              <c:strCache>
                <c:ptCount val="1"/>
                <c:pt idx="0">
                  <c:v>A központi írásbeli vizsgán részt vevők* száma</c:v>
                </c:pt>
              </c:strCache>
            </c:strRef>
          </c:tx>
          <c:spPr>
            <a:solidFill>
              <a:sysClr val="windowText" lastClr="000000"/>
            </a:solidFill>
            <a:ln>
              <a:solidFill>
                <a:sysClr val="windowText" lastClr="000000"/>
              </a:solid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lang="en-US" sz="1195" b="1" i="0" u="none" strike="noStrike" kern="1200" baseline="0">
                    <a:solidFill>
                      <a:schemeClr val="bg1">
                        <a:lumMod val="95000"/>
                      </a:schemeClr>
                    </a:solidFill>
                    <a:latin typeface="+mn-lt"/>
                    <a:ea typeface="+mn-ea"/>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Munka1!$A$2:$A$17</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Munka1!$C$2:$C$17</c:f>
              <c:numCache>
                <c:formatCode>General</c:formatCode>
                <c:ptCount val="10"/>
                <c:pt idx="0">
                  <c:v>48728</c:v>
                </c:pt>
                <c:pt idx="1">
                  <c:v>47886</c:v>
                </c:pt>
                <c:pt idx="2">
                  <c:v>49410</c:v>
                </c:pt>
                <c:pt idx="3">
                  <c:v>50863</c:v>
                </c:pt>
                <c:pt idx="4">
                  <c:v>54894</c:v>
                </c:pt>
                <c:pt idx="5">
                  <c:v>48869</c:v>
                </c:pt>
                <c:pt idx="6">
                  <c:v>49207</c:v>
                </c:pt>
                <c:pt idx="7" formatCode="#,##0">
                  <c:v>47273</c:v>
                </c:pt>
                <c:pt idx="8" formatCode="#,##0">
                  <c:v>43782</c:v>
                </c:pt>
                <c:pt idx="9" formatCode="#,##0">
                  <c:v>44866</c:v>
                </c:pt>
              </c:numCache>
            </c:numRef>
          </c:val>
          <c:extLst>
            <c:ext xmlns:c16="http://schemas.microsoft.com/office/drawing/2014/chart" uri="{C3380CC4-5D6E-409C-BE32-E72D297353CC}">
              <c16:uniqueId val="{00000001-A595-441A-9F92-DCDA576FC8C0}"/>
            </c:ext>
          </c:extLst>
        </c:ser>
        <c:ser>
          <c:idx val="2"/>
          <c:order val="2"/>
          <c:tx>
            <c:strRef>
              <c:f>Munka1!$D$1</c:f>
              <c:strCache>
                <c:ptCount val="1"/>
                <c:pt idx="0">
                  <c:v>Arány2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t" anchorCtr="0">
                <a:spAutoFit/>
              </a:bodyPr>
              <a:lstStyle/>
              <a:p>
                <a:pPr>
                  <a:defRPr lang="en-US" sz="1195" b="0" i="0" u="none" strike="noStrike" kern="1200" baseline="0">
                    <a:solidFill>
                      <a:schemeClr val="bg1">
                        <a:lumMod val="95000"/>
                      </a:schemeClr>
                    </a:solidFill>
                    <a:latin typeface="+mn-lt"/>
                    <a:ea typeface="+mn-ea"/>
                    <a:cs typeface="+mn-cs"/>
                  </a:defRPr>
                </a:pPr>
                <a:endParaRPr lang="hu-HU"/>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Munka1!$A$2:$A$17</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Munka1!$D$2:$D$17</c:f>
              <c:numCache>
                <c:formatCode>0.0%</c:formatCode>
                <c:ptCount val="10"/>
                <c:pt idx="0">
                  <c:v>0.40490700145329311</c:v>
                </c:pt>
                <c:pt idx="1">
                  <c:v>0.41070637460004922</c:v>
                </c:pt>
                <c:pt idx="2">
                  <c:v>0.39706402762693871</c:v>
                </c:pt>
                <c:pt idx="3">
                  <c:v>0.39286183228886901</c:v>
                </c:pt>
                <c:pt idx="4">
                  <c:v>0.39496743047978045</c:v>
                </c:pt>
                <c:pt idx="5">
                  <c:v>0.42699856951903009</c:v>
                </c:pt>
                <c:pt idx="6">
                  <c:v>0.40490760448916407</c:v>
                </c:pt>
                <c:pt idx="7">
                  <c:v>0.41204198900524863</c:v>
                </c:pt>
                <c:pt idx="8">
                  <c:v>0.41566345460854709</c:v>
                </c:pt>
                <c:pt idx="9">
                  <c:v>0.41119189480038848</c:v>
                </c:pt>
              </c:numCache>
            </c:numRef>
          </c:val>
          <c:extLst>
            <c:ext xmlns:c16="http://schemas.microsoft.com/office/drawing/2014/chart" uri="{C3380CC4-5D6E-409C-BE32-E72D297353CC}">
              <c16:uniqueId val="{00000002-A595-441A-9F92-DCDA576FC8C0}"/>
            </c:ext>
          </c:extLst>
        </c:ser>
        <c:ser>
          <c:idx val="3"/>
          <c:order val="3"/>
          <c:tx>
            <c:strRef>
              <c:f>Munka1!$E$1</c:f>
              <c:strCache>
                <c:ptCount val="1"/>
                <c:pt idx="0">
                  <c:v>Központi írásbeli vizsgát nem írók száma</c:v>
                </c:pt>
              </c:strCache>
            </c:strRef>
          </c:tx>
          <c:spPr>
            <a:solidFill>
              <a:sysClr val="window" lastClr="FFFFFF">
                <a:lumMod val="50000"/>
              </a:sysClr>
            </a:solidFill>
            <a:ln>
              <a:solidFill>
                <a:sysClr val="windowText" lastClr="000000"/>
              </a:solid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lang="en-US" sz="1195" b="1" i="0" u="none" strike="noStrike" kern="1200" baseline="0">
                    <a:solidFill>
                      <a:schemeClr val="bg1">
                        <a:lumMod val="95000"/>
                      </a:schemeClr>
                    </a:solidFill>
                    <a:latin typeface="+mn-lt"/>
                    <a:ea typeface="+mn-ea"/>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Munka1!$A$2:$A$17</c:f>
              <c:numCache>
                <c:formatCode>General</c:formatCode>
                <c:ptCount val="10"/>
                <c:pt idx="0">
                  <c:v>2017</c:v>
                </c:pt>
                <c:pt idx="1">
                  <c:v>2018</c:v>
                </c:pt>
                <c:pt idx="2">
                  <c:v>2019</c:v>
                </c:pt>
                <c:pt idx="3">
                  <c:v>2020</c:v>
                </c:pt>
                <c:pt idx="4">
                  <c:v>2021</c:v>
                </c:pt>
                <c:pt idx="5">
                  <c:v>2022</c:v>
                </c:pt>
                <c:pt idx="6">
                  <c:v>2023</c:v>
                </c:pt>
                <c:pt idx="7">
                  <c:v>2024</c:v>
                </c:pt>
                <c:pt idx="8">
                  <c:v>2025</c:v>
                </c:pt>
                <c:pt idx="9">
                  <c:v>2026</c:v>
                </c:pt>
              </c:numCache>
            </c:numRef>
          </c:cat>
          <c:val>
            <c:numRef>
              <c:f>Munka1!$E$2:$E$17</c:f>
              <c:numCache>
                <c:formatCode>General</c:formatCode>
                <c:ptCount val="10"/>
                <c:pt idx="0">
                  <c:v>33155</c:v>
                </c:pt>
                <c:pt idx="1">
                  <c:v>33374</c:v>
                </c:pt>
                <c:pt idx="2">
                  <c:v>32539</c:v>
                </c:pt>
                <c:pt idx="3">
                  <c:v>32912</c:v>
                </c:pt>
                <c:pt idx="4">
                  <c:v>35835</c:v>
                </c:pt>
                <c:pt idx="5">
                  <c:v>36417</c:v>
                </c:pt>
                <c:pt idx="6">
                  <c:v>33481</c:v>
                </c:pt>
                <c:pt idx="7">
                  <c:v>33129</c:v>
                </c:pt>
                <c:pt idx="8">
                  <c:v>31144</c:v>
                </c:pt>
                <c:pt idx="9">
                  <c:v>31332</c:v>
                </c:pt>
              </c:numCache>
            </c:numRef>
          </c:val>
          <c:extLst>
            <c:ext xmlns:c16="http://schemas.microsoft.com/office/drawing/2014/chart" uri="{C3380CC4-5D6E-409C-BE32-E72D297353CC}">
              <c16:uniqueId val="{00000003-A595-441A-9F92-DCDA576FC8C0}"/>
            </c:ext>
          </c:extLst>
        </c:ser>
        <c:dLbls>
          <c:showLegendKey val="0"/>
          <c:showVal val="0"/>
          <c:showCatName val="0"/>
          <c:showSerName val="0"/>
          <c:showPercent val="0"/>
          <c:showBubbleSize val="0"/>
        </c:dLbls>
        <c:gapWidth val="48"/>
        <c:overlap val="100"/>
        <c:axId val="711755272"/>
        <c:axId val="711756584"/>
      </c:barChart>
      <c:catAx>
        <c:axId val="711755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hu-HU"/>
          </a:p>
        </c:txPr>
        <c:crossAx val="711756584"/>
        <c:crosses val="autoZero"/>
        <c:auto val="1"/>
        <c:lblAlgn val="ctr"/>
        <c:lblOffset val="100"/>
        <c:noMultiLvlLbl val="0"/>
      </c:catAx>
      <c:valAx>
        <c:axId val="711756584"/>
        <c:scaling>
          <c:orientation val="minMax"/>
          <c:max val="105000"/>
          <c:min val="0"/>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hu-HU"/>
          </a:p>
        </c:txPr>
        <c:crossAx val="711755272"/>
        <c:crosses val="autoZero"/>
        <c:crossBetween val="between"/>
      </c:valAx>
      <c:spPr>
        <a:noFill/>
        <a:ln>
          <a:noFill/>
        </a:ln>
        <a:effectLst/>
      </c:spPr>
    </c:plotArea>
    <c:legend>
      <c:legendPos val="b"/>
      <c:legendEntry>
        <c:idx val="0"/>
        <c:delete val="1"/>
      </c:legendEntry>
      <c:legendEntry>
        <c:idx val="1"/>
        <c:txPr>
          <a:bodyPr rot="0" spcFirstLastPara="1" vertOverflow="ellipsis" vert="horz" wrap="square" anchor="ctr" anchorCtr="1"/>
          <a:lstStyle/>
          <a:p>
            <a:pPr>
              <a:defRPr lang="en-US" sz="10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hu-HU"/>
          </a:p>
        </c:txPr>
      </c:legendEntry>
      <c:legendEntry>
        <c:idx val="2"/>
        <c:delete val="1"/>
      </c:legendEntry>
      <c:legendEntry>
        <c:idx val="3"/>
        <c:txPr>
          <a:bodyPr rot="0" spcFirstLastPara="1" vertOverflow="ellipsis" vert="horz" wrap="square" anchor="ctr" anchorCtr="1"/>
          <a:lstStyle/>
          <a:p>
            <a:pPr>
              <a:defRPr lang="en-US" sz="10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hu-HU"/>
          </a:p>
        </c:txPr>
      </c:legendEntry>
      <c:layout>
        <c:manualLayout>
          <c:xMode val="edge"/>
          <c:yMode val="edge"/>
          <c:x val="1.3196674383849799E-2"/>
          <c:y val="0.91570525319070895"/>
          <c:w val="0.96943979658792701"/>
          <c:h val="4.43985173461885E-2"/>
        </c:manualLayout>
      </c:layout>
      <c:overlay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hu-HU"/>
        </a:p>
      </c:txPr>
    </c:legend>
    <c:plotVisOnly val="1"/>
    <c:dispBlanksAs val="gap"/>
    <c:showDLblsOverMax val="0"/>
    <c:extLst>
      <c:ext uri="{0b15fc19-7d7d-44ad-8c2d-2c3a37ce22c3}">
        <chartProps xmlns="https://web.wps.cn/et/2018/main" chartId="{bf5f585c-cce6-445d-9299-02f65e68b0b2}"/>
      </c:ext>
    </c:extLst>
  </c:chart>
  <c:spPr>
    <a:noFill/>
    <a:ln>
      <a:noFill/>
    </a:ln>
    <a:effectLst/>
  </c:spPr>
  <c:txPr>
    <a:bodyPr/>
    <a:lstStyle/>
    <a:p>
      <a:pPr>
        <a:defRPr lang="en-US"/>
      </a:pPr>
      <a:endParaRPr lang="hu-HU"/>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30586229317664E-2"/>
          <c:y val="0.13870108390455399"/>
          <c:w val="0.93295887991135795"/>
          <c:h val="0.74595028126776997"/>
        </c:manualLayout>
      </c:layout>
      <c:barChart>
        <c:barDir val="col"/>
        <c:grouping val="clustered"/>
        <c:varyColors val="0"/>
        <c:ser>
          <c:idx val="0"/>
          <c:order val="0"/>
          <c:tx>
            <c:strRef>
              <c:f>Munka1!$A$1</c:f>
              <c:strCache>
                <c:ptCount val="1"/>
                <c:pt idx="0">
                  <c:v>Pontszámok</c:v>
                </c:pt>
              </c:strCache>
            </c:strRef>
          </c:tx>
          <c:spPr>
            <a:solidFill>
              <a:sysClr val="window" lastClr="FFFFFF">
                <a:lumMod val="50000"/>
              </a:sysClr>
            </a:solidFill>
            <a:ln>
              <a:solidFill>
                <a:sysClr val="windowText" lastClr="000000"/>
              </a:solidFill>
            </a:ln>
            <a:effectLst/>
          </c:spPr>
          <c:invertIfNegative val="0"/>
          <c:cat>
            <c:numRef>
              <c:f>Munka1!$A$2:$A$102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cat>
          <c:val>
            <c:numRef>
              <c:f>Munka1!$B$2:$B$102</c:f>
              <c:numCache>
                <c:formatCode>0.00%</c:formatCode>
                <c:ptCount val="101"/>
                <c:pt idx="0">
                  <c:v>0</c:v>
                </c:pt>
                <c:pt idx="1">
                  <c:v>0</c:v>
                </c:pt>
                <c:pt idx="2">
                  <c:v>0</c:v>
                </c:pt>
                <c:pt idx="3">
                  <c:v>1E-4</c:v>
                </c:pt>
                <c:pt idx="4">
                  <c:v>2.0000000000000001E-4</c:v>
                </c:pt>
                <c:pt idx="5">
                  <c:v>2.9999999999999997E-4</c:v>
                </c:pt>
                <c:pt idx="6">
                  <c:v>2.0000000000000001E-4</c:v>
                </c:pt>
                <c:pt idx="7">
                  <c:v>5.9999999999999995E-4</c:v>
                </c:pt>
                <c:pt idx="8">
                  <c:v>5.9999999999999995E-4</c:v>
                </c:pt>
                <c:pt idx="9">
                  <c:v>8.9999999999999998E-4</c:v>
                </c:pt>
                <c:pt idx="10">
                  <c:v>1.5E-3</c:v>
                </c:pt>
                <c:pt idx="11">
                  <c:v>1.5E-3</c:v>
                </c:pt>
                <c:pt idx="12">
                  <c:v>2.0999999999999999E-3</c:v>
                </c:pt>
                <c:pt idx="13">
                  <c:v>2.2000000000000001E-3</c:v>
                </c:pt>
                <c:pt idx="14">
                  <c:v>2.7000000000000001E-3</c:v>
                </c:pt>
                <c:pt idx="15">
                  <c:v>3.0999999999999999E-3</c:v>
                </c:pt>
                <c:pt idx="16">
                  <c:v>3.0999999999999999E-3</c:v>
                </c:pt>
                <c:pt idx="17">
                  <c:v>3.8E-3</c:v>
                </c:pt>
                <c:pt idx="18">
                  <c:v>4.4000000000000003E-3</c:v>
                </c:pt>
                <c:pt idx="19">
                  <c:v>4.5999999999999999E-3</c:v>
                </c:pt>
                <c:pt idx="20">
                  <c:v>4.8999999999999998E-3</c:v>
                </c:pt>
                <c:pt idx="21">
                  <c:v>5.7000000000000002E-3</c:v>
                </c:pt>
                <c:pt idx="22">
                  <c:v>6.0000000000000001E-3</c:v>
                </c:pt>
                <c:pt idx="23">
                  <c:v>7.4999999999999997E-3</c:v>
                </c:pt>
                <c:pt idx="24">
                  <c:v>7.1999999999999998E-3</c:v>
                </c:pt>
                <c:pt idx="25">
                  <c:v>7.4000000000000003E-3</c:v>
                </c:pt>
                <c:pt idx="26">
                  <c:v>8.8999999999999999E-3</c:v>
                </c:pt>
                <c:pt idx="27">
                  <c:v>9.2999999999999992E-3</c:v>
                </c:pt>
                <c:pt idx="28">
                  <c:v>0.01</c:v>
                </c:pt>
                <c:pt idx="29">
                  <c:v>1.0500000000000001E-2</c:v>
                </c:pt>
                <c:pt idx="30">
                  <c:v>1.17E-2</c:v>
                </c:pt>
                <c:pt idx="31">
                  <c:v>1.2500000000000001E-2</c:v>
                </c:pt>
                <c:pt idx="32">
                  <c:v>1.2699999999999999E-2</c:v>
                </c:pt>
                <c:pt idx="33">
                  <c:v>1.2999999999999999E-2</c:v>
                </c:pt>
                <c:pt idx="34">
                  <c:v>1.35E-2</c:v>
                </c:pt>
                <c:pt idx="35">
                  <c:v>1.49E-2</c:v>
                </c:pt>
                <c:pt idx="36">
                  <c:v>1.47E-2</c:v>
                </c:pt>
                <c:pt idx="37">
                  <c:v>1.5599999999999999E-2</c:v>
                </c:pt>
                <c:pt idx="38">
                  <c:v>1.6199999999999999E-2</c:v>
                </c:pt>
                <c:pt idx="39">
                  <c:v>1.66E-2</c:v>
                </c:pt>
                <c:pt idx="40">
                  <c:v>1.6199999999999999E-2</c:v>
                </c:pt>
                <c:pt idx="41">
                  <c:v>1.77E-2</c:v>
                </c:pt>
                <c:pt idx="42">
                  <c:v>1.7600000000000001E-2</c:v>
                </c:pt>
                <c:pt idx="43">
                  <c:v>1.7399999999999999E-2</c:v>
                </c:pt>
                <c:pt idx="44">
                  <c:v>1.6899999999999998E-2</c:v>
                </c:pt>
                <c:pt idx="45">
                  <c:v>1.8800000000000001E-2</c:v>
                </c:pt>
                <c:pt idx="46">
                  <c:v>1.7500000000000002E-2</c:v>
                </c:pt>
                <c:pt idx="47">
                  <c:v>1.9099999999999999E-2</c:v>
                </c:pt>
                <c:pt idx="48">
                  <c:v>2.0799999999999999E-2</c:v>
                </c:pt>
                <c:pt idx="49">
                  <c:v>1.8700000000000001E-2</c:v>
                </c:pt>
                <c:pt idx="50">
                  <c:v>1.9599999999999999E-2</c:v>
                </c:pt>
                <c:pt idx="51">
                  <c:v>1.8800000000000001E-2</c:v>
                </c:pt>
                <c:pt idx="52">
                  <c:v>1.83E-2</c:v>
                </c:pt>
                <c:pt idx="53">
                  <c:v>1.84E-2</c:v>
                </c:pt>
                <c:pt idx="54">
                  <c:v>1.9699999999999999E-2</c:v>
                </c:pt>
                <c:pt idx="55">
                  <c:v>1.9699999999999999E-2</c:v>
                </c:pt>
                <c:pt idx="56">
                  <c:v>1.9699999999999999E-2</c:v>
                </c:pt>
                <c:pt idx="57">
                  <c:v>1.8200000000000001E-2</c:v>
                </c:pt>
                <c:pt idx="58">
                  <c:v>1.8200000000000001E-2</c:v>
                </c:pt>
                <c:pt idx="59">
                  <c:v>1.83E-2</c:v>
                </c:pt>
                <c:pt idx="60">
                  <c:v>1.8100000000000002E-2</c:v>
                </c:pt>
                <c:pt idx="61">
                  <c:v>1.6799999999999999E-2</c:v>
                </c:pt>
                <c:pt idx="62">
                  <c:v>1.78E-2</c:v>
                </c:pt>
                <c:pt idx="63">
                  <c:v>1.7000000000000001E-2</c:v>
                </c:pt>
                <c:pt idx="64">
                  <c:v>1.7299999999999999E-2</c:v>
                </c:pt>
                <c:pt idx="65">
                  <c:v>1.55E-2</c:v>
                </c:pt>
                <c:pt idx="66">
                  <c:v>1.6500000000000001E-2</c:v>
                </c:pt>
                <c:pt idx="67">
                  <c:v>1.5800000000000002E-2</c:v>
                </c:pt>
                <c:pt idx="68">
                  <c:v>1.54E-2</c:v>
                </c:pt>
                <c:pt idx="69">
                  <c:v>1.4999999999999999E-2</c:v>
                </c:pt>
                <c:pt idx="70">
                  <c:v>1.5800000000000002E-2</c:v>
                </c:pt>
                <c:pt idx="71">
                  <c:v>1.52E-2</c:v>
                </c:pt>
                <c:pt idx="72">
                  <c:v>1.3899999999999999E-2</c:v>
                </c:pt>
                <c:pt idx="73">
                  <c:v>1.4E-2</c:v>
                </c:pt>
                <c:pt idx="74">
                  <c:v>1.32E-2</c:v>
                </c:pt>
                <c:pt idx="75">
                  <c:v>1.2500000000000001E-2</c:v>
                </c:pt>
                <c:pt idx="76">
                  <c:v>1.24E-2</c:v>
                </c:pt>
                <c:pt idx="77">
                  <c:v>1.23E-2</c:v>
                </c:pt>
                <c:pt idx="78">
                  <c:v>1.1299999999999999E-2</c:v>
                </c:pt>
                <c:pt idx="79">
                  <c:v>1.0500000000000001E-2</c:v>
                </c:pt>
                <c:pt idx="80">
                  <c:v>1.03E-2</c:v>
                </c:pt>
                <c:pt idx="81">
                  <c:v>1.06E-2</c:v>
                </c:pt>
                <c:pt idx="82">
                  <c:v>9.2999999999999992E-3</c:v>
                </c:pt>
                <c:pt idx="83">
                  <c:v>8.0000000000000002E-3</c:v>
                </c:pt>
                <c:pt idx="84">
                  <c:v>6.7000000000000002E-3</c:v>
                </c:pt>
                <c:pt idx="85">
                  <c:v>6.4999999999999997E-3</c:v>
                </c:pt>
                <c:pt idx="86">
                  <c:v>6.1000000000000004E-3</c:v>
                </c:pt>
                <c:pt idx="87">
                  <c:v>4.7000000000000002E-3</c:v>
                </c:pt>
                <c:pt idx="88">
                  <c:v>4.4000000000000003E-3</c:v>
                </c:pt>
                <c:pt idx="89">
                  <c:v>4.1000000000000003E-3</c:v>
                </c:pt>
                <c:pt idx="90">
                  <c:v>2.8999999999999998E-3</c:v>
                </c:pt>
                <c:pt idx="91">
                  <c:v>2.7000000000000001E-3</c:v>
                </c:pt>
                <c:pt idx="92">
                  <c:v>2.2000000000000001E-3</c:v>
                </c:pt>
                <c:pt idx="93">
                  <c:v>1.2999999999999999E-3</c:v>
                </c:pt>
                <c:pt idx="94">
                  <c:v>1.1999999999999999E-3</c:v>
                </c:pt>
                <c:pt idx="95">
                  <c:v>1E-3</c:v>
                </c:pt>
                <c:pt idx="96">
                  <c:v>5.9999999999999995E-4</c:v>
                </c:pt>
                <c:pt idx="97">
                  <c:v>4.0000000000000002E-4</c:v>
                </c:pt>
                <c:pt idx="98">
                  <c:v>2.9999999999999997E-4</c:v>
                </c:pt>
                <c:pt idx="99">
                  <c:v>1E-4</c:v>
                </c:pt>
                <c:pt idx="100">
                  <c:v>0</c:v>
                </c:pt>
              </c:numCache>
            </c:numRef>
          </c:val>
          <c:extLst>
            <c:ext xmlns:c16="http://schemas.microsoft.com/office/drawing/2014/chart" uri="{C3380CC4-5D6E-409C-BE32-E72D297353CC}">
              <c16:uniqueId val="{00000000-8152-48B2-9777-00FF7C5A471E}"/>
            </c:ext>
          </c:extLst>
        </c:ser>
        <c:dLbls>
          <c:showLegendKey val="0"/>
          <c:showVal val="0"/>
          <c:showCatName val="0"/>
          <c:showSerName val="0"/>
          <c:showPercent val="0"/>
          <c:showBubbleSize val="0"/>
        </c:dLbls>
        <c:gapWidth val="219"/>
        <c:overlap val="-27"/>
        <c:axId val="621081360"/>
        <c:axId val="621081688"/>
      </c:barChart>
      <c:catAx>
        <c:axId val="621081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hu-HU"/>
          </a:p>
        </c:txPr>
        <c:crossAx val="621081688"/>
        <c:crosses val="autoZero"/>
        <c:auto val="1"/>
        <c:lblAlgn val="ctr"/>
        <c:lblOffset val="100"/>
        <c:noMultiLvlLbl val="0"/>
      </c:catAx>
      <c:valAx>
        <c:axId val="62108168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hu-HU"/>
          </a:p>
        </c:txPr>
        <c:crossAx val="621081360"/>
        <c:crosses val="autoZero"/>
        <c:crossBetween val="between"/>
      </c:valAx>
      <c:spPr>
        <a:noFill/>
        <a:ln w="25400">
          <a:noFill/>
        </a:ln>
        <a:effectLst/>
      </c:spPr>
    </c:plotArea>
    <c:plotVisOnly val="1"/>
    <c:dispBlanksAs val="gap"/>
    <c:showDLblsOverMax val="0"/>
    <c:extLst>
      <c:ext uri="{0b15fc19-7d7d-44ad-8c2d-2c3a37ce22c3}">
        <chartProps xmlns="https://web.wps.cn/et/2018/main" chartId="{dae11caf-080a-43c2-9a4c-d8e4be75d56a}"/>
      </c:ext>
    </c:extLst>
  </c:chart>
  <c:spPr>
    <a:noFill/>
    <a:ln>
      <a:noFill/>
    </a:ln>
    <a:effectLst/>
  </c:spPr>
  <c:txPr>
    <a:bodyPr/>
    <a:lstStyle/>
    <a:p>
      <a:pPr>
        <a:defRPr lang="en-US"/>
      </a:pPr>
      <a:endParaRPr lang="hu-HU"/>
    </a:p>
  </c:txPr>
  <c:externalData r:id="rId4">
    <c:autoUpdate val="0"/>
  </c:externalData>
  <c:userShapes r:id="rId5"/>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6974751400342E-2"/>
          <c:y val="0.16372618207480599"/>
          <c:w val="0.93295887991135795"/>
          <c:h val="0.62417600724502198"/>
        </c:manualLayout>
      </c:layout>
      <c:barChart>
        <c:barDir val="col"/>
        <c:grouping val="clustered"/>
        <c:varyColors val="0"/>
        <c:ser>
          <c:idx val="0"/>
          <c:order val="0"/>
          <c:tx>
            <c:strRef>
              <c:f>Munka1!$A$1</c:f>
              <c:strCache>
                <c:ptCount val="1"/>
                <c:pt idx="0">
                  <c:v>Pontszámok</c:v>
                </c:pt>
              </c:strCache>
            </c:strRef>
          </c:tx>
          <c:spPr>
            <a:solidFill>
              <a:schemeClr val="bg1">
                <a:lumMod val="50000"/>
              </a:schemeClr>
            </a:solidFill>
            <a:ln>
              <a:solidFill>
                <a:schemeClr val="tx1"/>
              </a:solidFill>
            </a:ln>
            <a:effectLst/>
          </c:spPr>
          <c:invertIfNegative val="0"/>
          <c:cat>
            <c:numRef>
              <c:f>Munka1!$A$2:$A$102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cat>
          <c:val>
            <c:numRef>
              <c:f>Munka1!$B$2:$B$102</c:f>
              <c:numCache>
                <c:formatCode>0.00%</c:formatCode>
                <c:ptCount val="101"/>
                <c:pt idx="0">
                  <c:v>0</c:v>
                </c:pt>
                <c:pt idx="1">
                  <c:v>0</c:v>
                </c:pt>
                <c:pt idx="2">
                  <c:v>0</c:v>
                </c:pt>
                <c:pt idx="3">
                  <c:v>0</c:v>
                </c:pt>
                <c:pt idx="4">
                  <c:v>0</c:v>
                </c:pt>
                <c:pt idx="5">
                  <c:v>0</c:v>
                </c:pt>
                <c:pt idx="6">
                  <c:v>0</c:v>
                </c:pt>
                <c:pt idx="7">
                  <c:v>0</c:v>
                </c:pt>
                <c:pt idx="8">
                  <c:v>1.9880715705765408E-4</c:v>
                </c:pt>
                <c:pt idx="9">
                  <c:v>9.9403578528827041E-5</c:v>
                </c:pt>
                <c:pt idx="10">
                  <c:v>9.9403578528827041E-5</c:v>
                </c:pt>
                <c:pt idx="11">
                  <c:v>9.9403578528827041E-5</c:v>
                </c:pt>
                <c:pt idx="12">
                  <c:v>2.9821073558648114E-4</c:v>
                </c:pt>
                <c:pt idx="13">
                  <c:v>9.9403578528827041E-5</c:v>
                </c:pt>
                <c:pt idx="14">
                  <c:v>1.9880715705765408E-4</c:v>
                </c:pt>
                <c:pt idx="15">
                  <c:v>5.9642147117296227E-4</c:v>
                </c:pt>
                <c:pt idx="16">
                  <c:v>7.9522862823061633E-4</c:v>
                </c:pt>
                <c:pt idx="17">
                  <c:v>1.1928429423459245E-3</c:v>
                </c:pt>
                <c:pt idx="18">
                  <c:v>8.9463220675944336E-4</c:v>
                </c:pt>
                <c:pt idx="19">
                  <c:v>8.9463220675944336E-4</c:v>
                </c:pt>
                <c:pt idx="20">
                  <c:v>1.9880715705765406E-3</c:v>
                </c:pt>
                <c:pt idx="21">
                  <c:v>1.1928429423459245E-3</c:v>
                </c:pt>
                <c:pt idx="22">
                  <c:v>1.6898608349900596E-3</c:v>
                </c:pt>
                <c:pt idx="23">
                  <c:v>3.4791252485089465E-3</c:v>
                </c:pt>
                <c:pt idx="24">
                  <c:v>4.2743538767395627E-3</c:v>
                </c:pt>
                <c:pt idx="25">
                  <c:v>2.982107355864811E-3</c:v>
                </c:pt>
                <c:pt idx="26">
                  <c:v>5.0695825049701789E-3</c:v>
                </c:pt>
                <c:pt idx="27">
                  <c:v>4.970178926441352E-3</c:v>
                </c:pt>
                <c:pt idx="28">
                  <c:v>4.3737574552683896E-3</c:v>
                </c:pt>
                <c:pt idx="29">
                  <c:v>5.7654075546719682E-3</c:v>
                </c:pt>
                <c:pt idx="30">
                  <c:v>7.6540755467196823E-3</c:v>
                </c:pt>
                <c:pt idx="31">
                  <c:v>7.2564612326043738E-3</c:v>
                </c:pt>
                <c:pt idx="32">
                  <c:v>8.9463220675944331E-3</c:v>
                </c:pt>
                <c:pt idx="33">
                  <c:v>8.1510934393638178E-3</c:v>
                </c:pt>
                <c:pt idx="34">
                  <c:v>9.6421471172962233E-3</c:v>
                </c:pt>
                <c:pt idx="35">
                  <c:v>9.8409542743538771E-3</c:v>
                </c:pt>
                <c:pt idx="36">
                  <c:v>9.4433399602385677E-3</c:v>
                </c:pt>
                <c:pt idx="37">
                  <c:v>1.0834990059642146E-2</c:v>
                </c:pt>
                <c:pt idx="38">
                  <c:v>1.2524850894632207E-2</c:v>
                </c:pt>
                <c:pt idx="39">
                  <c:v>1.5407554671968192E-2</c:v>
                </c:pt>
                <c:pt idx="40">
                  <c:v>1.2723658051689861E-2</c:v>
                </c:pt>
                <c:pt idx="41">
                  <c:v>1.6302186878727636E-2</c:v>
                </c:pt>
                <c:pt idx="42">
                  <c:v>1.3121272365805169E-2</c:v>
                </c:pt>
                <c:pt idx="43">
                  <c:v>1.4910536779324055E-2</c:v>
                </c:pt>
                <c:pt idx="44">
                  <c:v>1.6202783300198809E-2</c:v>
                </c:pt>
                <c:pt idx="45">
                  <c:v>1.6202783300198809E-2</c:v>
                </c:pt>
                <c:pt idx="46">
                  <c:v>1.5904572564612324E-2</c:v>
                </c:pt>
                <c:pt idx="47">
                  <c:v>1.9880715705765408E-2</c:v>
                </c:pt>
                <c:pt idx="48">
                  <c:v>1.7892644135188866E-2</c:v>
                </c:pt>
                <c:pt idx="49">
                  <c:v>1.6500994035785289E-2</c:v>
                </c:pt>
                <c:pt idx="50">
                  <c:v>2.0079522862823062E-2</c:v>
                </c:pt>
                <c:pt idx="51">
                  <c:v>1.7892644135188866E-2</c:v>
                </c:pt>
                <c:pt idx="52">
                  <c:v>2.1172962226640158E-2</c:v>
                </c:pt>
                <c:pt idx="53">
                  <c:v>2.0178926441351889E-2</c:v>
                </c:pt>
                <c:pt idx="54">
                  <c:v>2.176938369781312E-2</c:v>
                </c:pt>
                <c:pt idx="55">
                  <c:v>2.0278330019880716E-2</c:v>
                </c:pt>
                <c:pt idx="56">
                  <c:v>2.0874751491053677E-2</c:v>
                </c:pt>
                <c:pt idx="57">
                  <c:v>1.8687872763419482E-2</c:v>
                </c:pt>
                <c:pt idx="58">
                  <c:v>2.047713717693837E-2</c:v>
                </c:pt>
                <c:pt idx="59">
                  <c:v>2.2465208747514911E-2</c:v>
                </c:pt>
                <c:pt idx="60">
                  <c:v>2.0278330019880716E-2</c:v>
                </c:pt>
                <c:pt idx="61">
                  <c:v>2.176938369781312E-2</c:v>
                </c:pt>
                <c:pt idx="62">
                  <c:v>1.9681908548707754E-2</c:v>
                </c:pt>
                <c:pt idx="63">
                  <c:v>2.176938369781312E-2</c:v>
                </c:pt>
                <c:pt idx="64">
                  <c:v>2.2564612326043738E-2</c:v>
                </c:pt>
                <c:pt idx="65">
                  <c:v>2.0675944333996023E-2</c:v>
                </c:pt>
                <c:pt idx="66">
                  <c:v>2.2564612326043738E-2</c:v>
                </c:pt>
                <c:pt idx="67">
                  <c:v>2.0278330019880716E-2</c:v>
                </c:pt>
                <c:pt idx="68">
                  <c:v>1.8787276341948309E-2</c:v>
                </c:pt>
                <c:pt idx="69">
                  <c:v>2.0576540755467197E-2</c:v>
                </c:pt>
                <c:pt idx="70">
                  <c:v>2.0675944333996023E-2</c:v>
                </c:pt>
                <c:pt idx="71">
                  <c:v>1.9781312127236581E-2</c:v>
                </c:pt>
                <c:pt idx="72">
                  <c:v>1.918489065606362E-2</c:v>
                </c:pt>
                <c:pt idx="73">
                  <c:v>1.7594433399602386E-2</c:v>
                </c:pt>
                <c:pt idx="74">
                  <c:v>1.8986083499005966E-2</c:v>
                </c:pt>
                <c:pt idx="75">
                  <c:v>1.8389662027833001E-2</c:v>
                </c:pt>
                <c:pt idx="76">
                  <c:v>1.6998011928429424E-2</c:v>
                </c:pt>
                <c:pt idx="77">
                  <c:v>1.5705765407554671E-2</c:v>
                </c:pt>
                <c:pt idx="78">
                  <c:v>1.4314115308151094E-2</c:v>
                </c:pt>
                <c:pt idx="79">
                  <c:v>1.4910536779324055E-2</c:v>
                </c:pt>
                <c:pt idx="80">
                  <c:v>1.5308151093439365E-2</c:v>
                </c:pt>
                <c:pt idx="81">
                  <c:v>1.4512922465208748E-2</c:v>
                </c:pt>
                <c:pt idx="82">
                  <c:v>1.0735586481113319E-2</c:v>
                </c:pt>
                <c:pt idx="83">
                  <c:v>1.0536779324055666E-2</c:v>
                </c:pt>
                <c:pt idx="84">
                  <c:v>9.5427435387673964E-3</c:v>
                </c:pt>
                <c:pt idx="85">
                  <c:v>1.0337972166998012E-2</c:v>
                </c:pt>
                <c:pt idx="86">
                  <c:v>7.4552683896620276E-3</c:v>
                </c:pt>
                <c:pt idx="87">
                  <c:v>6.6600397614314114E-3</c:v>
                </c:pt>
                <c:pt idx="88">
                  <c:v>6.063618290258449E-3</c:v>
                </c:pt>
                <c:pt idx="89">
                  <c:v>4.4731610337972166E-3</c:v>
                </c:pt>
                <c:pt idx="90">
                  <c:v>3.7773359840954273E-3</c:v>
                </c:pt>
                <c:pt idx="91">
                  <c:v>2.7833001988071572E-3</c:v>
                </c:pt>
                <c:pt idx="92">
                  <c:v>2.8827037773359841E-3</c:v>
                </c:pt>
                <c:pt idx="93">
                  <c:v>1.8886679920477136E-3</c:v>
                </c:pt>
                <c:pt idx="94">
                  <c:v>1.3916500994035786E-3</c:v>
                </c:pt>
                <c:pt idx="95">
                  <c:v>5.9642147117296227E-4</c:v>
                </c:pt>
                <c:pt idx="96">
                  <c:v>5.9642147117296227E-4</c:v>
                </c:pt>
                <c:pt idx="97">
                  <c:v>3.9761431411530816E-4</c:v>
                </c:pt>
                <c:pt idx="98">
                  <c:v>0</c:v>
                </c:pt>
                <c:pt idx="99">
                  <c:v>9.9403578528827041E-5</c:v>
                </c:pt>
                <c:pt idx="100">
                  <c:v>0</c:v>
                </c:pt>
              </c:numCache>
            </c:numRef>
          </c:val>
          <c:extLst>
            <c:ext xmlns:c16="http://schemas.microsoft.com/office/drawing/2014/chart" uri="{C3380CC4-5D6E-409C-BE32-E72D297353CC}">
              <c16:uniqueId val="{00000000-6F7D-4DC7-BEBC-5CBB3E312867}"/>
            </c:ext>
          </c:extLst>
        </c:ser>
        <c:dLbls>
          <c:showLegendKey val="0"/>
          <c:showVal val="0"/>
          <c:showCatName val="0"/>
          <c:showSerName val="0"/>
          <c:showPercent val="0"/>
          <c:showBubbleSize val="0"/>
        </c:dLbls>
        <c:gapWidth val="219"/>
        <c:overlap val="-27"/>
        <c:axId val="621081360"/>
        <c:axId val="621081688"/>
      </c:barChart>
      <c:catAx>
        <c:axId val="621081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hu-HU"/>
          </a:p>
        </c:txPr>
        <c:crossAx val="621081688"/>
        <c:crosses val="autoZero"/>
        <c:auto val="1"/>
        <c:lblAlgn val="ctr"/>
        <c:lblOffset val="100"/>
        <c:noMultiLvlLbl val="0"/>
      </c:catAx>
      <c:valAx>
        <c:axId val="621081688"/>
        <c:scaling>
          <c:orientation val="minMax"/>
          <c:max val="0.04"/>
          <c:min val="0"/>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hu-HU"/>
          </a:p>
        </c:txPr>
        <c:crossAx val="621081360"/>
        <c:crosses val="autoZero"/>
        <c:crossBetween val="between"/>
      </c:valAx>
      <c:spPr>
        <a:noFill/>
        <a:ln>
          <a:noFill/>
        </a:ln>
        <a:effectLst/>
      </c:spPr>
    </c:plotArea>
    <c:plotVisOnly val="1"/>
    <c:dispBlanksAs val="gap"/>
    <c:showDLblsOverMax val="0"/>
    <c:extLst>
      <c:ext uri="{0b15fc19-7d7d-44ad-8c2d-2c3a37ce22c3}">
        <chartProps xmlns="https://web.wps.cn/et/2018/main" chartId="{18566902-1f4b-47cf-9858-63daad8fba55}"/>
      </c:ext>
    </c:extLst>
  </c:chart>
  <c:spPr>
    <a:noFill/>
    <a:ln>
      <a:noFill/>
    </a:ln>
    <a:effectLst/>
  </c:spPr>
  <c:txPr>
    <a:bodyPr/>
    <a:lstStyle/>
    <a:p>
      <a:pPr>
        <a:defRPr lang="en-US"/>
      </a:pPr>
      <a:endParaRPr lang="hu-HU"/>
    </a:p>
  </c:txPr>
  <c:externalData r:id="rId3">
    <c:autoUpdate val="0"/>
  </c:externalData>
  <c:userShapes r:id="rId4"/>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manualLayout>
          <c:layoutTarget val="inner"/>
          <c:xMode val="edge"/>
          <c:yMode val="edge"/>
          <c:x val="0.104025046640791"/>
          <c:y val="0.14490718230449501"/>
          <c:w val="0.93295887991135795"/>
          <c:h val="0.74595028126776997"/>
        </c:manualLayout>
      </c:layout>
      <c:barChart>
        <c:barDir val="col"/>
        <c:grouping val="clustered"/>
        <c:varyColors val="0"/>
        <c:ser>
          <c:idx val="0"/>
          <c:order val="0"/>
          <c:tx>
            <c:strRef>
              <c:f>Munka1!$A$1</c:f>
              <c:strCache>
                <c:ptCount val="1"/>
                <c:pt idx="0">
                  <c:v>Pontszámok</c:v>
                </c:pt>
              </c:strCache>
            </c:strRef>
          </c:tx>
          <c:spPr>
            <a:solidFill>
              <a:schemeClr val="dk1">
                <a:tint val="88500"/>
              </a:schemeClr>
            </a:solidFill>
            <a:ln>
              <a:solidFill>
                <a:schemeClr val="tx1"/>
              </a:solidFill>
            </a:ln>
            <a:effectLst/>
          </c:spPr>
          <c:invertIfNegative val="0"/>
          <c:cat>
            <c:numRef>
              <c:f>Munka1!$A$2:$A$102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cat>
          <c:val>
            <c:numRef>
              <c:f>Munka1!$B$2:$B$102</c:f>
              <c:numCache>
                <c:formatCode>0.00%</c:formatCode>
                <c:ptCount val="101"/>
                <c:pt idx="0">
                  <c:v>1.6758840288252054E-4</c:v>
                </c:pt>
                <c:pt idx="1">
                  <c:v>0</c:v>
                </c:pt>
                <c:pt idx="2">
                  <c:v>0</c:v>
                </c:pt>
                <c:pt idx="3">
                  <c:v>0</c:v>
                </c:pt>
                <c:pt idx="4">
                  <c:v>0</c:v>
                </c:pt>
                <c:pt idx="5">
                  <c:v>0</c:v>
                </c:pt>
                <c:pt idx="6">
                  <c:v>1.6758840288252054E-4</c:v>
                </c:pt>
                <c:pt idx="7">
                  <c:v>0</c:v>
                </c:pt>
                <c:pt idx="8">
                  <c:v>0</c:v>
                </c:pt>
                <c:pt idx="9">
                  <c:v>0</c:v>
                </c:pt>
                <c:pt idx="10">
                  <c:v>1.6758840288252054E-4</c:v>
                </c:pt>
                <c:pt idx="11">
                  <c:v>1.6758840288252054E-4</c:v>
                </c:pt>
                <c:pt idx="12">
                  <c:v>0</c:v>
                </c:pt>
                <c:pt idx="13">
                  <c:v>1.6758840288252054E-4</c:v>
                </c:pt>
                <c:pt idx="14">
                  <c:v>5.0276520864756154E-4</c:v>
                </c:pt>
                <c:pt idx="15">
                  <c:v>1.6758840288252054E-4</c:v>
                </c:pt>
                <c:pt idx="16">
                  <c:v>1.6758840288252054E-4</c:v>
                </c:pt>
                <c:pt idx="17">
                  <c:v>0</c:v>
                </c:pt>
                <c:pt idx="18">
                  <c:v>1.0055304172951231E-3</c:v>
                </c:pt>
                <c:pt idx="19">
                  <c:v>5.0276520864756154E-4</c:v>
                </c:pt>
                <c:pt idx="20">
                  <c:v>3.3517680576504108E-4</c:v>
                </c:pt>
                <c:pt idx="21">
                  <c:v>6.7035361153008216E-4</c:v>
                </c:pt>
                <c:pt idx="22">
                  <c:v>1.0055304172951231E-3</c:v>
                </c:pt>
                <c:pt idx="23">
                  <c:v>6.7035361153008216E-4</c:v>
                </c:pt>
                <c:pt idx="24">
                  <c:v>1.6758840288252053E-3</c:v>
                </c:pt>
                <c:pt idx="25">
                  <c:v>1.1731188201776438E-3</c:v>
                </c:pt>
                <c:pt idx="26">
                  <c:v>1.5082956259426848E-3</c:v>
                </c:pt>
                <c:pt idx="27">
                  <c:v>1.1731188201776438E-3</c:v>
                </c:pt>
                <c:pt idx="28">
                  <c:v>2.1786492374727671E-3</c:v>
                </c:pt>
                <c:pt idx="29">
                  <c:v>2.1786492374727671E-3</c:v>
                </c:pt>
                <c:pt idx="30">
                  <c:v>2.8490028490028491E-3</c:v>
                </c:pt>
                <c:pt idx="31">
                  <c:v>2.0110608345902461E-3</c:v>
                </c:pt>
                <c:pt idx="32">
                  <c:v>3.1841796547678902E-3</c:v>
                </c:pt>
                <c:pt idx="33">
                  <c:v>3.0165912518853697E-3</c:v>
                </c:pt>
                <c:pt idx="34">
                  <c:v>3.8545332662979722E-3</c:v>
                </c:pt>
                <c:pt idx="35">
                  <c:v>5.1952404893581368E-3</c:v>
                </c:pt>
                <c:pt idx="36">
                  <c:v>5.8655941008882188E-3</c:v>
                </c:pt>
                <c:pt idx="37">
                  <c:v>4.6924752807105752E-3</c:v>
                </c:pt>
                <c:pt idx="38">
                  <c:v>6.8711245181833419E-3</c:v>
                </c:pt>
                <c:pt idx="39">
                  <c:v>6.5359477124183009E-3</c:v>
                </c:pt>
                <c:pt idx="40">
                  <c:v>6.3683593095357803E-3</c:v>
                </c:pt>
                <c:pt idx="41">
                  <c:v>8.3794201441260256E-3</c:v>
                </c:pt>
                <c:pt idx="42">
                  <c:v>8.7145969498910684E-3</c:v>
                </c:pt>
                <c:pt idx="43">
                  <c:v>9.3849505614211504E-3</c:v>
                </c:pt>
                <c:pt idx="44">
                  <c:v>1.0893246187363835E-2</c:v>
                </c:pt>
                <c:pt idx="45">
                  <c:v>1.0390480978716274E-2</c:v>
                </c:pt>
                <c:pt idx="46">
                  <c:v>1.1396011396011397E-2</c:v>
                </c:pt>
                <c:pt idx="47">
                  <c:v>1.4747779453661807E-2</c:v>
                </c:pt>
                <c:pt idx="48">
                  <c:v>1.4915367856544327E-2</c:v>
                </c:pt>
                <c:pt idx="49">
                  <c:v>1.1228422993128876E-2</c:v>
                </c:pt>
                <c:pt idx="50">
                  <c:v>1.4412602647896766E-2</c:v>
                </c:pt>
                <c:pt idx="51">
                  <c:v>1.5082956259426848E-2</c:v>
                </c:pt>
                <c:pt idx="52">
                  <c:v>1.9105077928607342E-2</c:v>
                </c:pt>
                <c:pt idx="53">
                  <c:v>1.9440254734372383E-2</c:v>
                </c:pt>
                <c:pt idx="54">
                  <c:v>1.592089827383945E-2</c:v>
                </c:pt>
                <c:pt idx="55">
                  <c:v>1.6256075079604491E-2</c:v>
                </c:pt>
                <c:pt idx="56">
                  <c:v>2.1283727166080107E-2</c:v>
                </c:pt>
                <c:pt idx="57">
                  <c:v>2.1283727166080107E-2</c:v>
                </c:pt>
                <c:pt idx="58">
                  <c:v>2.4467906820847998E-2</c:v>
                </c:pt>
                <c:pt idx="59">
                  <c:v>2.0948550360315066E-2</c:v>
                </c:pt>
                <c:pt idx="60">
                  <c:v>2.5305848835260599E-2</c:v>
                </c:pt>
                <c:pt idx="61">
                  <c:v>2.4635495223730517E-2</c:v>
                </c:pt>
                <c:pt idx="62">
                  <c:v>2.1283727166080107E-2</c:v>
                </c:pt>
                <c:pt idx="63">
                  <c:v>2.5808614043908162E-2</c:v>
                </c:pt>
                <c:pt idx="64">
                  <c:v>2.815485168426345E-2</c:v>
                </c:pt>
                <c:pt idx="65">
                  <c:v>2.7819674878498409E-2</c:v>
                </c:pt>
                <c:pt idx="66">
                  <c:v>2.7484498072733368E-2</c:v>
                </c:pt>
                <c:pt idx="67">
                  <c:v>2.5305848835260599E-2</c:v>
                </c:pt>
                <c:pt idx="68">
                  <c:v>2.3294788000670353E-2</c:v>
                </c:pt>
                <c:pt idx="69">
                  <c:v>2.5976202446790681E-2</c:v>
                </c:pt>
                <c:pt idx="70">
                  <c:v>2.7149321266968326E-2</c:v>
                </c:pt>
                <c:pt idx="71">
                  <c:v>2.228925758337523E-2</c:v>
                </c:pt>
                <c:pt idx="72">
                  <c:v>2.4635495223730517E-2</c:v>
                </c:pt>
                <c:pt idx="73">
                  <c:v>2.3294788000670353E-2</c:v>
                </c:pt>
                <c:pt idx="74">
                  <c:v>2.2792022792022793E-2</c:v>
                </c:pt>
                <c:pt idx="75">
                  <c:v>2.3294788000670353E-2</c:v>
                </c:pt>
                <c:pt idx="76">
                  <c:v>2.3629964806435394E-2</c:v>
                </c:pt>
                <c:pt idx="77">
                  <c:v>2.2456845986257752E-2</c:v>
                </c:pt>
                <c:pt idx="78">
                  <c:v>1.9440254734372383E-2</c:v>
                </c:pt>
                <c:pt idx="79">
                  <c:v>2.2624434389140271E-2</c:v>
                </c:pt>
                <c:pt idx="80">
                  <c:v>2.1451315568962629E-2</c:v>
                </c:pt>
                <c:pt idx="81">
                  <c:v>1.7931959108429697E-2</c:v>
                </c:pt>
                <c:pt idx="82">
                  <c:v>1.843472431707726E-2</c:v>
                </c:pt>
                <c:pt idx="83">
                  <c:v>1.5082956259426848E-2</c:v>
                </c:pt>
                <c:pt idx="84">
                  <c:v>1.4747779453661807E-2</c:v>
                </c:pt>
                <c:pt idx="85">
                  <c:v>1.2066365007541479E-2</c:v>
                </c:pt>
                <c:pt idx="86">
                  <c:v>1.1228422993128876E-2</c:v>
                </c:pt>
                <c:pt idx="87">
                  <c:v>1.256913021618904E-2</c:v>
                </c:pt>
                <c:pt idx="88">
                  <c:v>9.5525389643036709E-3</c:v>
                </c:pt>
                <c:pt idx="89">
                  <c:v>6.7035361153008214E-3</c:v>
                </c:pt>
                <c:pt idx="90">
                  <c:v>6.3683593095357803E-3</c:v>
                </c:pt>
                <c:pt idx="91">
                  <c:v>3.8545332662979722E-3</c:v>
                </c:pt>
                <c:pt idx="92">
                  <c:v>2.5138260432378081E-3</c:v>
                </c:pt>
                <c:pt idx="93">
                  <c:v>3.1841796547678902E-3</c:v>
                </c:pt>
                <c:pt idx="94">
                  <c:v>1.1731188201776438E-3</c:v>
                </c:pt>
                <c:pt idx="95">
                  <c:v>8.3794201441260267E-4</c:v>
                </c:pt>
                <c:pt idx="96">
                  <c:v>8.3794201441260267E-4</c:v>
                </c:pt>
                <c:pt idx="97">
                  <c:v>3.3517680576504108E-4</c:v>
                </c:pt>
                <c:pt idx="98">
                  <c:v>0</c:v>
                </c:pt>
                <c:pt idx="99">
                  <c:v>0</c:v>
                </c:pt>
                <c:pt idx="100">
                  <c:v>0</c:v>
                </c:pt>
              </c:numCache>
            </c:numRef>
          </c:val>
          <c:extLst>
            <c:ext xmlns:c16="http://schemas.microsoft.com/office/drawing/2014/chart" uri="{C3380CC4-5D6E-409C-BE32-E72D297353CC}">
              <c16:uniqueId val="{00000000-5271-45EE-ABB7-C92E5535EAF9}"/>
            </c:ext>
          </c:extLst>
        </c:ser>
        <c:dLbls>
          <c:showLegendKey val="0"/>
          <c:showVal val="0"/>
          <c:showCatName val="0"/>
          <c:showSerName val="0"/>
          <c:showPercent val="0"/>
          <c:showBubbleSize val="0"/>
        </c:dLbls>
        <c:gapWidth val="219"/>
        <c:overlap val="-27"/>
        <c:axId val="621081360"/>
        <c:axId val="621081688"/>
      </c:barChart>
      <c:catAx>
        <c:axId val="621081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hu-HU"/>
          </a:p>
        </c:txPr>
        <c:crossAx val="621081688"/>
        <c:crosses val="autoZero"/>
        <c:auto val="1"/>
        <c:lblAlgn val="ctr"/>
        <c:lblOffset val="100"/>
        <c:noMultiLvlLbl val="0"/>
      </c:catAx>
      <c:valAx>
        <c:axId val="62108168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hu-HU"/>
          </a:p>
        </c:txPr>
        <c:crossAx val="621081360"/>
        <c:crosses val="autoZero"/>
        <c:crossBetween val="between"/>
      </c:valAx>
      <c:spPr>
        <a:noFill/>
        <a:ln>
          <a:noFill/>
        </a:ln>
        <a:effectLst/>
      </c:spPr>
    </c:plotArea>
    <c:plotVisOnly val="1"/>
    <c:dispBlanksAs val="gap"/>
    <c:showDLblsOverMax val="0"/>
    <c:extLst>
      <c:ext uri="{0b15fc19-7d7d-44ad-8c2d-2c3a37ce22c3}">
        <chartProps xmlns="https://web.wps.cn/et/2018/main" chartId="{88a03bbf-49ea-4b5c-bb94-e1885517eed7}"/>
      </c:ext>
    </c:extLst>
  </c:chart>
  <c:spPr>
    <a:noFill/>
    <a:ln>
      <a:noFill/>
    </a:ln>
    <a:effectLst/>
  </c:spPr>
  <c:txPr>
    <a:bodyPr/>
    <a:lstStyle/>
    <a:p>
      <a:pPr>
        <a:defRPr lang="en-US"/>
      </a:pPr>
      <a:endParaRPr lang="hu-HU"/>
    </a:p>
  </c:txPr>
  <c:externalData r:id="rId3">
    <c:autoUpdate val="0"/>
  </c:externalData>
  <c:userShapes r:id="rId4"/>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8.0492030887443403E-2"/>
          <c:y val="2.9613273635417402E-2"/>
          <c:w val="0.90213309632263095"/>
          <c:h val="0.83219238774697701"/>
        </c:manualLayout>
      </c:layout>
      <c:barChart>
        <c:barDir val="col"/>
        <c:grouping val="clustered"/>
        <c:varyColors val="0"/>
        <c:ser>
          <c:idx val="0"/>
          <c:order val="0"/>
          <c:tx>
            <c:strRef>
              <c:f>Munka1!$B$1</c:f>
              <c:strCache>
                <c:ptCount val="1"/>
                <c:pt idx="0">
                  <c:v>2011/2012</c:v>
                </c:pt>
              </c:strCache>
            </c:strRef>
          </c:tx>
          <c:spPr>
            <a:solidFill>
              <a:schemeClr val="accent3">
                <a:tint val="39000"/>
              </a:schemeClr>
            </a:solidFill>
            <a:ln>
              <a:no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Munka1!$B$2:$B$6</c:f>
            </c:numRef>
          </c:val>
          <c:extLst>
            <c:ext xmlns:c16="http://schemas.microsoft.com/office/drawing/2014/chart" uri="{C3380CC4-5D6E-409C-BE32-E72D297353CC}">
              <c16:uniqueId val="{00000000-1951-4821-8C0E-4355F77EFEE7}"/>
            </c:ext>
          </c:extLst>
        </c:ser>
        <c:ser>
          <c:idx val="1"/>
          <c:order val="1"/>
          <c:tx>
            <c:strRef>
              <c:f>Munka1!$C$1</c:f>
              <c:strCache>
                <c:ptCount val="1"/>
                <c:pt idx="0">
                  <c:v>2012/2013</c:v>
                </c:pt>
              </c:strCache>
            </c:strRef>
          </c:tx>
          <c:spPr>
            <a:solidFill>
              <a:schemeClr val="accent3">
                <a:tint val="48000"/>
              </a:schemeClr>
            </a:solidFill>
            <a:ln>
              <a:no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Munka1!$C$2:$C$6</c:f>
            </c:numRef>
          </c:val>
          <c:extLst>
            <c:ext xmlns:c16="http://schemas.microsoft.com/office/drawing/2014/chart" uri="{C3380CC4-5D6E-409C-BE32-E72D297353CC}">
              <c16:uniqueId val="{00000001-1951-4821-8C0E-4355F77EFEE7}"/>
            </c:ext>
          </c:extLst>
        </c:ser>
        <c:ser>
          <c:idx val="2"/>
          <c:order val="2"/>
          <c:tx>
            <c:strRef>
              <c:f>Munka1!$D$1</c:f>
              <c:strCache>
                <c:ptCount val="1"/>
                <c:pt idx="0">
                  <c:v>2013/2014.</c:v>
                </c:pt>
              </c:strCache>
            </c:strRef>
          </c:tx>
          <c:spPr>
            <a:solidFill>
              <a:schemeClr val="accent3">
                <a:tint val="57000"/>
              </a:schemeClr>
            </a:solidFill>
            <a:ln>
              <a:no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Munka1!$D$2:$D$6</c:f>
            </c:numRef>
          </c:val>
          <c:extLst>
            <c:ext xmlns:c16="http://schemas.microsoft.com/office/drawing/2014/chart" uri="{C3380CC4-5D6E-409C-BE32-E72D297353CC}">
              <c16:uniqueId val="{00000002-1951-4821-8C0E-4355F77EFEE7}"/>
            </c:ext>
          </c:extLst>
        </c:ser>
        <c:ser>
          <c:idx val="3"/>
          <c:order val="3"/>
          <c:tx>
            <c:strRef>
              <c:f>Munka1!$E$1</c:f>
              <c:strCache>
                <c:ptCount val="1"/>
                <c:pt idx="0">
                  <c:v>2014/2015.</c:v>
                </c:pt>
              </c:strCache>
            </c:strRef>
          </c:tx>
          <c:spPr>
            <a:solidFill>
              <a:schemeClr val="accent3">
                <a:tint val="65000"/>
              </a:schemeClr>
            </a:solidFill>
            <a:ln>
              <a:no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Munka1!$E$2:$E$6</c:f>
            </c:numRef>
          </c:val>
          <c:extLst>
            <c:ext xmlns:c16="http://schemas.microsoft.com/office/drawing/2014/chart" uri="{C3380CC4-5D6E-409C-BE32-E72D297353CC}">
              <c16:uniqueId val="{00000003-1951-4821-8C0E-4355F77EFEE7}"/>
            </c:ext>
          </c:extLst>
        </c:ser>
        <c:ser>
          <c:idx val="4"/>
          <c:order val="4"/>
          <c:tx>
            <c:strRef>
              <c:f>Munka1!$F$1</c:f>
              <c:strCache>
                <c:ptCount val="1"/>
                <c:pt idx="0">
                  <c:v>2015/2016.</c:v>
                </c:pt>
              </c:strCache>
            </c:strRef>
          </c:tx>
          <c:spPr>
            <a:solidFill>
              <a:schemeClr val="accent3">
                <a:tint val="74000"/>
              </a:schemeClr>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Munka1!$F$2:$F$6</c:f>
            </c:numRef>
          </c:val>
          <c:extLst>
            <c:ext xmlns:c16="http://schemas.microsoft.com/office/drawing/2014/chart" uri="{C3380CC4-5D6E-409C-BE32-E72D297353CC}">
              <c16:uniqueId val="{00000004-1951-4821-8C0E-4355F77EFEE7}"/>
            </c:ext>
          </c:extLst>
        </c:ser>
        <c:ser>
          <c:idx val="5"/>
          <c:order val="5"/>
          <c:tx>
            <c:strRef>
              <c:f>Munka1!$G$1</c:f>
              <c:strCache>
                <c:ptCount val="1"/>
                <c:pt idx="0">
                  <c:v>2016/2017.</c:v>
                </c:pt>
              </c:strCache>
            </c:strRef>
          </c:tx>
          <c:spPr>
            <a:solidFill>
              <a:srgbClr val="EFD0B7"/>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Munka1!$G$2:$G$6</c:f>
              <c:numCache>
                <c:formatCode>#,##0</c:formatCode>
                <c:ptCount val="5"/>
                <c:pt idx="0">
                  <c:v>81883</c:v>
                </c:pt>
                <c:pt idx="1">
                  <c:v>153002</c:v>
                </c:pt>
                <c:pt idx="2">
                  <c:v>79363</c:v>
                </c:pt>
                <c:pt idx="3">
                  <c:v>2520</c:v>
                </c:pt>
                <c:pt idx="4">
                  <c:v>73639</c:v>
                </c:pt>
              </c:numCache>
            </c:numRef>
          </c:val>
          <c:extLst>
            <c:ext xmlns:c16="http://schemas.microsoft.com/office/drawing/2014/chart" uri="{C3380CC4-5D6E-409C-BE32-E72D297353CC}">
              <c16:uniqueId val="{00000005-1951-4821-8C0E-4355F77EFEE7}"/>
            </c:ext>
          </c:extLst>
        </c:ser>
        <c:ser>
          <c:idx val="6"/>
          <c:order val="6"/>
          <c:tx>
            <c:strRef>
              <c:f>Munka1!$H$1</c:f>
              <c:strCache>
                <c:ptCount val="1"/>
                <c:pt idx="0">
                  <c:v>2017/2018.</c:v>
                </c:pt>
              </c:strCache>
            </c:strRef>
          </c:tx>
          <c:spPr>
            <a:solidFill>
              <a:schemeClr val="accent3">
                <a:tint val="92000"/>
              </a:schemeClr>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Munka1!$H$2:$H$6</c:f>
              <c:numCache>
                <c:formatCode>#,##0</c:formatCode>
                <c:ptCount val="5"/>
                <c:pt idx="0">
                  <c:v>81260</c:v>
                </c:pt>
                <c:pt idx="1">
                  <c:v>152131</c:v>
                </c:pt>
                <c:pt idx="2">
                  <c:v>78573</c:v>
                </c:pt>
                <c:pt idx="3">
                  <c:v>2687</c:v>
                </c:pt>
                <c:pt idx="4">
                  <c:v>73558</c:v>
                </c:pt>
              </c:numCache>
            </c:numRef>
          </c:val>
          <c:extLst>
            <c:ext xmlns:c16="http://schemas.microsoft.com/office/drawing/2014/chart" uri="{C3380CC4-5D6E-409C-BE32-E72D297353CC}">
              <c16:uniqueId val="{00000006-1951-4821-8C0E-4355F77EFEE7}"/>
            </c:ext>
          </c:extLst>
        </c:ser>
        <c:ser>
          <c:idx val="7"/>
          <c:order val="7"/>
          <c:tx>
            <c:strRef>
              <c:f>Munka1!$I$1</c:f>
              <c:strCache>
                <c:ptCount val="1"/>
                <c:pt idx="0">
                  <c:v>2018/2019.</c:v>
                </c:pt>
              </c:strCache>
            </c:strRef>
          </c:tx>
          <c:spPr>
            <a:solidFill>
              <a:schemeClr val="accent3"/>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Munka1!$I$2:$I$6</c:f>
              <c:numCache>
                <c:formatCode>#,##0</c:formatCode>
                <c:ptCount val="5"/>
                <c:pt idx="0">
                  <c:v>81769</c:v>
                </c:pt>
                <c:pt idx="1">
                  <c:v>150836</c:v>
                </c:pt>
                <c:pt idx="2">
                  <c:v>78887</c:v>
                </c:pt>
                <c:pt idx="3">
                  <c:v>2882</c:v>
                </c:pt>
                <c:pt idx="4">
                  <c:v>71949</c:v>
                </c:pt>
              </c:numCache>
            </c:numRef>
          </c:val>
          <c:extLst>
            <c:ext xmlns:c16="http://schemas.microsoft.com/office/drawing/2014/chart" uri="{C3380CC4-5D6E-409C-BE32-E72D297353CC}">
              <c16:uniqueId val="{00000007-1951-4821-8C0E-4355F77EFEE7}"/>
            </c:ext>
          </c:extLst>
        </c:ser>
        <c:ser>
          <c:idx val="8"/>
          <c:order val="8"/>
          <c:tx>
            <c:strRef>
              <c:f>Munka1!$J$1</c:f>
              <c:strCache>
                <c:ptCount val="1"/>
                <c:pt idx="0">
                  <c:v>2019/2020.</c:v>
                </c:pt>
              </c:strCache>
            </c:strRef>
          </c:tx>
          <c:spPr>
            <a:solidFill>
              <a:schemeClr val="accent3">
                <a:shade val="91000"/>
              </a:schemeClr>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Munka1!$J$2:$J$6</c:f>
              <c:numCache>
                <c:formatCode>#,##0</c:formatCode>
                <c:ptCount val="5"/>
                <c:pt idx="0">
                  <c:v>83775</c:v>
                </c:pt>
                <c:pt idx="1">
                  <c:v>148650</c:v>
                </c:pt>
                <c:pt idx="2">
                  <c:v>80684</c:v>
                </c:pt>
                <c:pt idx="3">
                  <c:v>3091</c:v>
                </c:pt>
                <c:pt idx="4">
                  <c:v>67966</c:v>
                </c:pt>
              </c:numCache>
            </c:numRef>
          </c:val>
          <c:extLst>
            <c:ext xmlns:c16="http://schemas.microsoft.com/office/drawing/2014/chart" uri="{C3380CC4-5D6E-409C-BE32-E72D297353CC}">
              <c16:uniqueId val="{00000008-1951-4821-8C0E-4355F77EFEE7}"/>
            </c:ext>
          </c:extLst>
        </c:ser>
        <c:ser>
          <c:idx val="9"/>
          <c:order val="9"/>
          <c:tx>
            <c:strRef>
              <c:f>Munka1!$K$1</c:f>
              <c:strCache>
                <c:ptCount val="1"/>
                <c:pt idx="0">
                  <c:v>2020/2021.</c:v>
                </c:pt>
              </c:strCache>
            </c:strRef>
          </c:tx>
          <c:spPr>
            <a:solidFill>
              <a:schemeClr val="accent3">
                <a:shade val="82000"/>
              </a:schemeClr>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Munka1!$K$2:$K$6</c:f>
              <c:numCache>
                <c:formatCode>#,##0</c:formatCode>
                <c:ptCount val="5"/>
                <c:pt idx="0">
                  <c:v>90729</c:v>
                </c:pt>
                <c:pt idx="1">
                  <c:v>139848</c:v>
                </c:pt>
                <c:pt idx="2">
                  <c:v>86575</c:v>
                </c:pt>
                <c:pt idx="3">
                  <c:v>4154</c:v>
                </c:pt>
                <c:pt idx="4">
                  <c:v>53273</c:v>
                </c:pt>
              </c:numCache>
            </c:numRef>
          </c:val>
          <c:extLst>
            <c:ext xmlns:c16="http://schemas.microsoft.com/office/drawing/2014/chart" uri="{C3380CC4-5D6E-409C-BE32-E72D297353CC}">
              <c16:uniqueId val="{00000009-1951-4821-8C0E-4355F77EFEE7}"/>
            </c:ext>
          </c:extLst>
        </c:ser>
        <c:ser>
          <c:idx val="10"/>
          <c:order val="10"/>
          <c:tx>
            <c:strRef>
              <c:f>Munka1!$L$1</c:f>
              <c:strCache>
                <c:ptCount val="1"/>
                <c:pt idx="0">
                  <c:v>2021/2022.</c:v>
                </c:pt>
              </c:strCache>
            </c:strRef>
          </c:tx>
          <c:spPr>
            <a:solidFill>
              <a:srgbClr val="C0966C"/>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Munka1!$L$2:$L$6</c:f>
              <c:numCache>
                <c:formatCode>#,##0</c:formatCode>
                <c:ptCount val="5"/>
                <c:pt idx="0">
                  <c:v>85286</c:v>
                </c:pt>
                <c:pt idx="1">
                  <c:v>138563</c:v>
                </c:pt>
                <c:pt idx="2">
                  <c:v>82650</c:v>
                </c:pt>
                <c:pt idx="3">
                  <c:v>2636</c:v>
                </c:pt>
                <c:pt idx="4">
                  <c:v>55913</c:v>
                </c:pt>
              </c:numCache>
            </c:numRef>
          </c:val>
          <c:extLst>
            <c:ext xmlns:c16="http://schemas.microsoft.com/office/drawing/2014/chart" uri="{C3380CC4-5D6E-409C-BE32-E72D297353CC}">
              <c16:uniqueId val="{0000000A-1951-4821-8C0E-4355F77EFEE7}"/>
            </c:ext>
          </c:extLst>
        </c:ser>
        <c:ser>
          <c:idx val="11"/>
          <c:order val="11"/>
          <c:tx>
            <c:strRef>
              <c:f>Munka1!$M$1</c:f>
              <c:strCache>
                <c:ptCount val="1"/>
                <c:pt idx="0">
                  <c:v>2022/2023.</c:v>
                </c:pt>
              </c:strCache>
            </c:strRef>
          </c:tx>
          <c:spPr>
            <a:solidFill>
              <a:srgbClr val="AC7B4E"/>
            </a:solidFill>
            <a:ln>
              <a:solidFill>
                <a:schemeClr val="tx1">
                  <a:lumMod val="95000"/>
                  <a:lumOff val="5000"/>
                </a:schemeClr>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Munka1!$M$2:$M$6</c:f>
              <c:numCache>
                <c:formatCode>#,##0</c:formatCode>
                <c:ptCount val="5"/>
                <c:pt idx="0">
                  <c:v>82688</c:v>
                </c:pt>
                <c:pt idx="1">
                  <c:v>128603</c:v>
                </c:pt>
                <c:pt idx="2">
                  <c:v>80236</c:v>
                </c:pt>
                <c:pt idx="3">
                  <c:v>2452</c:v>
                </c:pt>
                <c:pt idx="4">
                  <c:v>48367</c:v>
                </c:pt>
              </c:numCache>
            </c:numRef>
          </c:val>
          <c:extLst>
            <c:ext xmlns:c16="http://schemas.microsoft.com/office/drawing/2014/chart" uri="{C3380CC4-5D6E-409C-BE32-E72D297353CC}">
              <c16:uniqueId val="{0000000B-1951-4821-8C0E-4355F77EFEE7}"/>
            </c:ext>
          </c:extLst>
        </c:ser>
        <c:ser>
          <c:idx val="12"/>
          <c:order val="12"/>
          <c:tx>
            <c:strRef>
              <c:f>Munka1!$N$1</c:f>
              <c:strCache>
                <c:ptCount val="1"/>
                <c:pt idx="0">
                  <c:v>2023/2024.</c:v>
                </c:pt>
              </c:strCache>
            </c:strRef>
          </c:tx>
          <c:spPr>
            <a:solidFill>
              <a:srgbClr val="936943"/>
            </a:solidFill>
            <a:ln>
              <a:solidFill>
                <a:schemeClr val="tx1">
                  <a:lumMod val="95000"/>
                  <a:lumOff val="5000"/>
                </a:schemeClr>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Munka1!$N$2:$N$6</c:f>
              <c:numCache>
                <c:formatCode>#,##0</c:formatCode>
                <c:ptCount val="5"/>
                <c:pt idx="0">
                  <c:v>80402</c:v>
                </c:pt>
                <c:pt idx="1">
                  <c:v>128057</c:v>
                </c:pt>
                <c:pt idx="2">
                  <c:v>78277</c:v>
                </c:pt>
                <c:pt idx="3">
                  <c:v>2125</c:v>
                </c:pt>
                <c:pt idx="4">
                  <c:v>49780</c:v>
                </c:pt>
              </c:numCache>
            </c:numRef>
          </c:val>
          <c:extLst>
            <c:ext xmlns:c16="http://schemas.microsoft.com/office/drawing/2014/chart" uri="{C3380CC4-5D6E-409C-BE32-E72D297353CC}">
              <c16:uniqueId val="{0000000C-1951-4821-8C0E-4355F77EFEE7}"/>
            </c:ext>
          </c:extLst>
        </c:ser>
        <c:ser>
          <c:idx val="13"/>
          <c:order val="13"/>
          <c:tx>
            <c:strRef>
              <c:f>Munka1!$O$1</c:f>
              <c:strCache>
                <c:ptCount val="1"/>
                <c:pt idx="0">
                  <c:v>2024/2025.</c:v>
                </c:pt>
              </c:strCache>
            </c:strRef>
          </c:tx>
          <c:spPr>
            <a:solidFill>
              <a:srgbClr val="8C6440"/>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Munka1!$O$2:$O$6</c:f>
              <c:numCache>
                <c:formatCode>#,##0</c:formatCode>
                <c:ptCount val="5"/>
                <c:pt idx="0">
                  <c:v>74926</c:v>
                </c:pt>
                <c:pt idx="1">
                  <c:v>125433</c:v>
                </c:pt>
                <c:pt idx="2">
                  <c:v>73396</c:v>
                </c:pt>
                <c:pt idx="3">
                  <c:v>1530</c:v>
                </c:pt>
                <c:pt idx="4">
                  <c:v>52037</c:v>
                </c:pt>
              </c:numCache>
            </c:numRef>
          </c:val>
          <c:extLst>
            <c:ext xmlns:c16="http://schemas.microsoft.com/office/drawing/2014/chart" uri="{C3380CC4-5D6E-409C-BE32-E72D297353CC}">
              <c16:uniqueId val="{00000012-1951-4821-8C0E-4355F77EFEE7}"/>
            </c:ext>
          </c:extLst>
        </c:ser>
        <c:ser>
          <c:idx val="14"/>
          <c:order val="14"/>
          <c:tx>
            <c:strRef>
              <c:f>Munka1!$P$1</c:f>
              <c:strCache>
                <c:ptCount val="1"/>
                <c:pt idx="0">
                  <c:v>2025/2026.</c:v>
                </c:pt>
              </c:strCache>
            </c:strRef>
          </c:tx>
          <c:spPr>
            <a:solidFill>
              <a:srgbClr val="715133"/>
            </a:solidFill>
            <a:ln>
              <a:solidFill>
                <a:schemeClr val="tx1"/>
              </a:solidFill>
            </a:ln>
            <a:effectLst/>
          </c:spPr>
          <c:invertIfNegative val="0"/>
          <c:dLbls>
            <c:dLbl>
              <c:idx val="0"/>
              <c:layout>
                <c:manualLayout>
                  <c:x val="2.4272116030652369E-3"/>
                  <c:y val="-4.01466379660353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F43-49D7-B3F2-D72C00A8178D}"/>
                </c:ext>
              </c:extLst>
            </c:dLbl>
            <c:dLbl>
              <c:idx val="1"/>
              <c:layout>
                <c:manualLayout>
                  <c:x val="0"/>
                  <c:y val="-2.007331898301771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F43-49D7-B3F2-D72C00A8178D}"/>
                </c:ext>
              </c:extLst>
            </c:dLbl>
            <c:dLbl>
              <c:idx val="2"/>
              <c:layout>
                <c:manualLayout>
                  <c:x val="-1.2136058015326408E-3"/>
                  <c:y val="-1.75641541101404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F43-49D7-B3F2-D72C00A8178D}"/>
                </c:ext>
              </c:extLst>
            </c:dLbl>
            <c:dLbl>
              <c:idx val="3"/>
              <c:layout>
                <c:manualLayout>
                  <c:x val="-8.8996730681233112E-17"/>
                  <c:y val="-3.7637473093158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F43-49D7-B3F2-D72C00A8178D}"/>
                </c:ext>
              </c:extLst>
            </c:dLbl>
            <c:dLbl>
              <c:idx val="4"/>
              <c:layout>
                <c:manualLayout>
                  <c:x val="-2.4272116030654594E-3"/>
                  <c:y val="-2.00733189830176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F43-49D7-B3F2-D72C00A8178D}"/>
                </c:ext>
              </c:extLst>
            </c:dLbl>
            <c:spPr>
              <a:noFill/>
              <a:ln>
                <a:noFill/>
              </a:ln>
              <a:effectLst/>
            </c:spPr>
            <c:txPr>
              <a:bodyPr rot="0" spcFirstLastPara="1" vertOverflow="ellipsis" vert="horz" wrap="square" lIns="38100" tIns="19050" rIns="38100" bIns="19050" anchor="ctr" anchorCtr="1">
                <a:spAutoFit/>
              </a:bodyPr>
              <a:lstStyle/>
              <a:p>
                <a:pPr>
                  <a:defRPr lang="en-US" sz="1195" b="1" i="0" u="none" strike="noStrike" kern="1200" baseline="0">
                    <a:solidFill>
                      <a:schemeClr val="tx1">
                        <a:lumMod val="75000"/>
                        <a:lumOff val="25000"/>
                      </a:schemeClr>
                    </a:solidFill>
                    <a:latin typeface="+mn-lt"/>
                    <a:ea typeface="+mn-ea"/>
                    <a:cs typeface="+mn-cs"/>
                  </a:defRPr>
                </a:pPr>
                <a:endParaRPr lang="hu-H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Munka1!$P$2:$P$6</c:f>
              <c:numCache>
                <c:formatCode>#,##0</c:formatCode>
                <c:ptCount val="5"/>
                <c:pt idx="0">
                  <c:v>76198</c:v>
                </c:pt>
                <c:pt idx="1">
                  <c:v>124742</c:v>
                </c:pt>
                <c:pt idx="2">
                  <c:v>74852</c:v>
                </c:pt>
                <c:pt idx="3">
                  <c:v>1346</c:v>
                </c:pt>
                <c:pt idx="4">
                  <c:v>49890</c:v>
                </c:pt>
              </c:numCache>
            </c:numRef>
          </c:val>
          <c:extLst>
            <c:ext xmlns:c16="http://schemas.microsoft.com/office/drawing/2014/chart" uri="{C3380CC4-5D6E-409C-BE32-E72D297353CC}">
              <c16:uniqueId val="{00000001-CF43-49D7-B3F2-D72C00A8178D}"/>
            </c:ext>
          </c:extLst>
        </c:ser>
        <c:dLbls>
          <c:showLegendKey val="0"/>
          <c:showVal val="0"/>
          <c:showCatName val="0"/>
          <c:showSerName val="0"/>
          <c:showPercent val="0"/>
          <c:showBubbleSize val="0"/>
        </c:dLbls>
        <c:gapWidth val="219"/>
        <c:overlap val="-27"/>
        <c:axId val="500657784"/>
        <c:axId val="500659424"/>
      </c:barChart>
      <c:catAx>
        <c:axId val="500657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800" b="0" i="0" u="none" strike="noStrike" kern="1200" baseline="0">
                <a:solidFill>
                  <a:schemeClr val="tx1"/>
                </a:solidFill>
                <a:latin typeface="+mn-lt"/>
                <a:ea typeface="+mn-ea"/>
                <a:cs typeface="+mn-cs"/>
              </a:defRPr>
            </a:pPr>
            <a:endParaRPr lang="hu-HU"/>
          </a:p>
        </c:txPr>
        <c:crossAx val="500659424"/>
        <c:crosses val="autoZero"/>
        <c:auto val="1"/>
        <c:lblAlgn val="ctr"/>
        <c:lblOffset val="100"/>
        <c:noMultiLvlLbl val="0"/>
      </c:catAx>
      <c:valAx>
        <c:axId val="500659424"/>
        <c:scaling>
          <c:orientation val="minMax"/>
          <c:max val="160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hu-HU"/>
          </a:p>
        </c:txPr>
        <c:crossAx val="500657784"/>
        <c:crosses val="autoZero"/>
        <c:crossBetween val="between"/>
      </c:valAx>
      <c:spPr>
        <a:noFill/>
        <a:ln>
          <a:noFill/>
        </a:ln>
        <a:effectLst/>
      </c:spPr>
    </c:plotArea>
    <c:legend>
      <c:legendPos val="b"/>
      <c:layout>
        <c:manualLayout>
          <c:xMode val="edge"/>
          <c:yMode val="edge"/>
          <c:x val="6.4535832477462099E-2"/>
          <c:y val="0.94447175925734095"/>
          <c:w val="0.8999999331083417"/>
          <c:h val="4.2230627814784115E-2"/>
        </c:manualLayout>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hu-HU"/>
        </a:p>
      </c:txPr>
    </c:legend>
    <c:plotVisOnly val="1"/>
    <c:dispBlanksAs val="gap"/>
    <c:showDLblsOverMax val="0"/>
    <c:extLst>
      <c:ext uri="{0b15fc19-7d7d-44ad-8c2d-2c3a37ce22c3}">
        <chartProps xmlns="https://web.wps.cn/et/2018/main" chartId="{a27931c2-010b-4588-bdc1-c333eb9b1a93}"/>
      </c:ext>
    </c:extLst>
  </c:chart>
  <c:spPr>
    <a:noFill/>
    <a:ln>
      <a:noFill/>
    </a:ln>
    <a:effectLst/>
  </c:spPr>
  <c:txPr>
    <a:bodyPr/>
    <a:lstStyle/>
    <a:p>
      <a:pPr>
        <a:defRPr lang="en-US"/>
      </a:pPr>
      <a:endParaRPr lang="hu-HU"/>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6.4106765914898306E-2"/>
          <c:y val="2.6719470260794801E-2"/>
          <c:w val="0.91972604895752297"/>
          <c:h val="0.80810523345237495"/>
        </c:manualLayout>
      </c:layout>
      <c:barChart>
        <c:barDir val="col"/>
        <c:grouping val="clustered"/>
        <c:varyColors val="0"/>
        <c:ser>
          <c:idx val="0"/>
          <c:order val="0"/>
          <c:tx>
            <c:strRef>
              <c:f>Munka1!$B$1</c:f>
              <c:strCache>
                <c:ptCount val="1"/>
                <c:pt idx="0">
                  <c:v>2011/2012</c:v>
                </c:pt>
              </c:strCache>
            </c:strRef>
          </c:tx>
          <c:spPr>
            <a:solidFill>
              <a:schemeClr val="accent3">
                <a:tint val="39000"/>
              </a:schemeClr>
            </a:solidFill>
            <a:ln>
              <a:no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Munka1!$B$2:$B$6</c:f>
            </c:numRef>
          </c:val>
          <c:extLst>
            <c:ext xmlns:c16="http://schemas.microsoft.com/office/drawing/2014/chart" uri="{C3380CC4-5D6E-409C-BE32-E72D297353CC}">
              <c16:uniqueId val="{00000000-1656-46A3-86FF-503913DE55B1}"/>
            </c:ext>
          </c:extLst>
        </c:ser>
        <c:ser>
          <c:idx val="1"/>
          <c:order val="1"/>
          <c:tx>
            <c:strRef>
              <c:f>Munka1!$C$1</c:f>
              <c:strCache>
                <c:ptCount val="1"/>
                <c:pt idx="0">
                  <c:v>2012/2013</c:v>
                </c:pt>
              </c:strCache>
            </c:strRef>
          </c:tx>
          <c:spPr>
            <a:solidFill>
              <a:schemeClr val="accent3">
                <a:tint val="48000"/>
              </a:schemeClr>
            </a:solidFill>
            <a:ln>
              <a:no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Munka1!$C$2:$C$6</c:f>
            </c:numRef>
          </c:val>
          <c:extLst>
            <c:ext xmlns:c16="http://schemas.microsoft.com/office/drawing/2014/chart" uri="{C3380CC4-5D6E-409C-BE32-E72D297353CC}">
              <c16:uniqueId val="{00000001-1656-46A3-86FF-503913DE55B1}"/>
            </c:ext>
          </c:extLst>
        </c:ser>
        <c:ser>
          <c:idx val="2"/>
          <c:order val="2"/>
          <c:tx>
            <c:strRef>
              <c:f>Munka1!$D$1</c:f>
              <c:strCache>
                <c:ptCount val="1"/>
                <c:pt idx="0">
                  <c:v>2013/2014.</c:v>
                </c:pt>
              </c:strCache>
            </c:strRef>
          </c:tx>
          <c:spPr>
            <a:solidFill>
              <a:schemeClr val="accent3">
                <a:tint val="57000"/>
              </a:schemeClr>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Munka1!$D$2:$D$6</c:f>
            </c:numRef>
          </c:val>
          <c:extLst>
            <c:ext xmlns:c16="http://schemas.microsoft.com/office/drawing/2014/chart" uri="{C3380CC4-5D6E-409C-BE32-E72D297353CC}">
              <c16:uniqueId val="{00000002-1656-46A3-86FF-503913DE55B1}"/>
            </c:ext>
          </c:extLst>
        </c:ser>
        <c:ser>
          <c:idx val="3"/>
          <c:order val="3"/>
          <c:tx>
            <c:strRef>
              <c:f>Munka1!$E$1</c:f>
              <c:strCache>
                <c:ptCount val="1"/>
                <c:pt idx="0">
                  <c:v>2014/2015.</c:v>
                </c:pt>
              </c:strCache>
            </c:strRef>
          </c:tx>
          <c:spPr>
            <a:solidFill>
              <a:schemeClr val="accent3">
                <a:tint val="65000"/>
              </a:schemeClr>
            </a:solidFill>
            <a:ln>
              <a:no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Munka1!$E$2:$E$6</c:f>
            </c:numRef>
          </c:val>
          <c:extLst>
            <c:ext xmlns:c16="http://schemas.microsoft.com/office/drawing/2014/chart" uri="{C3380CC4-5D6E-409C-BE32-E72D297353CC}">
              <c16:uniqueId val="{00000003-1656-46A3-86FF-503913DE55B1}"/>
            </c:ext>
          </c:extLst>
        </c:ser>
        <c:ser>
          <c:idx val="4"/>
          <c:order val="4"/>
          <c:tx>
            <c:strRef>
              <c:f>Munka1!$F$1</c:f>
              <c:strCache>
                <c:ptCount val="1"/>
                <c:pt idx="0">
                  <c:v>2015/2016.</c:v>
                </c:pt>
              </c:strCache>
            </c:strRef>
          </c:tx>
          <c:spPr>
            <a:solidFill>
              <a:schemeClr val="accent3">
                <a:tint val="74000"/>
              </a:schemeClr>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Munka1!$F$2:$F$6</c:f>
            </c:numRef>
          </c:val>
          <c:extLst>
            <c:ext xmlns:c16="http://schemas.microsoft.com/office/drawing/2014/chart" uri="{C3380CC4-5D6E-409C-BE32-E72D297353CC}">
              <c16:uniqueId val="{00000004-1656-46A3-86FF-503913DE55B1}"/>
            </c:ext>
          </c:extLst>
        </c:ser>
        <c:ser>
          <c:idx val="5"/>
          <c:order val="5"/>
          <c:tx>
            <c:strRef>
              <c:f>Munka1!$G$1</c:f>
              <c:strCache>
                <c:ptCount val="1"/>
                <c:pt idx="0">
                  <c:v>2016/2017.</c:v>
                </c:pt>
              </c:strCache>
            </c:strRef>
          </c:tx>
          <c:spPr>
            <a:solidFill>
              <a:srgbClr val="EFD0B7"/>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Munka1!$G$2:$G$6</c:f>
              <c:numCache>
                <c:formatCode>#,##0</c:formatCode>
                <c:ptCount val="5"/>
                <c:pt idx="0">
                  <c:v>7516</c:v>
                </c:pt>
                <c:pt idx="1">
                  <c:v>4868</c:v>
                </c:pt>
                <c:pt idx="2">
                  <c:v>4433</c:v>
                </c:pt>
                <c:pt idx="3">
                  <c:v>3083</c:v>
                </c:pt>
                <c:pt idx="4">
                  <c:v>435</c:v>
                </c:pt>
              </c:numCache>
            </c:numRef>
          </c:val>
          <c:extLst>
            <c:ext xmlns:c16="http://schemas.microsoft.com/office/drawing/2014/chart" uri="{C3380CC4-5D6E-409C-BE32-E72D297353CC}">
              <c16:uniqueId val="{00000005-1656-46A3-86FF-503913DE55B1}"/>
            </c:ext>
          </c:extLst>
        </c:ser>
        <c:ser>
          <c:idx val="6"/>
          <c:order val="6"/>
          <c:tx>
            <c:strRef>
              <c:f>Munka1!$H$1</c:f>
              <c:strCache>
                <c:ptCount val="1"/>
                <c:pt idx="0">
                  <c:v>2017/2018.</c:v>
                </c:pt>
              </c:strCache>
            </c:strRef>
          </c:tx>
          <c:spPr>
            <a:solidFill>
              <a:srgbClr val="E9B080"/>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Munka1!$H$2:$H$6</c:f>
              <c:numCache>
                <c:formatCode>#,##0</c:formatCode>
                <c:ptCount val="5"/>
                <c:pt idx="0">
                  <c:v>7951</c:v>
                </c:pt>
                <c:pt idx="1">
                  <c:v>4912</c:v>
                </c:pt>
                <c:pt idx="2">
                  <c:v>4546</c:v>
                </c:pt>
                <c:pt idx="3">
                  <c:v>3405</c:v>
                </c:pt>
                <c:pt idx="4">
                  <c:v>366</c:v>
                </c:pt>
              </c:numCache>
            </c:numRef>
          </c:val>
          <c:extLst>
            <c:ext xmlns:c16="http://schemas.microsoft.com/office/drawing/2014/chart" uri="{C3380CC4-5D6E-409C-BE32-E72D297353CC}">
              <c16:uniqueId val="{00000006-1656-46A3-86FF-503913DE55B1}"/>
            </c:ext>
          </c:extLst>
        </c:ser>
        <c:ser>
          <c:idx val="7"/>
          <c:order val="7"/>
          <c:tx>
            <c:strRef>
              <c:f>Munka1!$I$1</c:f>
              <c:strCache>
                <c:ptCount val="1"/>
                <c:pt idx="0">
                  <c:v>2018/2019.</c:v>
                </c:pt>
              </c:strCache>
            </c:strRef>
          </c:tx>
          <c:spPr>
            <a:solidFill>
              <a:srgbClr val="E9A864"/>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Munka1!$I$2:$I$6</c:f>
              <c:numCache>
                <c:formatCode>#,##0</c:formatCode>
                <c:ptCount val="5"/>
                <c:pt idx="0">
                  <c:v>8340</c:v>
                </c:pt>
                <c:pt idx="1">
                  <c:v>5051</c:v>
                </c:pt>
                <c:pt idx="2">
                  <c:v>4680</c:v>
                </c:pt>
                <c:pt idx="3">
                  <c:v>3660</c:v>
                </c:pt>
                <c:pt idx="4">
                  <c:v>371</c:v>
                </c:pt>
              </c:numCache>
            </c:numRef>
          </c:val>
          <c:extLst>
            <c:ext xmlns:c16="http://schemas.microsoft.com/office/drawing/2014/chart" uri="{C3380CC4-5D6E-409C-BE32-E72D297353CC}">
              <c16:uniqueId val="{00000007-1656-46A3-86FF-503913DE55B1}"/>
            </c:ext>
          </c:extLst>
        </c:ser>
        <c:ser>
          <c:idx val="8"/>
          <c:order val="8"/>
          <c:tx>
            <c:strRef>
              <c:f>Munka1!$J$1</c:f>
              <c:strCache>
                <c:ptCount val="1"/>
                <c:pt idx="0">
                  <c:v>2019/2020.</c:v>
                </c:pt>
              </c:strCache>
            </c:strRef>
          </c:tx>
          <c:spPr>
            <a:solidFill>
              <a:srgbClr val="E9A168"/>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Munka1!$J$2:$J$6</c:f>
              <c:numCache>
                <c:formatCode>#,##0</c:formatCode>
                <c:ptCount val="5"/>
                <c:pt idx="0">
                  <c:v>7854</c:v>
                </c:pt>
                <c:pt idx="1">
                  <c:v>5012</c:v>
                </c:pt>
                <c:pt idx="2">
                  <c:v>4644</c:v>
                </c:pt>
                <c:pt idx="3">
                  <c:v>3210</c:v>
                </c:pt>
                <c:pt idx="4">
                  <c:v>368</c:v>
                </c:pt>
              </c:numCache>
            </c:numRef>
          </c:val>
          <c:extLst>
            <c:ext xmlns:c16="http://schemas.microsoft.com/office/drawing/2014/chart" uri="{C3380CC4-5D6E-409C-BE32-E72D297353CC}">
              <c16:uniqueId val="{00000008-1656-46A3-86FF-503913DE55B1}"/>
            </c:ext>
          </c:extLst>
        </c:ser>
        <c:ser>
          <c:idx val="9"/>
          <c:order val="9"/>
          <c:tx>
            <c:strRef>
              <c:f>Munka1!$K$1</c:f>
              <c:strCache>
                <c:ptCount val="1"/>
                <c:pt idx="0">
                  <c:v>2020/2021.</c:v>
                </c:pt>
              </c:strCache>
            </c:strRef>
          </c:tx>
          <c:spPr>
            <a:solidFill>
              <a:srgbClr val="D59A63"/>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Munka1!$K$2:$K$6</c:f>
              <c:numCache>
                <c:formatCode>#,##0</c:formatCode>
                <c:ptCount val="5"/>
                <c:pt idx="0">
                  <c:v>7422</c:v>
                </c:pt>
                <c:pt idx="1">
                  <c:v>4881</c:v>
                </c:pt>
                <c:pt idx="2">
                  <c:v>4604</c:v>
                </c:pt>
                <c:pt idx="3">
                  <c:v>2818</c:v>
                </c:pt>
                <c:pt idx="4">
                  <c:v>277</c:v>
                </c:pt>
              </c:numCache>
            </c:numRef>
          </c:val>
          <c:extLst>
            <c:ext xmlns:c16="http://schemas.microsoft.com/office/drawing/2014/chart" uri="{C3380CC4-5D6E-409C-BE32-E72D297353CC}">
              <c16:uniqueId val="{00000009-1656-46A3-86FF-503913DE55B1}"/>
            </c:ext>
          </c:extLst>
        </c:ser>
        <c:ser>
          <c:idx val="10"/>
          <c:order val="10"/>
          <c:tx>
            <c:strRef>
              <c:f>Munka1!$L$1</c:f>
              <c:strCache>
                <c:ptCount val="1"/>
                <c:pt idx="0">
                  <c:v>2021/2022.</c:v>
                </c:pt>
              </c:strCache>
            </c:strRef>
          </c:tx>
          <c:spPr>
            <a:solidFill>
              <a:srgbClr val="C0966C"/>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Munka1!$L$2:$L$6</c:f>
              <c:numCache>
                <c:formatCode>#,##0</c:formatCode>
                <c:ptCount val="5"/>
                <c:pt idx="0">
                  <c:v>7829</c:v>
                </c:pt>
                <c:pt idx="1">
                  <c:v>4978</c:v>
                </c:pt>
                <c:pt idx="2">
                  <c:v>4742</c:v>
                </c:pt>
                <c:pt idx="3">
                  <c:v>3087</c:v>
                </c:pt>
                <c:pt idx="4">
                  <c:v>236</c:v>
                </c:pt>
              </c:numCache>
            </c:numRef>
          </c:val>
          <c:extLst>
            <c:ext xmlns:c16="http://schemas.microsoft.com/office/drawing/2014/chart" uri="{C3380CC4-5D6E-409C-BE32-E72D297353CC}">
              <c16:uniqueId val="{0000000A-1656-46A3-86FF-503913DE55B1}"/>
            </c:ext>
          </c:extLst>
        </c:ser>
        <c:ser>
          <c:idx val="11"/>
          <c:order val="11"/>
          <c:tx>
            <c:strRef>
              <c:f>Munka1!$M$1</c:f>
              <c:strCache>
                <c:ptCount val="1"/>
                <c:pt idx="0">
                  <c:v>2022/2023.</c:v>
                </c:pt>
              </c:strCache>
            </c:strRef>
          </c:tx>
          <c:spPr>
            <a:solidFill>
              <a:srgbClr val="AC7B4E"/>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Munka1!$M$2:$M$6</c:f>
              <c:numCache>
                <c:formatCode>#,##0</c:formatCode>
                <c:ptCount val="5"/>
                <c:pt idx="0">
                  <c:v>7791</c:v>
                </c:pt>
                <c:pt idx="1">
                  <c:v>4831</c:v>
                </c:pt>
                <c:pt idx="2">
                  <c:v>4624</c:v>
                </c:pt>
                <c:pt idx="3">
                  <c:v>3167</c:v>
                </c:pt>
                <c:pt idx="4">
                  <c:v>207</c:v>
                </c:pt>
              </c:numCache>
            </c:numRef>
          </c:val>
          <c:extLst>
            <c:ext xmlns:c16="http://schemas.microsoft.com/office/drawing/2014/chart" uri="{C3380CC4-5D6E-409C-BE32-E72D297353CC}">
              <c16:uniqueId val="{0000000B-1656-46A3-86FF-503913DE55B1}"/>
            </c:ext>
          </c:extLst>
        </c:ser>
        <c:ser>
          <c:idx val="12"/>
          <c:order val="12"/>
          <c:tx>
            <c:strRef>
              <c:f>Munka1!$N$1</c:f>
              <c:strCache>
                <c:ptCount val="1"/>
                <c:pt idx="0">
                  <c:v>2023/2024.</c:v>
                </c:pt>
              </c:strCache>
            </c:strRef>
          </c:tx>
          <c:spPr>
            <a:solidFill>
              <a:srgbClr val="936943"/>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Munka1!$N$2:$N$6</c:f>
              <c:numCache>
                <c:formatCode>#,##0</c:formatCode>
                <c:ptCount val="5"/>
                <c:pt idx="0">
                  <c:v>7849</c:v>
                </c:pt>
                <c:pt idx="1">
                  <c:v>5120</c:v>
                </c:pt>
                <c:pt idx="2">
                  <c:v>4753</c:v>
                </c:pt>
                <c:pt idx="3">
                  <c:v>3096</c:v>
                </c:pt>
                <c:pt idx="4">
                  <c:v>367</c:v>
                </c:pt>
              </c:numCache>
            </c:numRef>
          </c:val>
          <c:extLst>
            <c:ext xmlns:c16="http://schemas.microsoft.com/office/drawing/2014/chart" uri="{C3380CC4-5D6E-409C-BE32-E72D297353CC}">
              <c16:uniqueId val="{0000000C-1656-46A3-86FF-503913DE55B1}"/>
            </c:ext>
          </c:extLst>
        </c:ser>
        <c:ser>
          <c:idx val="13"/>
          <c:order val="13"/>
          <c:tx>
            <c:strRef>
              <c:f>Munka1!$O$1</c:f>
              <c:strCache>
                <c:ptCount val="1"/>
                <c:pt idx="0">
                  <c:v>2024/2025.</c:v>
                </c:pt>
              </c:strCache>
            </c:strRef>
          </c:tx>
          <c:spPr>
            <a:solidFill>
              <a:srgbClr val="8C6440"/>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Munka1!$O$2:$O$6</c:f>
              <c:numCache>
                <c:formatCode>#,##0</c:formatCode>
                <c:ptCount val="5"/>
                <c:pt idx="0">
                  <c:v>7266</c:v>
                </c:pt>
                <c:pt idx="1">
                  <c:v>4944</c:v>
                </c:pt>
                <c:pt idx="2">
                  <c:v>4645</c:v>
                </c:pt>
                <c:pt idx="3">
                  <c:v>2621</c:v>
                </c:pt>
                <c:pt idx="4">
                  <c:v>299</c:v>
                </c:pt>
              </c:numCache>
            </c:numRef>
          </c:val>
          <c:extLst>
            <c:ext xmlns:c16="http://schemas.microsoft.com/office/drawing/2014/chart" uri="{C3380CC4-5D6E-409C-BE32-E72D297353CC}">
              <c16:uniqueId val="{00000012-1656-46A3-86FF-503913DE55B1}"/>
            </c:ext>
          </c:extLst>
        </c:ser>
        <c:ser>
          <c:idx val="14"/>
          <c:order val="14"/>
          <c:tx>
            <c:strRef>
              <c:f>Munka1!$P$1</c:f>
              <c:strCache>
                <c:ptCount val="1"/>
                <c:pt idx="0">
                  <c:v>2025/2026.</c:v>
                </c:pt>
              </c:strCache>
            </c:strRef>
          </c:tx>
          <c:spPr>
            <a:solidFill>
              <a:srgbClr val="715133"/>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lang="en-US" sz="1195" b="1" i="0" u="none" strike="noStrike" kern="1200" baseline="0">
                    <a:solidFill>
                      <a:schemeClr val="tx1">
                        <a:lumMod val="75000"/>
                        <a:lumOff val="25000"/>
                      </a:schemeClr>
                    </a:solidFill>
                    <a:latin typeface="+mn-lt"/>
                    <a:ea typeface="+mn-ea"/>
                    <a:cs typeface="+mn-cs"/>
                  </a:defRPr>
                </a:pPr>
                <a:endParaRPr lang="hu-H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Munka1!$P$2:$P$6</c:f>
              <c:numCache>
                <c:formatCode>#,##0</c:formatCode>
                <c:ptCount val="5"/>
                <c:pt idx="0">
                  <c:v>8071</c:v>
                </c:pt>
                <c:pt idx="1">
                  <c:v>5137</c:v>
                </c:pt>
                <c:pt idx="2">
                  <c:v>4774</c:v>
                </c:pt>
                <c:pt idx="3">
                  <c:v>3297</c:v>
                </c:pt>
                <c:pt idx="4">
                  <c:v>363</c:v>
                </c:pt>
              </c:numCache>
            </c:numRef>
          </c:val>
          <c:extLst>
            <c:ext xmlns:c16="http://schemas.microsoft.com/office/drawing/2014/chart" uri="{C3380CC4-5D6E-409C-BE32-E72D297353CC}">
              <c16:uniqueId val="{00000002-E64B-4516-B0EC-FC4F18E2C610}"/>
            </c:ext>
          </c:extLst>
        </c:ser>
        <c:dLbls>
          <c:showLegendKey val="0"/>
          <c:showVal val="0"/>
          <c:showCatName val="0"/>
          <c:showSerName val="0"/>
          <c:showPercent val="0"/>
          <c:showBubbleSize val="0"/>
        </c:dLbls>
        <c:gapWidth val="219"/>
        <c:overlap val="-27"/>
        <c:axId val="500657784"/>
        <c:axId val="500659424"/>
      </c:barChart>
      <c:catAx>
        <c:axId val="500657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800" b="0" i="0" u="none" strike="noStrike" kern="1200" baseline="0">
                <a:solidFill>
                  <a:schemeClr val="tx1"/>
                </a:solidFill>
                <a:latin typeface="+mn-lt"/>
                <a:ea typeface="+mn-ea"/>
                <a:cs typeface="+mn-cs"/>
              </a:defRPr>
            </a:pPr>
            <a:endParaRPr lang="hu-HU"/>
          </a:p>
        </c:txPr>
        <c:crossAx val="500659424"/>
        <c:crosses val="autoZero"/>
        <c:auto val="1"/>
        <c:lblAlgn val="ctr"/>
        <c:lblOffset val="100"/>
        <c:noMultiLvlLbl val="0"/>
      </c:catAx>
      <c:valAx>
        <c:axId val="50065942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hu-HU"/>
          </a:p>
        </c:txPr>
        <c:crossAx val="500657784"/>
        <c:crosses val="autoZero"/>
        <c:crossBetween val="between"/>
      </c:valAx>
      <c:spPr>
        <a:noFill/>
        <a:ln>
          <a:noFill/>
        </a:ln>
        <a:effectLst/>
      </c:spPr>
    </c:plotArea>
    <c:legend>
      <c:legendPos val="b"/>
      <c:layout>
        <c:manualLayout>
          <c:xMode val="edge"/>
          <c:yMode val="edge"/>
          <c:x val="6.0912644071665002E-2"/>
          <c:y val="0.932546757142934"/>
          <c:w val="0.8999999614658617"/>
          <c:h val="4.4093717612732439E-2"/>
        </c:manualLayout>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hu-HU"/>
        </a:p>
      </c:txPr>
    </c:legend>
    <c:plotVisOnly val="1"/>
    <c:dispBlanksAs val="gap"/>
    <c:showDLblsOverMax val="0"/>
    <c:extLst>
      <c:ext uri="{0b15fc19-7d7d-44ad-8c2d-2c3a37ce22c3}">
        <chartProps xmlns="https://web.wps.cn/et/2018/main" chartId="{09337ce4-4456-4183-bb4f-d8385895ecfc}"/>
      </c:ext>
    </c:extLst>
  </c:chart>
  <c:spPr>
    <a:noFill/>
    <a:ln>
      <a:noFill/>
    </a:ln>
    <a:effectLst/>
  </c:spPr>
  <c:txPr>
    <a:bodyPr/>
    <a:lstStyle/>
    <a:p>
      <a:pPr>
        <a:defRPr lang="en-US"/>
      </a:pPr>
      <a:endParaRPr lang="hu-HU"/>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6.4106755677279498E-2"/>
          <c:y val="2.64173302602486E-2"/>
          <c:w val="0.91972604895752297"/>
          <c:h val="0.81239998133667102"/>
        </c:manualLayout>
      </c:layout>
      <c:barChart>
        <c:barDir val="col"/>
        <c:grouping val="clustered"/>
        <c:varyColors val="0"/>
        <c:ser>
          <c:idx val="0"/>
          <c:order val="0"/>
          <c:tx>
            <c:strRef>
              <c:f>Munka1!$B$1</c:f>
              <c:strCache>
                <c:ptCount val="1"/>
                <c:pt idx="0">
                  <c:v>2011/2012</c:v>
                </c:pt>
              </c:strCache>
            </c:strRef>
          </c:tx>
          <c:spPr>
            <a:solidFill>
              <a:schemeClr val="accent3">
                <a:tint val="39000"/>
              </a:schemeClr>
            </a:solidFill>
            <a:ln>
              <a:no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Munka1!$B$2:$B$6</c:f>
            </c:numRef>
          </c:val>
          <c:extLst>
            <c:ext xmlns:c16="http://schemas.microsoft.com/office/drawing/2014/chart" uri="{C3380CC4-5D6E-409C-BE32-E72D297353CC}">
              <c16:uniqueId val="{00000000-10B0-4ADE-92B4-5CABA3A53EA5}"/>
            </c:ext>
          </c:extLst>
        </c:ser>
        <c:ser>
          <c:idx val="1"/>
          <c:order val="1"/>
          <c:tx>
            <c:strRef>
              <c:f>Munka1!$C$1</c:f>
              <c:strCache>
                <c:ptCount val="1"/>
                <c:pt idx="0">
                  <c:v>2012/2013</c:v>
                </c:pt>
              </c:strCache>
            </c:strRef>
          </c:tx>
          <c:spPr>
            <a:solidFill>
              <a:schemeClr val="accent3">
                <a:tint val="48000"/>
              </a:schemeClr>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Munka1!$C$2:$C$6</c:f>
            </c:numRef>
          </c:val>
          <c:extLst>
            <c:ext xmlns:c16="http://schemas.microsoft.com/office/drawing/2014/chart" uri="{C3380CC4-5D6E-409C-BE32-E72D297353CC}">
              <c16:uniqueId val="{00000001-10B0-4ADE-92B4-5CABA3A53EA5}"/>
            </c:ext>
          </c:extLst>
        </c:ser>
        <c:ser>
          <c:idx val="2"/>
          <c:order val="2"/>
          <c:tx>
            <c:strRef>
              <c:f>Munka1!$D$1</c:f>
              <c:strCache>
                <c:ptCount val="1"/>
                <c:pt idx="0">
                  <c:v>2013/2014.</c:v>
                </c:pt>
              </c:strCache>
            </c:strRef>
          </c:tx>
          <c:spPr>
            <a:solidFill>
              <a:schemeClr val="accent3">
                <a:tint val="57000"/>
              </a:schemeClr>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Munka1!$D$2:$D$6</c:f>
            </c:numRef>
          </c:val>
          <c:extLst>
            <c:ext xmlns:c16="http://schemas.microsoft.com/office/drawing/2014/chart" uri="{C3380CC4-5D6E-409C-BE32-E72D297353CC}">
              <c16:uniqueId val="{00000002-10B0-4ADE-92B4-5CABA3A53EA5}"/>
            </c:ext>
          </c:extLst>
        </c:ser>
        <c:ser>
          <c:idx val="3"/>
          <c:order val="3"/>
          <c:tx>
            <c:strRef>
              <c:f>Munka1!$E$1</c:f>
              <c:strCache>
                <c:ptCount val="1"/>
                <c:pt idx="0">
                  <c:v>2014/2015.</c:v>
                </c:pt>
              </c:strCache>
            </c:strRef>
          </c:tx>
          <c:spPr>
            <a:solidFill>
              <a:schemeClr val="accent3">
                <a:tint val="65000"/>
              </a:schemeClr>
            </a:solidFill>
            <a:ln>
              <a:no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Munka1!$E$2:$E$6</c:f>
            </c:numRef>
          </c:val>
          <c:extLst>
            <c:ext xmlns:c16="http://schemas.microsoft.com/office/drawing/2014/chart" uri="{C3380CC4-5D6E-409C-BE32-E72D297353CC}">
              <c16:uniqueId val="{00000003-10B0-4ADE-92B4-5CABA3A53EA5}"/>
            </c:ext>
          </c:extLst>
        </c:ser>
        <c:ser>
          <c:idx val="4"/>
          <c:order val="4"/>
          <c:tx>
            <c:strRef>
              <c:f>Munka1!$F$1</c:f>
              <c:strCache>
                <c:ptCount val="1"/>
                <c:pt idx="0">
                  <c:v>2015/2016.</c:v>
                </c:pt>
              </c:strCache>
            </c:strRef>
          </c:tx>
          <c:spPr>
            <a:solidFill>
              <a:schemeClr val="accent3">
                <a:tint val="74000"/>
              </a:schemeClr>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Munka1!$F$2:$F$6</c:f>
            </c:numRef>
          </c:val>
          <c:extLst>
            <c:ext xmlns:c16="http://schemas.microsoft.com/office/drawing/2014/chart" uri="{C3380CC4-5D6E-409C-BE32-E72D297353CC}">
              <c16:uniqueId val="{00000004-10B0-4ADE-92B4-5CABA3A53EA5}"/>
            </c:ext>
          </c:extLst>
        </c:ser>
        <c:ser>
          <c:idx val="5"/>
          <c:order val="5"/>
          <c:tx>
            <c:strRef>
              <c:f>Munka1!$G$1</c:f>
              <c:strCache>
                <c:ptCount val="1"/>
                <c:pt idx="0">
                  <c:v>2016/2017.</c:v>
                </c:pt>
              </c:strCache>
            </c:strRef>
          </c:tx>
          <c:spPr>
            <a:solidFill>
              <a:srgbClr val="EFD0B7"/>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Munka1!$G$2:$G$6</c:f>
              <c:numCache>
                <c:formatCode>#,##0</c:formatCode>
                <c:ptCount val="5"/>
                <c:pt idx="0">
                  <c:v>6089</c:v>
                </c:pt>
                <c:pt idx="1">
                  <c:v>3360</c:v>
                </c:pt>
                <c:pt idx="2">
                  <c:v>3182</c:v>
                </c:pt>
                <c:pt idx="3">
                  <c:v>2907</c:v>
                </c:pt>
                <c:pt idx="4">
                  <c:v>178</c:v>
                </c:pt>
              </c:numCache>
            </c:numRef>
          </c:val>
          <c:extLst>
            <c:ext xmlns:c16="http://schemas.microsoft.com/office/drawing/2014/chart" uri="{C3380CC4-5D6E-409C-BE32-E72D297353CC}">
              <c16:uniqueId val="{00000005-10B0-4ADE-92B4-5CABA3A53EA5}"/>
            </c:ext>
          </c:extLst>
        </c:ser>
        <c:ser>
          <c:idx val="6"/>
          <c:order val="6"/>
          <c:tx>
            <c:strRef>
              <c:f>Munka1!$H$1</c:f>
              <c:strCache>
                <c:ptCount val="1"/>
                <c:pt idx="0">
                  <c:v>2017/2018.</c:v>
                </c:pt>
              </c:strCache>
            </c:strRef>
          </c:tx>
          <c:spPr>
            <a:solidFill>
              <a:srgbClr val="E9B080"/>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Munka1!$H$2:$H$6</c:f>
              <c:numCache>
                <c:formatCode>#,##0</c:formatCode>
                <c:ptCount val="5"/>
                <c:pt idx="0">
                  <c:v>5700</c:v>
                </c:pt>
                <c:pt idx="1">
                  <c:v>3435</c:v>
                </c:pt>
                <c:pt idx="2">
                  <c:v>3191</c:v>
                </c:pt>
                <c:pt idx="3">
                  <c:v>2509</c:v>
                </c:pt>
                <c:pt idx="4">
                  <c:v>244</c:v>
                </c:pt>
              </c:numCache>
            </c:numRef>
          </c:val>
          <c:extLst>
            <c:ext xmlns:c16="http://schemas.microsoft.com/office/drawing/2014/chart" uri="{C3380CC4-5D6E-409C-BE32-E72D297353CC}">
              <c16:uniqueId val="{00000006-10B0-4ADE-92B4-5CABA3A53EA5}"/>
            </c:ext>
          </c:extLst>
        </c:ser>
        <c:ser>
          <c:idx val="7"/>
          <c:order val="7"/>
          <c:tx>
            <c:strRef>
              <c:f>Munka1!$I$1</c:f>
              <c:strCache>
                <c:ptCount val="1"/>
                <c:pt idx="0">
                  <c:v>2018/2019.</c:v>
                </c:pt>
              </c:strCache>
            </c:strRef>
          </c:tx>
          <c:spPr>
            <a:solidFill>
              <a:srgbClr val="E9A864"/>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Munka1!$I$2:$I$6</c:f>
              <c:numCache>
                <c:formatCode>#,##0</c:formatCode>
                <c:ptCount val="5"/>
                <c:pt idx="0">
                  <c:v>5230</c:v>
                </c:pt>
                <c:pt idx="1">
                  <c:v>3318</c:v>
                </c:pt>
                <c:pt idx="2">
                  <c:v>3146</c:v>
                </c:pt>
                <c:pt idx="3">
                  <c:v>2084</c:v>
                </c:pt>
                <c:pt idx="4">
                  <c:v>172</c:v>
                </c:pt>
              </c:numCache>
            </c:numRef>
          </c:val>
          <c:extLst>
            <c:ext xmlns:c16="http://schemas.microsoft.com/office/drawing/2014/chart" uri="{C3380CC4-5D6E-409C-BE32-E72D297353CC}">
              <c16:uniqueId val="{00000007-10B0-4ADE-92B4-5CABA3A53EA5}"/>
            </c:ext>
          </c:extLst>
        </c:ser>
        <c:ser>
          <c:idx val="8"/>
          <c:order val="8"/>
          <c:tx>
            <c:strRef>
              <c:f>Munka1!$J$1</c:f>
              <c:strCache>
                <c:ptCount val="1"/>
                <c:pt idx="0">
                  <c:v>2019/2020.</c:v>
                </c:pt>
              </c:strCache>
            </c:strRef>
          </c:tx>
          <c:spPr>
            <a:solidFill>
              <a:srgbClr val="E9A168"/>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Munka1!$J$2:$J$6</c:f>
              <c:numCache>
                <c:formatCode>#,##0</c:formatCode>
                <c:ptCount val="5"/>
                <c:pt idx="0">
                  <c:v>5443</c:v>
                </c:pt>
                <c:pt idx="1">
                  <c:v>3293</c:v>
                </c:pt>
                <c:pt idx="2">
                  <c:v>3165</c:v>
                </c:pt>
                <c:pt idx="3">
                  <c:v>2278</c:v>
                </c:pt>
                <c:pt idx="4">
                  <c:v>128</c:v>
                </c:pt>
              </c:numCache>
            </c:numRef>
          </c:val>
          <c:extLst>
            <c:ext xmlns:c16="http://schemas.microsoft.com/office/drawing/2014/chart" uri="{C3380CC4-5D6E-409C-BE32-E72D297353CC}">
              <c16:uniqueId val="{00000008-10B0-4ADE-92B4-5CABA3A53EA5}"/>
            </c:ext>
          </c:extLst>
        </c:ser>
        <c:ser>
          <c:idx val="9"/>
          <c:order val="9"/>
          <c:tx>
            <c:strRef>
              <c:f>Munka1!$K$1</c:f>
              <c:strCache>
                <c:ptCount val="1"/>
                <c:pt idx="0">
                  <c:v>2020/2021.</c:v>
                </c:pt>
              </c:strCache>
            </c:strRef>
          </c:tx>
          <c:spPr>
            <a:solidFill>
              <a:srgbClr val="D59A63"/>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Munka1!$K$2:$K$6</c:f>
              <c:numCache>
                <c:formatCode>#,##0</c:formatCode>
                <c:ptCount val="5"/>
                <c:pt idx="0">
                  <c:v>5019</c:v>
                </c:pt>
                <c:pt idx="1">
                  <c:v>3362</c:v>
                </c:pt>
                <c:pt idx="2">
                  <c:v>3114</c:v>
                </c:pt>
                <c:pt idx="3">
                  <c:v>1905</c:v>
                </c:pt>
                <c:pt idx="4">
                  <c:v>248</c:v>
                </c:pt>
              </c:numCache>
            </c:numRef>
          </c:val>
          <c:extLst>
            <c:ext xmlns:c16="http://schemas.microsoft.com/office/drawing/2014/chart" uri="{C3380CC4-5D6E-409C-BE32-E72D297353CC}">
              <c16:uniqueId val="{00000009-10B0-4ADE-92B4-5CABA3A53EA5}"/>
            </c:ext>
          </c:extLst>
        </c:ser>
        <c:ser>
          <c:idx val="10"/>
          <c:order val="10"/>
          <c:tx>
            <c:strRef>
              <c:f>Munka1!$L$1</c:f>
              <c:strCache>
                <c:ptCount val="1"/>
                <c:pt idx="0">
                  <c:v>2021/2022.</c:v>
                </c:pt>
              </c:strCache>
            </c:strRef>
          </c:tx>
          <c:spPr>
            <a:solidFill>
              <a:srgbClr val="C0966C"/>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Munka1!$L$2:$L$6</c:f>
              <c:numCache>
                <c:formatCode>#,##0</c:formatCode>
                <c:ptCount val="5"/>
                <c:pt idx="0">
                  <c:v>5299</c:v>
                </c:pt>
                <c:pt idx="1">
                  <c:v>3430</c:v>
                </c:pt>
                <c:pt idx="2">
                  <c:v>3105</c:v>
                </c:pt>
                <c:pt idx="3">
                  <c:v>2194</c:v>
                </c:pt>
                <c:pt idx="4">
                  <c:v>325</c:v>
                </c:pt>
              </c:numCache>
            </c:numRef>
          </c:val>
          <c:extLst>
            <c:ext xmlns:c16="http://schemas.microsoft.com/office/drawing/2014/chart" uri="{C3380CC4-5D6E-409C-BE32-E72D297353CC}">
              <c16:uniqueId val="{0000000A-10B0-4ADE-92B4-5CABA3A53EA5}"/>
            </c:ext>
          </c:extLst>
        </c:ser>
        <c:ser>
          <c:idx val="11"/>
          <c:order val="11"/>
          <c:tx>
            <c:strRef>
              <c:f>Munka1!$M$1</c:f>
              <c:strCache>
                <c:ptCount val="1"/>
                <c:pt idx="0">
                  <c:v>2022/2023.</c:v>
                </c:pt>
              </c:strCache>
            </c:strRef>
          </c:tx>
          <c:spPr>
            <a:solidFill>
              <a:srgbClr val="AC7B4E"/>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Munka1!$M$2:$M$6</c:f>
              <c:numCache>
                <c:formatCode>#,##0</c:formatCode>
                <c:ptCount val="5"/>
                <c:pt idx="0">
                  <c:v>5296</c:v>
                </c:pt>
                <c:pt idx="1">
                  <c:v>3465</c:v>
                </c:pt>
                <c:pt idx="2">
                  <c:v>3249</c:v>
                </c:pt>
                <c:pt idx="3">
                  <c:v>2047</c:v>
                </c:pt>
                <c:pt idx="4">
                  <c:v>216</c:v>
                </c:pt>
              </c:numCache>
            </c:numRef>
          </c:val>
          <c:extLst>
            <c:ext xmlns:c16="http://schemas.microsoft.com/office/drawing/2014/chart" uri="{C3380CC4-5D6E-409C-BE32-E72D297353CC}">
              <c16:uniqueId val="{0000000B-10B0-4ADE-92B4-5CABA3A53EA5}"/>
            </c:ext>
          </c:extLst>
        </c:ser>
        <c:ser>
          <c:idx val="12"/>
          <c:order val="12"/>
          <c:tx>
            <c:strRef>
              <c:f>Munka1!$N$1</c:f>
              <c:strCache>
                <c:ptCount val="1"/>
                <c:pt idx="0">
                  <c:v>2023/2024.</c:v>
                </c:pt>
              </c:strCache>
            </c:strRef>
          </c:tx>
          <c:spPr>
            <a:solidFill>
              <a:srgbClr val="936943"/>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Munka1!$N$2:$N$6</c:f>
              <c:numCache>
                <c:formatCode>#,##0</c:formatCode>
                <c:ptCount val="5"/>
                <c:pt idx="0">
                  <c:v>5821</c:v>
                </c:pt>
                <c:pt idx="1">
                  <c:v>3469</c:v>
                </c:pt>
                <c:pt idx="2">
                  <c:v>3330</c:v>
                </c:pt>
                <c:pt idx="3">
                  <c:v>2491</c:v>
                </c:pt>
                <c:pt idx="4">
                  <c:v>139</c:v>
                </c:pt>
              </c:numCache>
            </c:numRef>
          </c:val>
          <c:extLst>
            <c:ext xmlns:c16="http://schemas.microsoft.com/office/drawing/2014/chart" uri="{C3380CC4-5D6E-409C-BE32-E72D297353CC}">
              <c16:uniqueId val="{0000000C-10B0-4ADE-92B4-5CABA3A53EA5}"/>
            </c:ext>
          </c:extLst>
        </c:ser>
        <c:ser>
          <c:idx val="13"/>
          <c:order val="13"/>
          <c:tx>
            <c:strRef>
              <c:f>Munka1!$O$1</c:f>
              <c:strCache>
                <c:ptCount val="1"/>
                <c:pt idx="0">
                  <c:v>2024/2025.</c:v>
                </c:pt>
              </c:strCache>
            </c:strRef>
          </c:tx>
          <c:spPr>
            <a:solidFill>
              <a:srgbClr val="8C6440"/>
            </a:solidFill>
            <a:ln>
              <a:solidFill>
                <a:schemeClr val="tx1"/>
              </a:solidFill>
            </a:ln>
            <a:effectLst/>
          </c:spPr>
          <c:invertIfNegative val="0"/>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Munka1!$O$2:$O$6</c:f>
              <c:numCache>
                <c:formatCode>#,##0</c:formatCode>
                <c:ptCount val="5"/>
                <c:pt idx="0">
                  <c:v>6160</c:v>
                </c:pt>
                <c:pt idx="1">
                  <c:v>3532</c:v>
                </c:pt>
                <c:pt idx="2">
                  <c:v>3347</c:v>
                </c:pt>
                <c:pt idx="3">
                  <c:v>2813</c:v>
                </c:pt>
                <c:pt idx="4">
                  <c:v>185</c:v>
                </c:pt>
              </c:numCache>
            </c:numRef>
          </c:val>
          <c:extLst>
            <c:ext xmlns:c16="http://schemas.microsoft.com/office/drawing/2014/chart" uri="{C3380CC4-5D6E-409C-BE32-E72D297353CC}">
              <c16:uniqueId val="{0000000E-10B0-4ADE-92B4-5CABA3A53EA5}"/>
            </c:ext>
          </c:extLst>
        </c:ser>
        <c:ser>
          <c:idx val="14"/>
          <c:order val="14"/>
          <c:tx>
            <c:strRef>
              <c:f>Munka1!$P$1</c:f>
              <c:strCache>
                <c:ptCount val="1"/>
                <c:pt idx="0">
                  <c:v>2025/2026.</c:v>
                </c:pt>
              </c:strCache>
            </c:strRef>
          </c:tx>
          <c:spPr>
            <a:solidFill>
              <a:srgbClr val="715133"/>
            </a:solidFill>
            <a:ln>
              <a:solidFill>
                <a:schemeClr val="tx1"/>
              </a:solidFill>
            </a:ln>
            <a:effectLst/>
          </c:spPr>
          <c:invertIfNegative val="0"/>
          <c:dLbls>
            <c:dLbl>
              <c:idx val="0"/>
              <c:layout>
                <c:manualLayout>
                  <c:x val="2.1739130434782563E-2"/>
                  <c:y val="-1.8192653033159333E-2"/>
                </c:manualLayout>
              </c:layout>
              <c:spPr>
                <a:noFill/>
                <a:ln>
                  <a:noFill/>
                </a:ln>
                <a:effectLst/>
              </c:spPr>
              <c:txPr>
                <a:bodyPr rot="0" spcFirstLastPara="1" vertOverflow="ellipsis" vert="horz" wrap="square" lIns="38100" tIns="19050" rIns="38100" bIns="19050" anchor="ctr" anchorCtr="1">
                  <a:spAutoFit/>
                </a:bodyPr>
                <a:lstStyle/>
                <a:p>
                  <a:pPr>
                    <a:defRPr lang="en-US" sz="1195" b="1" i="0" u="none" strike="noStrike" kern="1200" baseline="0">
                      <a:solidFill>
                        <a:schemeClr val="tx1">
                          <a:lumMod val="75000"/>
                          <a:lumOff val="25000"/>
                        </a:schemeClr>
                      </a:solidFill>
                      <a:latin typeface="+mn-lt"/>
                      <a:ea typeface="+mn-ea"/>
                      <a:cs typeface="+mn-cs"/>
                    </a:defRPr>
                  </a:pPr>
                  <a:endParaRPr lang="hu-HU"/>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2AC-4240-AEDB-286DFC12CCDA}"/>
                </c:ext>
              </c:extLst>
            </c:dLbl>
            <c:dLbl>
              <c:idx val="1"/>
              <c:spPr>
                <a:noFill/>
                <a:ln>
                  <a:noFill/>
                </a:ln>
                <a:effectLst/>
              </c:spPr>
              <c:txPr>
                <a:bodyPr rot="0" spcFirstLastPara="1" vertOverflow="ellipsis" vert="horz" wrap="square" lIns="38100" tIns="19050" rIns="38100" bIns="19050" anchor="ctr" anchorCtr="1">
                  <a:spAutoFit/>
                </a:bodyPr>
                <a:lstStyle/>
                <a:p>
                  <a:pPr>
                    <a:defRPr lang="en-US" sz="1195" b="1" i="0" u="none" strike="noStrike" kern="1200" baseline="0">
                      <a:solidFill>
                        <a:schemeClr val="tx1">
                          <a:lumMod val="75000"/>
                          <a:lumOff val="25000"/>
                        </a:schemeClr>
                      </a:solidFill>
                      <a:latin typeface="+mn-lt"/>
                      <a:ea typeface="+mn-ea"/>
                      <a:cs typeface="+mn-cs"/>
                    </a:defRPr>
                  </a:pPr>
                  <a:endParaRPr lang="hu-HU"/>
                </a:p>
              </c:txPr>
              <c:showLegendKey val="0"/>
              <c:showVal val="1"/>
              <c:showCatName val="0"/>
              <c:showSerName val="0"/>
              <c:showPercent val="0"/>
              <c:showBubbleSize val="0"/>
              <c:extLst>
                <c:ext xmlns:c16="http://schemas.microsoft.com/office/drawing/2014/chart" uri="{C3380CC4-5D6E-409C-BE32-E72D297353CC}">
                  <c16:uniqueId val="{00000003-72AC-4240-AEDB-286DFC12CCDA}"/>
                </c:ext>
              </c:extLst>
            </c:dLbl>
            <c:dLbl>
              <c:idx val="2"/>
              <c:spPr>
                <a:noFill/>
                <a:ln>
                  <a:noFill/>
                </a:ln>
                <a:effectLst/>
              </c:spPr>
              <c:txPr>
                <a:bodyPr rot="0" spcFirstLastPara="1" vertOverflow="ellipsis" vert="horz" wrap="square" lIns="38100" tIns="19050" rIns="38100" bIns="19050" anchor="ctr" anchorCtr="1">
                  <a:spAutoFit/>
                </a:bodyPr>
                <a:lstStyle/>
                <a:p>
                  <a:pPr>
                    <a:defRPr lang="en-US" sz="1195" b="1" i="0" u="none" strike="noStrike" kern="1200" baseline="0">
                      <a:solidFill>
                        <a:schemeClr val="tx1">
                          <a:lumMod val="75000"/>
                          <a:lumOff val="25000"/>
                        </a:schemeClr>
                      </a:solidFill>
                      <a:latin typeface="+mn-lt"/>
                      <a:ea typeface="+mn-ea"/>
                      <a:cs typeface="+mn-cs"/>
                    </a:defRPr>
                  </a:pPr>
                  <a:endParaRPr lang="hu-HU"/>
                </a:p>
              </c:txPr>
              <c:showLegendKey val="0"/>
              <c:showVal val="1"/>
              <c:showCatName val="0"/>
              <c:showSerName val="0"/>
              <c:showPercent val="0"/>
              <c:showBubbleSize val="0"/>
              <c:extLst>
                <c:ext xmlns:c16="http://schemas.microsoft.com/office/drawing/2014/chart" uri="{C3380CC4-5D6E-409C-BE32-E72D297353CC}">
                  <c16:uniqueId val="{00000004-72AC-4240-AEDB-286DFC12CCDA}"/>
                </c:ext>
              </c:extLst>
            </c:dLbl>
            <c:dLbl>
              <c:idx val="3"/>
              <c:layout>
                <c:manualLayout>
                  <c:x val="2.2946859903381554E-2"/>
                  <c:y val="-2.339055389977638E-2"/>
                </c:manualLayout>
              </c:layout>
              <c:spPr>
                <a:noFill/>
                <a:ln>
                  <a:noFill/>
                </a:ln>
                <a:effectLst/>
              </c:spPr>
              <c:txPr>
                <a:bodyPr rot="0" spcFirstLastPara="1" vertOverflow="ellipsis" vert="horz" wrap="square" lIns="38100" tIns="19050" rIns="38100" bIns="19050" anchor="ctr" anchorCtr="1">
                  <a:spAutoFit/>
                </a:bodyPr>
                <a:lstStyle/>
                <a:p>
                  <a:pPr>
                    <a:defRPr lang="en-US" sz="1195" b="1" i="0" u="none" strike="noStrike" kern="1200" baseline="0">
                      <a:solidFill>
                        <a:schemeClr val="tx1">
                          <a:lumMod val="75000"/>
                          <a:lumOff val="25000"/>
                        </a:schemeClr>
                      </a:solidFill>
                      <a:latin typeface="+mn-lt"/>
                      <a:ea typeface="+mn-ea"/>
                      <a:cs typeface="+mn-cs"/>
                    </a:defRPr>
                  </a:pPr>
                  <a:endParaRPr lang="hu-HU"/>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2AC-4240-AEDB-286DFC12CCDA}"/>
                </c:ext>
              </c:extLst>
            </c:dLbl>
            <c:dLbl>
              <c:idx val="4"/>
              <c:spPr>
                <a:noFill/>
                <a:ln>
                  <a:noFill/>
                </a:ln>
                <a:effectLst/>
              </c:spPr>
              <c:txPr>
                <a:bodyPr rot="0" spcFirstLastPara="1" vertOverflow="ellipsis" vert="horz" wrap="square" lIns="38100" tIns="19050" rIns="38100" bIns="19050" anchor="ctr" anchorCtr="1">
                  <a:spAutoFit/>
                </a:bodyPr>
                <a:lstStyle/>
                <a:p>
                  <a:pPr>
                    <a:defRPr lang="en-US" sz="1195" b="1" i="0" u="none" strike="noStrike" kern="1200" baseline="0">
                      <a:solidFill>
                        <a:schemeClr val="tx1">
                          <a:lumMod val="75000"/>
                          <a:lumOff val="25000"/>
                        </a:schemeClr>
                      </a:solidFill>
                      <a:latin typeface="+mn-lt"/>
                      <a:ea typeface="+mn-ea"/>
                      <a:cs typeface="+mn-cs"/>
                    </a:defRPr>
                  </a:pPr>
                  <a:endParaRPr lang="hu-HU"/>
                </a:p>
              </c:txPr>
              <c:showLegendKey val="0"/>
              <c:showVal val="1"/>
              <c:showCatName val="0"/>
              <c:showSerName val="0"/>
              <c:showPercent val="0"/>
              <c:showBubbleSize val="0"/>
              <c:extLst>
                <c:ext xmlns:c16="http://schemas.microsoft.com/office/drawing/2014/chart" uri="{C3380CC4-5D6E-409C-BE32-E72D297353CC}">
                  <c16:uniqueId val="{00000006-72AC-4240-AEDB-286DFC12CCDA}"/>
                </c:ext>
              </c:extLst>
            </c:dLbl>
            <c:spPr>
              <a:noFill/>
              <a:ln>
                <a:noFill/>
              </a:ln>
              <a:effectLst/>
            </c:spPr>
            <c:txPr>
              <a:bodyPr rot="0" spcFirstLastPara="1" vertOverflow="ellipsis" vert="horz" wrap="square" lIns="38100" tIns="19050" rIns="38100" bIns="19050" anchor="ctr" anchorCtr="1">
                <a:spAutoFit/>
              </a:bodyPr>
              <a:lstStyle/>
              <a:p>
                <a:pPr>
                  <a:defRPr lang="en-US" sz="1195" b="0" i="0" u="none" strike="noStrike" kern="1200" baseline="0">
                    <a:solidFill>
                      <a:schemeClr val="tx1">
                        <a:lumMod val="75000"/>
                        <a:lumOff val="25000"/>
                      </a:schemeClr>
                    </a:solidFill>
                    <a:latin typeface="+mn-lt"/>
                    <a:ea typeface="+mn-ea"/>
                    <a:cs typeface="+mn-cs"/>
                  </a:defRPr>
                </a:pPr>
                <a:endParaRPr lang="hu-H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Munka1!$A$2:$A$6</c:f>
              <c:strCache>
                <c:ptCount val="5"/>
                <c:pt idx="0">
                  <c:v>Jelentkezők száma</c:v>
                </c:pt>
                <c:pt idx="1">
                  <c:v>Férőhelyek száma</c:v>
                </c:pt>
                <c:pt idx="2">
                  <c:v>Összes felvett tanulók száma</c:v>
                </c:pt>
                <c:pt idx="3">
                  <c:v>Felvételt nem nyert tanulók száma</c:v>
                </c:pt>
                <c:pt idx="4">
                  <c:v>Üres férőhelyek száma a rendkívüli felvételi eljárás idejére</c:v>
                </c:pt>
              </c:strCache>
            </c:strRef>
          </c:cat>
          <c:val>
            <c:numRef>
              <c:f>Munka1!$P$2:$P$6</c:f>
              <c:numCache>
                <c:formatCode>#,##0</c:formatCode>
                <c:ptCount val="5"/>
                <c:pt idx="0">
                  <c:v>5272</c:v>
                </c:pt>
                <c:pt idx="1">
                  <c:v>3460</c:v>
                </c:pt>
                <c:pt idx="2">
                  <c:v>3286</c:v>
                </c:pt>
                <c:pt idx="3">
                  <c:v>1986</c:v>
                </c:pt>
                <c:pt idx="4">
                  <c:v>174</c:v>
                </c:pt>
              </c:numCache>
            </c:numRef>
          </c:val>
          <c:extLst>
            <c:ext xmlns:c16="http://schemas.microsoft.com/office/drawing/2014/chart" uri="{C3380CC4-5D6E-409C-BE32-E72D297353CC}">
              <c16:uniqueId val="{00000001-72AC-4240-AEDB-286DFC12CCDA}"/>
            </c:ext>
          </c:extLst>
        </c:ser>
        <c:dLbls>
          <c:showLegendKey val="0"/>
          <c:showVal val="0"/>
          <c:showCatName val="0"/>
          <c:showSerName val="0"/>
          <c:showPercent val="0"/>
          <c:showBubbleSize val="0"/>
        </c:dLbls>
        <c:gapWidth val="219"/>
        <c:overlap val="-27"/>
        <c:axId val="500657784"/>
        <c:axId val="500659424"/>
      </c:barChart>
      <c:catAx>
        <c:axId val="500657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800" b="0" i="0" u="none" strike="noStrike" kern="1200" baseline="0">
                <a:solidFill>
                  <a:schemeClr val="tx1"/>
                </a:solidFill>
                <a:latin typeface="+mn-lt"/>
                <a:ea typeface="+mn-ea"/>
                <a:cs typeface="+mn-cs"/>
              </a:defRPr>
            </a:pPr>
            <a:endParaRPr lang="hu-HU"/>
          </a:p>
        </c:txPr>
        <c:crossAx val="500659424"/>
        <c:crosses val="autoZero"/>
        <c:auto val="1"/>
        <c:lblAlgn val="ctr"/>
        <c:lblOffset val="100"/>
        <c:noMultiLvlLbl val="0"/>
      </c:catAx>
      <c:valAx>
        <c:axId val="500659424"/>
        <c:scaling>
          <c:orientation val="minMax"/>
          <c:max val="6200"/>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hu-HU"/>
          </a:p>
        </c:txPr>
        <c:crossAx val="500657784"/>
        <c:crosses val="autoZero"/>
        <c:crossBetween val="between"/>
      </c:valAx>
      <c:spPr>
        <a:noFill/>
        <a:ln>
          <a:noFill/>
        </a:ln>
        <a:effectLst/>
      </c:spPr>
    </c:plotArea>
    <c:legend>
      <c:legendPos val="b"/>
      <c:layout>
        <c:manualLayout>
          <c:xMode val="edge"/>
          <c:yMode val="edge"/>
          <c:x val="6.8159020883259203E-2"/>
          <c:y val="0.94485308805425905"/>
          <c:w val="0.9"/>
          <c:h val="4.6868080550273528E-2"/>
        </c:manualLayout>
      </c:layout>
      <c:overlay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hu-HU"/>
        </a:p>
      </c:txPr>
    </c:legend>
    <c:plotVisOnly val="1"/>
    <c:dispBlanksAs val="gap"/>
    <c:showDLblsOverMax val="0"/>
    <c:extLst>
      <c:ext uri="{0b15fc19-7d7d-44ad-8c2d-2c3a37ce22c3}">
        <chartProps xmlns="https://web.wps.cn/et/2018/main" chartId="{4ceb4c4f-fcbf-401c-90f5-5dd92a6b3931}"/>
      </c:ext>
    </c:extLst>
  </c:chart>
  <c:spPr>
    <a:noFill/>
    <a:ln>
      <a:noFill/>
    </a:ln>
    <a:effectLst/>
  </c:spPr>
  <c:txPr>
    <a:bodyPr/>
    <a:lstStyle/>
    <a:p>
      <a:pPr>
        <a:defRPr lang="en-US"/>
      </a:pPr>
      <a:endParaRPr lang="hu-HU"/>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5.7407510518823569E-2"/>
          <c:y val="3.5027746531683543E-2"/>
          <c:w val="0.92379423166425012"/>
          <c:h val="0.73016962108763217"/>
        </c:manualLayout>
      </c:layout>
      <c:barChart>
        <c:barDir val="col"/>
        <c:grouping val="percentStacked"/>
        <c:varyColors val="0"/>
        <c:ser>
          <c:idx val="0"/>
          <c:order val="0"/>
          <c:spPr>
            <a:gradFill rotWithShape="1">
              <a:gsLst>
                <a:gs pos="0">
                  <a:schemeClr val="accent3">
                    <a:shade val="42000"/>
                    <a:satMod val="103000"/>
                    <a:lumMod val="102000"/>
                    <a:tint val="94000"/>
                  </a:schemeClr>
                </a:gs>
                <a:gs pos="50000">
                  <a:schemeClr val="accent3">
                    <a:shade val="42000"/>
                    <a:satMod val="110000"/>
                    <a:lumMod val="100000"/>
                    <a:shade val="100000"/>
                  </a:schemeClr>
                </a:gs>
                <a:gs pos="100000">
                  <a:schemeClr val="accent3">
                    <a:shade val="42000"/>
                    <a:lumMod val="99000"/>
                    <a:satMod val="120000"/>
                    <a:shade val="78000"/>
                  </a:schemeClr>
                </a:gs>
              </a:gsLst>
              <a:lin ang="5400000" scaled="0"/>
            </a:gradFill>
            <a:ln>
              <a:noFill/>
            </a:ln>
            <a:effectLst/>
          </c:spPr>
          <c:invertIfNegative val="0"/>
          <c:dLbls>
            <c:dLbl>
              <c:idx val="0"/>
              <c:layout>
                <c:manualLayout>
                  <c:x val="0"/>
                  <c:y val="-8.667943103926599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AB6-4BDF-A8C1-849C8E4CCDEC}"/>
                </c:ext>
              </c:extLst>
            </c:dLbl>
            <c:dLbl>
              <c:idx val="1"/>
              <c:layout>
                <c:manualLayout>
                  <c:x val="0"/>
                  <c:y val="-8.413003600869935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AB6-4BDF-A8C1-849C8E4CCDEC}"/>
                </c:ext>
              </c:extLst>
            </c:dLbl>
            <c:dLbl>
              <c:idx val="2"/>
              <c:layout>
                <c:manualLayout>
                  <c:x val="-4.9232949605219706E-17"/>
                  <c:y val="-9.177822110039919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AB6-4BDF-A8C1-849C8E4CCDEC}"/>
                </c:ext>
              </c:extLst>
            </c:dLbl>
            <c:dLbl>
              <c:idx val="3"/>
              <c:layout>
                <c:manualLayout>
                  <c:x val="0"/>
                  <c:y val="-0.1019758012226657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AB6-4BDF-A8C1-849C8E4CCDEC}"/>
                </c:ext>
              </c:extLst>
            </c:dLbl>
            <c:dLbl>
              <c:idx val="4"/>
              <c:layout>
                <c:manualLayout>
                  <c:x val="-4.9232949605219706E-17"/>
                  <c:y val="-9.432761613096583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5AB6-4BDF-A8C1-849C8E4CCDEC}"/>
                </c:ext>
              </c:extLst>
            </c:dLbl>
            <c:dLbl>
              <c:idx val="5"/>
              <c:layout>
                <c:manualLayout>
                  <c:x val="0"/>
                  <c:y val="-8.922882606983263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AB6-4BDF-A8C1-849C8E4CCDEC}"/>
                </c:ext>
              </c:extLst>
            </c:dLbl>
            <c:dLbl>
              <c:idx val="6"/>
              <c:layout>
                <c:manualLayout>
                  <c:x val="2.6854646371884412E-3"/>
                  <c:y val="-7.903124594756606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AB6-4BDF-A8C1-849C8E4CCDEC}"/>
                </c:ext>
              </c:extLst>
            </c:dLbl>
            <c:dLbl>
              <c:idx val="7"/>
              <c:layout>
                <c:manualLayout>
                  <c:x val="-2.6854646371885396E-3"/>
                  <c:y val="-7.90312459475659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AB6-4BDF-A8C1-849C8E4CCDEC}"/>
                </c:ext>
              </c:extLst>
            </c:dLbl>
            <c:dLbl>
              <c:idx val="8"/>
              <c:layout>
                <c:manualLayout>
                  <c:x val="-1.342732318594319E-3"/>
                  <c:y val="-8.158064097813261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AB6-4BDF-A8C1-849C8E4CCDEC}"/>
                </c:ext>
              </c:extLst>
            </c:dLbl>
            <c:dLbl>
              <c:idx val="9"/>
              <c:layout>
                <c:manualLayout>
                  <c:x val="0"/>
                  <c:y val="-9.177822110039927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AB6-4BDF-A8C1-849C8E4CCDEC}"/>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ysClr val="windowText" lastClr="000000"/>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Munka1!$A$7:$A$16</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Munka1!$B$7:$B$16</c:f>
              <c:numCache>
                <c:formatCode>0.00%</c:formatCode>
                <c:ptCount val="10"/>
                <c:pt idx="0">
                  <c:v>0.39889108717422633</c:v>
                </c:pt>
                <c:pt idx="1">
                  <c:v>0.40419640659611122</c:v>
                </c:pt>
                <c:pt idx="2">
                  <c:v>0.41139495921636726</c:v>
                </c:pt>
                <c:pt idx="3">
                  <c:v>0.40341390629662788</c:v>
                </c:pt>
                <c:pt idx="4">
                  <c:v>0.39226708108763458</c:v>
                </c:pt>
                <c:pt idx="5">
                  <c:v>0.38109420068944494</c:v>
                </c:pt>
                <c:pt idx="6">
                  <c:v>0.37545955882352944</c:v>
                </c:pt>
                <c:pt idx="7">
                  <c:v>0.37164498395562301</c:v>
                </c:pt>
                <c:pt idx="8">
                  <c:v>0.38125617275712037</c:v>
                </c:pt>
                <c:pt idx="9">
                  <c:v>0.39284495656053964</c:v>
                </c:pt>
              </c:numCache>
            </c:numRef>
          </c:val>
          <c:extLst>
            <c:ext xmlns:c16="http://schemas.microsoft.com/office/drawing/2014/chart" uri="{C3380CC4-5D6E-409C-BE32-E72D297353CC}">
              <c16:uniqueId val="{0000000A-5AB6-4BDF-A8C1-849C8E4CCDEC}"/>
            </c:ext>
          </c:extLst>
        </c:ser>
        <c:ser>
          <c:idx val="1"/>
          <c:order val="1"/>
          <c:tx>
            <c:strRef>
              <c:f>Munka1!$C$1</c:f>
              <c:strCache>
                <c:ptCount val="1"/>
                <c:pt idx="0">
                  <c:v>4 (vagy 5) évfolyamos gimnázium</c:v>
                </c:pt>
              </c:strCache>
            </c:strRef>
          </c:tx>
          <c:spPr>
            <a:gradFill rotWithShape="1">
              <a:gsLst>
                <a:gs pos="0">
                  <a:schemeClr val="accent3">
                    <a:shade val="55000"/>
                    <a:satMod val="103000"/>
                    <a:lumMod val="102000"/>
                    <a:tint val="94000"/>
                  </a:schemeClr>
                </a:gs>
                <a:gs pos="50000">
                  <a:schemeClr val="accent3">
                    <a:shade val="55000"/>
                    <a:satMod val="110000"/>
                    <a:lumMod val="100000"/>
                    <a:shade val="100000"/>
                  </a:schemeClr>
                </a:gs>
                <a:gs pos="100000">
                  <a:schemeClr val="accent3">
                    <a:shade val="55000"/>
                    <a:lumMod val="99000"/>
                    <a:satMod val="120000"/>
                    <a:shade val="78000"/>
                  </a:schemeClr>
                </a:gs>
              </a:gsLst>
              <a:lin ang="5400000" scaled="0"/>
            </a:gra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Munka1!$A$7:$A$16</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Munka1!$C$7:$C$16</c:f>
              <c:numCache>
                <c:formatCode>#,##0</c:formatCode>
                <c:ptCount val="10"/>
                <c:pt idx="0">
                  <c:v>32662</c:v>
                </c:pt>
                <c:pt idx="1">
                  <c:v>32845</c:v>
                </c:pt>
                <c:pt idx="2">
                  <c:v>33641</c:v>
                </c:pt>
                <c:pt idx="3">
                  <c:v>33796</c:v>
                </c:pt>
                <c:pt idx="4">
                  <c:v>35590</c:v>
                </c:pt>
                <c:pt idx="5">
                  <c:v>32502</c:v>
                </c:pt>
                <c:pt idx="6">
                  <c:v>31046</c:v>
                </c:pt>
                <c:pt idx="7">
                  <c:v>29881</c:v>
                </c:pt>
                <c:pt idx="8">
                  <c:v>28566</c:v>
                </c:pt>
                <c:pt idx="9">
                  <c:v>29934</c:v>
                </c:pt>
              </c:numCache>
            </c:numRef>
          </c:val>
          <c:extLst>
            <c:ext xmlns:c16="http://schemas.microsoft.com/office/drawing/2014/chart" uri="{C3380CC4-5D6E-409C-BE32-E72D297353CC}">
              <c16:uniqueId val="{0000000B-5AB6-4BDF-A8C1-849C8E4CCDEC}"/>
            </c:ext>
          </c:extLst>
        </c:ser>
        <c:ser>
          <c:idx val="2"/>
          <c:order val="2"/>
          <c:spPr>
            <a:gradFill rotWithShape="1">
              <a:gsLst>
                <a:gs pos="0">
                  <a:schemeClr val="accent3">
                    <a:shade val="68000"/>
                    <a:satMod val="103000"/>
                    <a:lumMod val="102000"/>
                    <a:tint val="94000"/>
                  </a:schemeClr>
                </a:gs>
                <a:gs pos="50000">
                  <a:schemeClr val="accent3">
                    <a:shade val="68000"/>
                    <a:satMod val="110000"/>
                    <a:lumMod val="100000"/>
                    <a:shade val="100000"/>
                  </a:schemeClr>
                </a:gs>
                <a:gs pos="100000">
                  <a:schemeClr val="accent3">
                    <a:shade val="68000"/>
                    <a:lumMod val="99000"/>
                    <a:satMod val="120000"/>
                    <a:shade val="78000"/>
                  </a:schemeClr>
                </a:gs>
              </a:gsLst>
              <a:lin ang="5400000" scaled="0"/>
            </a:gradFill>
            <a:ln>
              <a:noFill/>
            </a:ln>
            <a:effectLst/>
          </c:spPr>
          <c:invertIfNegative val="0"/>
          <c:dLbls>
            <c:dLbl>
              <c:idx val="0"/>
              <c:layout>
                <c:manualLayout>
                  <c:x val="0"/>
                  <c:y val="-9.177822110039923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AB6-4BDF-A8C1-849C8E4CCDEC}"/>
                </c:ext>
              </c:extLst>
            </c:dLbl>
            <c:dLbl>
              <c:idx val="1"/>
              <c:layout>
                <c:manualLayout>
                  <c:x val="0"/>
                  <c:y val="-8.41300360086993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AB6-4BDF-A8C1-849C8E4CCDEC}"/>
                </c:ext>
              </c:extLst>
            </c:dLbl>
            <c:dLbl>
              <c:idx val="2"/>
              <c:layout>
                <c:manualLayout>
                  <c:x val="-4.9232949605219706E-17"/>
                  <c:y val="-8.158064097813261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5AB6-4BDF-A8C1-849C8E4CCDEC}"/>
                </c:ext>
              </c:extLst>
            </c:dLbl>
            <c:dLbl>
              <c:idx val="3"/>
              <c:layout>
                <c:manualLayout>
                  <c:x val="0"/>
                  <c:y val="-8.922882606983255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5AB6-4BDF-A8C1-849C8E4CCDEC}"/>
                </c:ext>
              </c:extLst>
            </c:dLbl>
            <c:dLbl>
              <c:idx val="4"/>
              <c:layout>
                <c:manualLayout>
                  <c:x val="-4.9232949605219706E-17"/>
                  <c:y val="-9.43276161309658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5AB6-4BDF-A8C1-849C8E4CCDEC}"/>
                </c:ext>
              </c:extLst>
            </c:dLbl>
            <c:dLbl>
              <c:idx val="5"/>
              <c:layout>
                <c:manualLayout>
                  <c:x val="-9.8465899210439411E-17"/>
                  <c:y val="2.03951602445331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5AB6-4BDF-A8C1-849C8E4CCDEC}"/>
                </c:ext>
              </c:extLst>
            </c:dLbl>
            <c:dLbl>
              <c:idx val="6"/>
              <c:layout>
                <c:manualLayout>
                  <c:x val="0"/>
                  <c:y val="2.294455527509970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5AB6-4BDF-A8C1-849C8E4CCDEC}"/>
                </c:ext>
              </c:extLst>
            </c:dLbl>
            <c:dLbl>
              <c:idx val="7"/>
              <c:layout>
                <c:manualLayout>
                  <c:x val="0"/>
                  <c:y val="2.03951602445331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5AB6-4BDF-A8C1-849C8E4CCDEC}"/>
                </c:ext>
              </c:extLst>
            </c:dLbl>
            <c:dLbl>
              <c:idx val="8"/>
              <c:layout>
                <c:manualLayout>
                  <c:x val="-1.342732318594319E-3"/>
                  <c:y val="2.03951602445331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5AB6-4BDF-A8C1-849C8E4CCDEC}"/>
                </c:ext>
              </c:extLst>
            </c:dLbl>
            <c:dLbl>
              <c:idx val="9"/>
              <c:layout>
                <c:manualLayout>
                  <c:x val="0"/>
                  <c:y val="2.294455527509970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5AB6-4BDF-A8C1-849C8E4CCDEC}"/>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ysClr val="windowText" lastClr="000000"/>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Munka1!$A$7:$A$16</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Munka1!$D$7:$D$16</c:f>
              <c:numCache>
                <c:formatCode>0.00%</c:formatCode>
                <c:ptCount val="10"/>
                <c:pt idx="0">
                  <c:v>0.35946850345619308</c:v>
                </c:pt>
                <c:pt idx="1">
                  <c:v>0.36156780703913366</c:v>
                </c:pt>
                <c:pt idx="2">
                  <c:v>0.36658799359201694</c:v>
                </c:pt>
                <c:pt idx="3">
                  <c:v>0.3973022978215458</c:v>
                </c:pt>
                <c:pt idx="4">
                  <c:v>3.1070550761057657E-2</c:v>
                </c:pt>
                <c:pt idx="5">
                  <c:v>2.8398564828928545E-2</c:v>
                </c:pt>
                <c:pt idx="6">
                  <c:v>2.5203173374613003E-2</c:v>
                </c:pt>
                <c:pt idx="7">
                  <c:v>2.3668565458570684E-2</c:v>
                </c:pt>
                <c:pt idx="8">
                  <c:v>2.3009369244321065E-2</c:v>
                </c:pt>
                <c:pt idx="9">
                  <c:v>2.2336544266253706E-2</c:v>
                </c:pt>
              </c:numCache>
            </c:numRef>
          </c:val>
          <c:extLst>
            <c:ext xmlns:c16="http://schemas.microsoft.com/office/drawing/2014/chart" uri="{C3380CC4-5D6E-409C-BE32-E72D297353CC}">
              <c16:uniqueId val="{00000016-5AB6-4BDF-A8C1-849C8E4CCDEC}"/>
            </c:ext>
          </c:extLst>
        </c:ser>
        <c:ser>
          <c:idx val="3"/>
          <c:order val="3"/>
          <c:tx>
            <c:strRef>
              <c:f>Munka1!$E$1</c:f>
              <c:strCache>
                <c:ptCount val="1"/>
                <c:pt idx="0">
                  <c:v>Szakgimnázium (2020 előtt: szakgimnázium/technikum; 2016 előtt: szakközépiskola)</c:v>
                </c:pt>
              </c:strCache>
            </c:strRef>
          </c:tx>
          <c:spPr>
            <a:gradFill rotWithShape="1">
              <a:gsLst>
                <a:gs pos="0">
                  <a:schemeClr val="accent3">
                    <a:shade val="80000"/>
                    <a:satMod val="103000"/>
                    <a:lumMod val="102000"/>
                    <a:tint val="94000"/>
                  </a:schemeClr>
                </a:gs>
                <a:gs pos="50000">
                  <a:schemeClr val="accent3">
                    <a:shade val="80000"/>
                    <a:satMod val="110000"/>
                    <a:lumMod val="100000"/>
                    <a:shade val="100000"/>
                  </a:schemeClr>
                </a:gs>
                <a:gs pos="100000">
                  <a:schemeClr val="accent3">
                    <a:shade val="80000"/>
                    <a:lumMod val="99000"/>
                    <a:satMod val="120000"/>
                    <a:shade val="78000"/>
                  </a:schemeClr>
                </a:gs>
              </a:gsLst>
              <a:lin ang="5400000" scaled="0"/>
            </a:gradFill>
            <a:ln>
              <a:solidFill>
                <a:schemeClr val="tx1"/>
              </a:solidFill>
            </a:ln>
            <a:effectLst/>
          </c:spPr>
          <c:invertIfNegative val="0"/>
          <c:dLbls>
            <c:dLbl>
              <c:idx val="7"/>
              <c:layout>
                <c:manualLayout>
                  <c:x val="0"/>
                  <c:y val="-2.5493950305666441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5AB6-4BDF-A8C1-849C8E4CCDEC}"/>
                </c:ext>
              </c:extLst>
            </c:dLbl>
            <c:dLbl>
              <c:idx val="9"/>
              <c:layout>
                <c:manualLayout>
                  <c:x val="-1.3427323185944175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5AB6-4BDF-A8C1-849C8E4CCDEC}"/>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Munka1!$A$7:$A$16</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Munka1!$E$7:$E$16</c:f>
              <c:numCache>
                <c:formatCode>#,##0</c:formatCode>
                <c:ptCount val="10"/>
                <c:pt idx="0">
                  <c:v>29434</c:v>
                </c:pt>
                <c:pt idx="1">
                  <c:v>29381</c:v>
                </c:pt>
                <c:pt idx="2">
                  <c:v>29977</c:v>
                </c:pt>
                <c:pt idx="3">
                  <c:v>33284</c:v>
                </c:pt>
                <c:pt idx="4">
                  <c:v>2819</c:v>
                </c:pt>
                <c:pt idx="5">
                  <c:v>2422</c:v>
                </c:pt>
                <c:pt idx="6">
                  <c:v>2084</c:v>
                </c:pt>
                <c:pt idx="7">
                  <c:v>1903</c:v>
                </c:pt>
                <c:pt idx="8">
                  <c:v>1724</c:v>
                </c:pt>
                <c:pt idx="9">
                  <c:v>1702</c:v>
                </c:pt>
              </c:numCache>
            </c:numRef>
          </c:val>
          <c:extLst>
            <c:ext xmlns:c16="http://schemas.microsoft.com/office/drawing/2014/chart" uri="{C3380CC4-5D6E-409C-BE32-E72D297353CC}">
              <c16:uniqueId val="{00000019-5AB6-4BDF-A8C1-849C8E4CCDEC}"/>
            </c:ext>
          </c:extLst>
        </c:ser>
        <c:ser>
          <c:idx val="4"/>
          <c:order val="4"/>
          <c:spPr>
            <a:gradFill rotWithShape="1">
              <a:gsLst>
                <a:gs pos="0">
                  <a:schemeClr val="accent3">
                    <a:shade val="93000"/>
                    <a:satMod val="103000"/>
                    <a:lumMod val="102000"/>
                    <a:tint val="94000"/>
                  </a:schemeClr>
                </a:gs>
                <a:gs pos="50000">
                  <a:schemeClr val="accent3">
                    <a:shade val="93000"/>
                    <a:satMod val="110000"/>
                    <a:lumMod val="100000"/>
                    <a:shade val="100000"/>
                  </a:schemeClr>
                </a:gs>
                <a:gs pos="100000">
                  <a:schemeClr val="accent3">
                    <a:shade val="93000"/>
                    <a:lumMod val="99000"/>
                    <a:satMod val="120000"/>
                    <a:shade val="78000"/>
                  </a:schemeClr>
                </a:gs>
              </a:gsLst>
              <a:lin ang="5400000" scaled="0"/>
            </a:gra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1A-5AB6-4BDF-A8C1-849C8E4CCDEC}"/>
                </c:ext>
              </c:extLst>
            </c:dLbl>
            <c:dLbl>
              <c:idx val="1"/>
              <c:delete val="1"/>
              <c:extLst>
                <c:ext xmlns:c15="http://schemas.microsoft.com/office/drawing/2012/chart" uri="{CE6537A1-D6FC-4f65-9D91-7224C49458BB}"/>
                <c:ext xmlns:c16="http://schemas.microsoft.com/office/drawing/2014/chart" uri="{C3380CC4-5D6E-409C-BE32-E72D297353CC}">
                  <c16:uniqueId val="{0000001B-5AB6-4BDF-A8C1-849C8E4CCDEC}"/>
                </c:ext>
              </c:extLst>
            </c:dLbl>
            <c:dLbl>
              <c:idx val="2"/>
              <c:delete val="1"/>
              <c:extLst>
                <c:ext xmlns:c15="http://schemas.microsoft.com/office/drawing/2012/chart" uri="{CE6537A1-D6FC-4f65-9D91-7224C49458BB}"/>
                <c:ext xmlns:c16="http://schemas.microsoft.com/office/drawing/2014/chart" uri="{C3380CC4-5D6E-409C-BE32-E72D297353CC}">
                  <c16:uniqueId val="{0000001C-5AB6-4BDF-A8C1-849C8E4CCDEC}"/>
                </c:ext>
              </c:extLst>
            </c:dLbl>
            <c:dLbl>
              <c:idx val="3"/>
              <c:delete val="1"/>
              <c:extLst>
                <c:ext xmlns:c15="http://schemas.microsoft.com/office/drawing/2012/chart" uri="{CE6537A1-D6FC-4f65-9D91-7224C49458BB}"/>
                <c:ext xmlns:c16="http://schemas.microsoft.com/office/drawing/2014/chart" uri="{C3380CC4-5D6E-409C-BE32-E72D297353CC}">
                  <c16:uniqueId val="{0000001D-5AB6-4BDF-A8C1-849C8E4CCDEC}"/>
                </c:ext>
              </c:extLst>
            </c:dLbl>
            <c:dLbl>
              <c:idx val="4"/>
              <c:delete val="1"/>
              <c:extLst>
                <c:ext xmlns:c15="http://schemas.microsoft.com/office/drawing/2012/chart" uri="{CE6537A1-D6FC-4f65-9D91-7224C49458BB}"/>
                <c:ext xmlns:c16="http://schemas.microsoft.com/office/drawing/2014/chart" uri="{C3380CC4-5D6E-409C-BE32-E72D297353CC}">
                  <c16:uniqueId val="{0000001E-5AB6-4BDF-A8C1-849C8E4CCDEC}"/>
                </c:ext>
              </c:extLst>
            </c:dLbl>
            <c:dLbl>
              <c:idx val="5"/>
              <c:layout>
                <c:manualLayout>
                  <c:x val="-1.3427323185942206E-3"/>
                  <c:y val="-9.942640619209916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5AB6-4BDF-A8C1-849C8E4CCDEC}"/>
                </c:ext>
              </c:extLst>
            </c:dLbl>
            <c:dLbl>
              <c:idx val="6"/>
              <c:layout>
                <c:manualLayout>
                  <c:x val="0"/>
                  <c:y val="-0.1019758012226657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5AB6-4BDF-A8C1-849C8E4CCDEC}"/>
                </c:ext>
              </c:extLst>
            </c:dLbl>
            <c:dLbl>
              <c:idx val="7"/>
              <c:layout>
                <c:manualLayout>
                  <c:x val="-2.6854646371885396E-3"/>
                  <c:y val="-0.1172721714060656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5AB6-4BDF-A8C1-849C8E4CCDEC}"/>
                </c:ext>
              </c:extLst>
            </c:dLbl>
            <c:dLbl>
              <c:idx val="8"/>
              <c:layout>
                <c:manualLayout>
                  <c:x val="-9.8465899210439411E-17"/>
                  <c:y val="-0.1223709614671989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5AB6-4BDF-A8C1-849C8E4CCDEC}"/>
                </c:ext>
              </c:extLst>
            </c:dLbl>
            <c:dLbl>
              <c:idx val="9"/>
              <c:layout>
                <c:manualLayout>
                  <c:x val="-1.9693179842087882E-16"/>
                  <c:y val="-0.11727217140606568"/>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5AB6-4BDF-A8C1-849C8E4CCDEC}"/>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Munka1!$A$7:$A$16</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Munka1!$F$7:$F$16</c:f>
              <c:numCache>
                <c:formatCode>0.00%</c:formatCode>
                <c:ptCount val="10"/>
                <c:pt idx="0">
                  <c:v>0</c:v>
                </c:pt>
                <c:pt idx="1">
                  <c:v>0</c:v>
                </c:pt>
                <c:pt idx="2">
                  <c:v>0</c:v>
                </c:pt>
                <c:pt idx="3">
                  <c:v>0</c:v>
                </c:pt>
                <c:pt idx="4">
                  <c:v>0.38700000000000001</c:v>
                </c:pt>
                <c:pt idx="5">
                  <c:v>0.40329999999999999</c:v>
                </c:pt>
                <c:pt idx="6">
                  <c:v>0.41689999999999999</c:v>
                </c:pt>
                <c:pt idx="7">
                  <c:v>0.42949999999999999</c:v>
                </c:pt>
                <c:pt idx="8">
                  <c:v>0.42720000000000002</c:v>
                </c:pt>
                <c:pt idx="9">
                  <c:v>0.58218888888888898</c:v>
                </c:pt>
              </c:numCache>
            </c:numRef>
          </c:val>
          <c:extLst>
            <c:ext xmlns:c16="http://schemas.microsoft.com/office/drawing/2014/chart" uri="{C3380CC4-5D6E-409C-BE32-E72D297353CC}">
              <c16:uniqueId val="{00000024-5AB6-4BDF-A8C1-849C8E4CCDEC}"/>
            </c:ext>
          </c:extLst>
        </c:ser>
        <c:ser>
          <c:idx val="5"/>
          <c:order val="5"/>
          <c:tx>
            <c:strRef>
              <c:f>Munka1!$G$1</c:f>
              <c:strCache>
                <c:ptCount val="1"/>
                <c:pt idx="0">
                  <c:v>Technikum 2021-től</c:v>
                </c:pt>
              </c:strCache>
            </c:strRef>
          </c:tx>
          <c:spPr>
            <a:gradFill rotWithShape="1">
              <a:gsLst>
                <a:gs pos="0">
                  <a:schemeClr val="accent3">
                    <a:tint val="94000"/>
                    <a:satMod val="103000"/>
                    <a:lumMod val="102000"/>
                    <a:tint val="94000"/>
                  </a:schemeClr>
                </a:gs>
                <a:gs pos="50000">
                  <a:schemeClr val="accent3">
                    <a:tint val="94000"/>
                    <a:satMod val="110000"/>
                    <a:lumMod val="100000"/>
                    <a:shade val="100000"/>
                  </a:schemeClr>
                </a:gs>
                <a:gs pos="100000">
                  <a:schemeClr val="accent3">
                    <a:tint val="94000"/>
                    <a:lumMod val="99000"/>
                    <a:satMod val="120000"/>
                    <a:shade val="78000"/>
                  </a:schemeClr>
                </a:gs>
              </a:gsLst>
              <a:lin ang="5400000" scaled="0"/>
            </a:gra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Munka1!$A$7:$A$16</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Munka1!$G$7:$G$16</c:f>
              <c:numCache>
                <c:formatCode>General</c:formatCode>
                <c:ptCount val="10"/>
                <c:pt idx="4" formatCode="#,##0">
                  <c:v>35125</c:v>
                </c:pt>
                <c:pt idx="5" formatCode="#,##0">
                  <c:v>34396</c:v>
                </c:pt>
                <c:pt idx="6" formatCode="#,##0">
                  <c:v>34479</c:v>
                </c:pt>
                <c:pt idx="7" formatCode="#,##0">
                  <c:v>34532</c:v>
                </c:pt>
                <c:pt idx="8" formatCode="#,##0">
                  <c:v>32012</c:v>
                </c:pt>
                <c:pt idx="9" formatCode="#,##0">
                  <c:v>32692</c:v>
                </c:pt>
              </c:numCache>
            </c:numRef>
          </c:val>
          <c:extLst>
            <c:ext xmlns:c16="http://schemas.microsoft.com/office/drawing/2014/chart" uri="{C3380CC4-5D6E-409C-BE32-E72D297353CC}">
              <c16:uniqueId val="{00000025-5AB6-4BDF-A8C1-849C8E4CCDEC}"/>
            </c:ext>
          </c:extLst>
        </c:ser>
        <c:ser>
          <c:idx val="6"/>
          <c:order val="6"/>
          <c:spPr>
            <a:gradFill rotWithShape="1">
              <a:gsLst>
                <a:gs pos="0">
                  <a:schemeClr val="accent3">
                    <a:tint val="81000"/>
                    <a:satMod val="103000"/>
                    <a:lumMod val="102000"/>
                    <a:tint val="94000"/>
                  </a:schemeClr>
                </a:gs>
                <a:gs pos="50000">
                  <a:schemeClr val="accent3">
                    <a:tint val="81000"/>
                    <a:satMod val="110000"/>
                    <a:lumMod val="100000"/>
                    <a:shade val="100000"/>
                  </a:schemeClr>
                </a:gs>
                <a:gs pos="100000">
                  <a:schemeClr val="accent3">
                    <a:tint val="81000"/>
                    <a:lumMod val="99000"/>
                    <a:satMod val="120000"/>
                    <a:shade val="78000"/>
                  </a:schemeClr>
                </a:gs>
              </a:gsLst>
              <a:lin ang="5400000" scaled="0"/>
            </a:gradFill>
            <a:ln>
              <a:noFill/>
            </a:ln>
            <a:effectLst/>
          </c:spPr>
          <c:invertIfNegative val="0"/>
          <c:dLbls>
            <c:dLbl>
              <c:idx val="0"/>
              <c:layout>
                <c:manualLayout>
                  <c:x val="1.3427323185942082E-3"/>
                  <c:y val="-2.039516024453317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5AB6-4BDF-A8C1-849C8E4CCDEC}"/>
                </c:ext>
              </c:extLst>
            </c:dLbl>
            <c:dLbl>
              <c:idx val="1"/>
              <c:layout>
                <c:manualLayout>
                  <c:x val="0"/>
                  <c:y val="-2.29445552750998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5AB6-4BDF-A8C1-849C8E4CCDEC}"/>
                </c:ext>
              </c:extLst>
            </c:dLbl>
            <c:dLbl>
              <c:idx val="2"/>
              <c:layout>
                <c:manualLayout>
                  <c:x val="-1.3427323185942698E-3"/>
                  <c:y val="-2.549395030566644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5AB6-4BDF-A8C1-849C8E4CCDEC}"/>
                </c:ext>
              </c:extLst>
            </c:dLbl>
            <c:dLbl>
              <c:idx val="3"/>
              <c:layout>
                <c:manualLayout>
                  <c:x val="0"/>
                  <c:y val="-2.549395030566644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5AB6-4BDF-A8C1-849C8E4CCDEC}"/>
                </c:ext>
              </c:extLst>
            </c:dLbl>
            <c:dLbl>
              <c:idx val="4"/>
              <c:layout>
                <c:manualLayout>
                  <c:x val="1.3427323185942206E-3"/>
                  <c:y val="-2.039516024453317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5AB6-4BDF-A8C1-849C8E4CCDEC}"/>
                </c:ext>
              </c:extLst>
            </c:dLbl>
            <c:dLbl>
              <c:idx val="5"/>
              <c:layout>
                <c:manualLayout>
                  <c:x val="0"/>
                  <c:y val="-1.784576521396653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5AB6-4BDF-A8C1-849C8E4CCDEC}"/>
                </c:ext>
              </c:extLst>
            </c:dLbl>
            <c:dLbl>
              <c:idx val="6"/>
              <c:layout>
                <c:manualLayout>
                  <c:x val="0"/>
                  <c:y val="-1.784576521396653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5AB6-4BDF-A8C1-849C8E4CCDEC}"/>
                </c:ext>
              </c:extLst>
            </c:dLbl>
            <c:dLbl>
              <c:idx val="7"/>
              <c:layout>
                <c:manualLayout>
                  <c:x val="-9.8465899210439411E-17"/>
                  <c:y val="-1.784576521396651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5AB6-4BDF-A8C1-849C8E4CCDEC}"/>
                </c:ext>
              </c:extLst>
            </c:dLbl>
            <c:dLbl>
              <c:idx val="8"/>
              <c:layout>
                <c:manualLayout>
                  <c:x val="0"/>
                  <c:y val="-2.03951602445331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5AB6-4BDF-A8C1-849C8E4CCDEC}"/>
                </c:ext>
              </c:extLst>
            </c:dLbl>
            <c:dLbl>
              <c:idx val="9"/>
              <c:layout>
                <c:manualLayout>
                  <c:x val="0"/>
                  <c:y val="-1.784576521396653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5AB6-4BDF-A8C1-849C8E4CCDE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Munka1!$A$7:$A$16</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Munka1!$H$7:$H$16</c:f>
              <c:numCache>
                <c:formatCode>0.00%</c:formatCode>
                <c:ptCount val="10"/>
                <c:pt idx="0">
                  <c:v>0.22332136489094062</c:v>
                </c:pt>
                <c:pt idx="1">
                  <c:v>0.21591188776765938</c:v>
                </c:pt>
                <c:pt idx="2">
                  <c:v>0.204321719883091</c:v>
                </c:pt>
                <c:pt idx="3">
                  <c:v>0.18173679498657117</c:v>
                </c:pt>
                <c:pt idx="4">
                  <c:v>0.17415600304202625</c:v>
                </c:pt>
                <c:pt idx="5">
                  <c:v>0.17147011232793191</c:v>
                </c:pt>
                <c:pt idx="6">
                  <c:v>0.1661063273993808</c:v>
                </c:pt>
                <c:pt idx="7">
                  <c:v>0.15872739484092435</c:v>
                </c:pt>
                <c:pt idx="8">
                  <c:v>0.14936070255985906</c:v>
                </c:pt>
                <c:pt idx="9">
                  <c:v>0.13716895456573663</c:v>
                </c:pt>
              </c:numCache>
            </c:numRef>
          </c:val>
          <c:extLst>
            <c:ext xmlns:c16="http://schemas.microsoft.com/office/drawing/2014/chart" uri="{C3380CC4-5D6E-409C-BE32-E72D297353CC}">
              <c16:uniqueId val="{00000030-5AB6-4BDF-A8C1-849C8E4CCDEC}"/>
            </c:ext>
          </c:extLst>
        </c:ser>
        <c:ser>
          <c:idx val="7"/>
          <c:order val="7"/>
          <c:tx>
            <c:strRef>
              <c:f>Munka1!$I$1</c:f>
              <c:strCache>
                <c:ptCount val="1"/>
                <c:pt idx="0">
                  <c:v>Szakképző iskola (2020 előtt: szakközépiskola; 2016 előtt: szakiskola)</c:v>
                </c:pt>
              </c:strCache>
            </c:strRef>
          </c:tx>
          <c:spPr>
            <a:gradFill rotWithShape="1">
              <a:gsLst>
                <a:gs pos="0">
                  <a:schemeClr val="accent3">
                    <a:tint val="69000"/>
                    <a:satMod val="103000"/>
                    <a:lumMod val="102000"/>
                    <a:tint val="94000"/>
                  </a:schemeClr>
                </a:gs>
                <a:gs pos="50000">
                  <a:schemeClr val="accent3">
                    <a:tint val="69000"/>
                    <a:satMod val="110000"/>
                    <a:lumMod val="100000"/>
                    <a:shade val="100000"/>
                  </a:schemeClr>
                </a:gs>
                <a:gs pos="100000">
                  <a:schemeClr val="accent3">
                    <a:tint val="69000"/>
                    <a:lumMod val="99000"/>
                    <a:satMod val="120000"/>
                    <a:shade val="78000"/>
                  </a:schemeClr>
                </a:gs>
              </a:gsLst>
              <a:lin ang="5400000" scaled="0"/>
            </a:gradFill>
            <a:ln w="9525">
              <a:solidFill>
                <a:schemeClr val="tx1"/>
              </a:solidFill>
            </a:ln>
            <a:effectLst/>
          </c:spPr>
          <c:invertIfNegative val="0"/>
          <c:dLbls>
            <c:dLbl>
              <c:idx val="0"/>
              <c:layout>
                <c:manualLayout>
                  <c:x val="0"/>
                  <c:y val="3.059274036679970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5AB6-4BDF-A8C1-849C8E4CCDEC}"/>
                </c:ext>
              </c:extLst>
            </c:dLbl>
            <c:dLbl>
              <c:idx val="1"/>
              <c:layout>
                <c:manualLayout>
                  <c:x val="-1.3427323185942453E-3"/>
                  <c:y val="2.294455527509977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2-5AB6-4BDF-A8C1-849C8E4CCDEC}"/>
                </c:ext>
              </c:extLst>
            </c:dLbl>
            <c:dLbl>
              <c:idx val="2"/>
              <c:layout>
                <c:manualLayout>
                  <c:x val="0"/>
                  <c:y val="1.784576521396648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3-5AB6-4BDF-A8C1-849C8E4CCDEC}"/>
                </c:ext>
              </c:extLst>
            </c:dLbl>
            <c:dLbl>
              <c:idx val="3"/>
              <c:layout>
                <c:manualLayout>
                  <c:x val="0"/>
                  <c:y val="1.019758012226655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5AB6-4BDF-A8C1-849C8E4CCDEC}"/>
                </c:ext>
              </c:extLst>
            </c:dLbl>
            <c:dLbl>
              <c:idx val="5"/>
              <c:layout>
                <c:manualLayout>
                  <c:x val="0"/>
                  <c:y val="7.6481850916999324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5AB6-4BDF-A8C1-849C8E4CCDEC}"/>
                </c:ext>
              </c:extLst>
            </c:dLbl>
            <c:dLbl>
              <c:idx val="6"/>
              <c:layout>
                <c:manualLayout>
                  <c:x val="-2.6854646371885396E-3"/>
                  <c:y val="5.098790061133288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5AB6-4BDF-A8C1-849C8E4CCDEC}"/>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Munka1!$A$7:$A$16</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Munka1!$I$7:$I$16</c:f>
              <c:numCache>
                <c:formatCode>#,##0</c:formatCode>
                <c:ptCount val="10"/>
                <c:pt idx="0">
                  <c:v>18286</c:v>
                </c:pt>
                <c:pt idx="1">
                  <c:v>17545</c:v>
                </c:pt>
                <c:pt idx="2">
                  <c:v>16708</c:v>
                </c:pt>
                <c:pt idx="3">
                  <c:v>15225</c:v>
                </c:pt>
                <c:pt idx="4">
                  <c:v>15801</c:v>
                </c:pt>
                <c:pt idx="5">
                  <c:v>14624</c:v>
                </c:pt>
                <c:pt idx="6">
                  <c:v>13735</c:v>
                </c:pt>
                <c:pt idx="7">
                  <c:v>12762</c:v>
                </c:pt>
                <c:pt idx="8">
                  <c:v>11191</c:v>
                </c:pt>
                <c:pt idx="9">
                  <c:v>10452</c:v>
                </c:pt>
              </c:numCache>
            </c:numRef>
          </c:val>
          <c:extLst>
            <c:ext xmlns:c16="http://schemas.microsoft.com/office/drawing/2014/chart" uri="{C3380CC4-5D6E-409C-BE32-E72D297353CC}">
              <c16:uniqueId val="{00000037-5AB6-4BDF-A8C1-849C8E4CCDEC}"/>
            </c:ext>
          </c:extLst>
        </c:ser>
        <c:ser>
          <c:idx val="8"/>
          <c:order val="8"/>
          <c:spPr>
            <a:gradFill rotWithShape="1">
              <a:gsLst>
                <a:gs pos="0">
                  <a:schemeClr val="accent3">
                    <a:tint val="56000"/>
                    <a:satMod val="103000"/>
                    <a:lumMod val="102000"/>
                    <a:tint val="94000"/>
                  </a:schemeClr>
                </a:gs>
                <a:gs pos="50000">
                  <a:schemeClr val="accent3">
                    <a:tint val="56000"/>
                    <a:satMod val="110000"/>
                    <a:lumMod val="100000"/>
                    <a:shade val="100000"/>
                  </a:schemeClr>
                </a:gs>
                <a:gs pos="100000">
                  <a:schemeClr val="accent3">
                    <a:tint val="56000"/>
                    <a:lumMod val="99000"/>
                    <a:satMod val="120000"/>
                    <a:shade val="78000"/>
                  </a:schemeClr>
                </a:gs>
              </a:gsLst>
              <a:lin ang="5400000" scaled="0"/>
            </a:gradFill>
            <a:ln>
              <a:noFill/>
            </a:ln>
            <a:effectLst/>
          </c:spPr>
          <c:invertIfNegative val="0"/>
          <c:dLbls>
            <c:dLbl>
              <c:idx val="0"/>
              <c:layout>
                <c:manualLayout>
                  <c:x val="0"/>
                  <c:y val="1.784576521396651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5AB6-4BDF-A8C1-849C8E4CCDEC}"/>
                </c:ext>
              </c:extLst>
            </c:dLbl>
            <c:dLbl>
              <c:idx val="1"/>
              <c:layout>
                <c:manualLayout>
                  <c:x val="0"/>
                  <c:y val="1.529637018339986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5AB6-4BDF-A8C1-849C8E4CCDEC}"/>
                </c:ext>
              </c:extLst>
            </c:dLbl>
            <c:dLbl>
              <c:idx val="2"/>
              <c:layout>
                <c:manualLayout>
                  <c:x val="0"/>
                  <c:y val="2.294455527509979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5AB6-4BDF-A8C1-849C8E4CCDEC}"/>
                </c:ext>
              </c:extLst>
            </c:dLbl>
            <c:dLbl>
              <c:idx val="3"/>
              <c:layout>
                <c:manualLayout>
                  <c:x val="0"/>
                  <c:y val="1.784576521396651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5AB6-4BDF-A8C1-849C8E4CCDEC}"/>
                </c:ext>
              </c:extLst>
            </c:dLbl>
            <c:dLbl>
              <c:idx val="4"/>
              <c:layout>
                <c:manualLayout>
                  <c:x val="0"/>
                  <c:y val="1.784576521396651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5AB6-4BDF-A8C1-849C8E4CCDEC}"/>
                </c:ext>
              </c:extLst>
            </c:dLbl>
            <c:dLbl>
              <c:idx val="5"/>
              <c:layout>
                <c:manualLayout>
                  <c:x val="-9.8465899210439411E-17"/>
                  <c:y val="2.03951602445331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5AB6-4BDF-A8C1-849C8E4CCDEC}"/>
                </c:ext>
              </c:extLst>
            </c:dLbl>
            <c:dLbl>
              <c:idx val="6"/>
              <c:layout>
                <c:manualLayout>
                  <c:x val="0"/>
                  <c:y val="2.03951602445331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E-5AB6-4BDF-A8C1-849C8E4CCDEC}"/>
                </c:ext>
              </c:extLst>
            </c:dLbl>
            <c:dLbl>
              <c:idx val="7"/>
              <c:layout>
                <c:manualLayout>
                  <c:x val="-2.6854646371884412E-3"/>
                  <c:y val="1.784576521396651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F-5AB6-4BDF-A8C1-849C8E4CCDEC}"/>
                </c:ext>
              </c:extLst>
            </c:dLbl>
            <c:dLbl>
              <c:idx val="8"/>
              <c:layout>
                <c:manualLayout>
                  <c:x val="-9.8465899210439411E-17"/>
                  <c:y val="1.784576521396651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0-5AB6-4BDF-A8C1-849C8E4CCDEC}"/>
                </c:ext>
              </c:extLst>
            </c:dLbl>
            <c:dLbl>
              <c:idx val="9"/>
              <c:layout>
                <c:manualLayout>
                  <c:x val="0"/>
                  <c:y val="1.529637018339986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5AB6-4BDF-A8C1-849C8E4CCDE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Munka1!$A$7:$A$16</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Munka1!$J$7:$J$16</c:f>
              <c:numCache>
                <c:formatCode>0.00%</c:formatCode>
                <c:ptCount val="10"/>
                <c:pt idx="0">
                  <c:v>1.8319044478639995E-2</c:v>
                </c:pt>
                <c:pt idx="1">
                  <c:v>1.8323898597095743E-2</c:v>
                </c:pt>
                <c:pt idx="2">
                  <c:v>1.7695327308524817E-2</c:v>
                </c:pt>
                <c:pt idx="3">
                  <c:v>1.7547000895255148E-2</c:v>
                </c:pt>
                <c:pt idx="4">
                  <c:v>1.5364436949597151E-2</c:v>
                </c:pt>
                <c:pt idx="5">
                  <c:v>1.5735290669042983E-2</c:v>
                </c:pt>
                <c:pt idx="6">
                  <c:v>1.6253869969040248E-2</c:v>
                </c:pt>
                <c:pt idx="7">
                  <c:v>1.6467252058406507E-2</c:v>
                </c:pt>
                <c:pt idx="8">
                  <c:v>1.9125537196700744E-2</c:v>
                </c:pt>
                <c:pt idx="9">
                  <c:v>1.8609412320533349E-2</c:v>
                </c:pt>
              </c:numCache>
            </c:numRef>
          </c:val>
          <c:extLst>
            <c:ext xmlns:c16="http://schemas.microsoft.com/office/drawing/2014/chart" uri="{C3380CC4-5D6E-409C-BE32-E72D297353CC}">
              <c16:uniqueId val="{00000042-5AB6-4BDF-A8C1-849C8E4CCDEC}"/>
            </c:ext>
          </c:extLst>
        </c:ser>
        <c:ser>
          <c:idx val="9"/>
          <c:order val="9"/>
          <c:tx>
            <c:strRef>
              <c:f>Munka1!$K$1</c:f>
              <c:strCache>
                <c:ptCount val="1"/>
                <c:pt idx="0">
                  <c:v>Szakiskola és készségfejlesztő iskola</c:v>
                </c:pt>
              </c:strCache>
            </c:strRef>
          </c:tx>
          <c:spPr>
            <a:gradFill rotWithShape="1">
              <a:gsLst>
                <a:gs pos="0">
                  <a:schemeClr val="accent3">
                    <a:tint val="43000"/>
                    <a:satMod val="103000"/>
                    <a:lumMod val="102000"/>
                    <a:tint val="94000"/>
                  </a:schemeClr>
                </a:gs>
                <a:gs pos="50000">
                  <a:schemeClr val="accent3">
                    <a:tint val="43000"/>
                    <a:satMod val="110000"/>
                    <a:lumMod val="100000"/>
                    <a:shade val="100000"/>
                  </a:schemeClr>
                </a:gs>
                <a:gs pos="100000">
                  <a:schemeClr val="accent3">
                    <a:tint val="43000"/>
                    <a:lumMod val="99000"/>
                    <a:satMod val="120000"/>
                    <a:shade val="78000"/>
                  </a:schemeClr>
                </a:gs>
              </a:gsLst>
              <a:lin ang="5400000" scaled="0"/>
            </a:gradFill>
            <a:ln>
              <a:solidFill>
                <a:schemeClr val="tx1"/>
              </a:solidFill>
            </a:ln>
            <a:effectLst/>
          </c:spPr>
          <c:invertIfNegative val="0"/>
          <c:dLbls>
            <c:dLbl>
              <c:idx val="0"/>
              <c:layout>
                <c:manualLayout>
                  <c:x val="0"/>
                  <c:y val="-1.784576521396651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3-5AB6-4BDF-A8C1-849C8E4CCDEC}"/>
                </c:ext>
              </c:extLst>
            </c:dLbl>
            <c:dLbl>
              <c:idx val="1"/>
              <c:layout>
                <c:manualLayout>
                  <c:x val="0"/>
                  <c:y val="-2.03951602445331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5AB6-4BDF-A8C1-849C8E4CCDEC}"/>
                </c:ext>
              </c:extLst>
            </c:dLbl>
            <c:dLbl>
              <c:idx val="2"/>
              <c:layout>
                <c:manualLayout>
                  <c:x val="0"/>
                  <c:y val="-2.294455527509979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5AB6-4BDF-A8C1-849C8E4CCDEC}"/>
                </c:ext>
              </c:extLst>
            </c:dLbl>
            <c:dLbl>
              <c:idx val="3"/>
              <c:layout>
                <c:manualLayout>
                  <c:x val="-4.9232949605219706E-17"/>
                  <c:y val="-2.03951602445331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5AB6-4BDF-A8C1-849C8E4CCDEC}"/>
                </c:ext>
              </c:extLst>
            </c:dLbl>
            <c:dLbl>
              <c:idx val="4"/>
              <c:layout>
                <c:manualLayout>
                  <c:x val="-9.8465899210439411E-17"/>
                  <c:y val="-2.294455527509979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7-5AB6-4BDF-A8C1-849C8E4CCDEC}"/>
                </c:ext>
              </c:extLst>
            </c:dLbl>
            <c:dLbl>
              <c:idx val="5"/>
              <c:layout>
                <c:manualLayout>
                  <c:x val="-9.8465899210439411E-17"/>
                  <c:y val="-2.03951602445331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5AB6-4BDF-A8C1-849C8E4CCDEC}"/>
                </c:ext>
              </c:extLst>
            </c:dLbl>
            <c:dLbl>
              <c:idx val="6"/>
              <c:layout>
                <c:manualLayout>
                  <c:x val="0"/>
                  <c:y val="-2.03951602445331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9-5AB6-4BDF-A8C1-849C8E4CCDEC}"/>
                </c:ext>
              </c:extLst>
            </c:dLbl>
            <c:dLbl>
              <c:idx val="7"/>
              <c:layout>
                <c:manualLayout>
                  <c:x val="-1.3400333594447379E-3"/>
                  <c:y val="-2.021819336639859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A-5AB6-4BDF-A8C1-849C8E4CCDEC}"/>
                </c:ext>
              </c:extLst>
            </c:dLbl>
            <c:dLbl>
              <c:idx val="8"/>
              <c:layout>
                <c:manualLayout>
                  <c:x val="-1.3400333594446394E-3"/>
                  <c:y val="-2.074891884066093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5AB6-4BDF-A8C1-849C8E4CCDEC}"/>
                </c:ext>
              </c:extLst>
            </c:dLbl>
            <c:dLbl>
              <c:idx val="9"/>
              <c:layout>
                <c:manualLayout>
                  <c:x val="-1.9693179842087882E-16"/>
                  <c:y val="-2.294455527509979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C-5AB6-4BDF-A8C1-849C8E4CCDEC}"/>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ysClr val="windowText" lastClr="000000"/>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Munka1!$A$7:$A$16</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Munka1!$K$7:$K$16</c:f>
              <c:numCache>
                <c:formatCode>#,##0</c:formatCode>
                <c:ptCount val="10"/>
                <c:pt idx="0">
                  <c:v>1500</c:v>
                </c:pt>
                <c:pt idx="1">
                  <c:v>1489</c:v>
                </c:pt>
                <c:pt idx="2">
                  <c:v>1447</c:v>
                </c:pt>
                <c:pt idx="3">
                  <c:v>1470</c:v>
                </c:pt>
                <c:pt idx="4">
                  <c:v>1394</c:v>
                </c:pt>
                <c:pt idx="5">
                  <c:v>1342</c:v>
                </c:pt>
                <c:pt idx="6">
                  <c:v>1344</c:v>
                </c:pt>
                <c:pt idx="7">
                  <c:v>1324</c:v>
                </c:pt>
                <c:pt idx="8">
                  <c:v>1433</c:v>
                </c:pt>
                <c:pt idx="9">
                  <c:v>1418</c:v>
                </c:pt>
              </c:numCache>
            </c:numRef>
          </c:val>
          <c:extLst>
            <c:ext xmlns:c16="http://schemas.microsoft.com/office/drawing/2014/chart" uri="{C3380CC4-5D6E-409C-BE32-E72D297353CC}">
              <c16:uniqueId val="{0000004D-5AB6-4BDF-A8C1-849C8E4CCDEC}"/>
            </c:ext>
          </c:extLst>
        </c:ser>
        <c:dLbls>
          <c:dLblPos val="ctr"/>
          <c:showLegendKey val="0"/>
          <c:showVal val="1"/>
          <c:showCatName val="0"/>
          <c:showSerName val="0"/>
          <c:showPercent val="0"/>
          <c:showBubbleSize val="0"/>
        </c:dLbls>
        <c:gapWidth val="77"/>
        <c:overlap val="100"/>
        <c:axId val="552402352"/>
        <c:axId val="552401368"/>
      </c:barChart>
      <c:catAx>
        <c:axId val="552402352"/>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crossAx val="552401368"/>
        <c:crosses val="autoZero"/>
        <c:auto val="1"/>
        <c:lblAlgn val="ctr"/>
        <c:lblOffset val="100"/>
        <c:noMultiLvlLbl val="0"/>
      </c:catAx>
      <c:valAx>
        <c:axId val="552401368"/>
        <c:scaling>
          <c:orientation val="minMax"/>
        </c:scaling>
        <c:delete val="0"/>
        <c:axPos val="l"/>
        <c:majorGridlines>
          <c:spPr>
            <a:ln w="9525" cap="flat" cmpd="sng" algn="ctr">
              <a:solidFill>
                <a:schemeClr val="tx2">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crossAx val="552402352"/>
        <c:crosses val="autoZero"/>
        <c:crossBetween val="between"/>
      </c:valAx>
      <c:spPr>
        <a:noFill/>
        <a:ln w="9525">
          <a:noFill/>
        </a:ln>
        <a:effectLst/>
      </c:spPr>
    </c:plotArea>
    <c:legend>
      <c:legendPos val="r"/>
      <c:legendEntry>
        <c:idx val="1"/>
        <c:delete val="1"/>
      </c:legendEntry>
      <c:legendEntry>
        <c:idx val="3"/>
        <c:delete val="1"/>
      </c:legendEntry>
      <c:legendEntry>
        <c:idx val="5"/>
        <c:delete val="1"/>
      </c:legendEntry>
      <c:legendEntry>
        <c:idx val="7"/>
        <c:delete val="1"/>
      </c:legendEntry>
      <c:legendEntry>
        <c:idx val="9"/>
        <c:delete val="1"/>
      </c:legendEntry>
      <c:layout>
        <c:manualLayout>
          <c:xMode val="edge"/>
          <c:yMode val="edge"/>
          <c:x val="0.12462886489310876"/>
          <c:y val="0.84136908542567201"/>
          <c:w val="0.70181478202379588"/>
          <c:h val="0.1395823890200165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legend>
    <c:plotVisOnly val="1"/>
    <c:dispBlanksAs val="gap"/>
    <c:showDLblsOverMax val="0"/>
  </c:chart>
  <c:spPr>
    <a:noFill/>
    <a:ln>
      <a:noFill/>
    </a:ln>
    <a:effectLst/>
  </c:spPr>
  <c:txPr>
    <a:bodyPr/>
    <a:lstStyle/>
    <a:p>
      <a:pPr>
        <a:defRPr/>
      </a:pPr>
      <a:endParaRPr lang="hu-HU"/>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4.4398945691893947E-2"/>
          <c:y val="2.9727170440621783E-2"/>
          <c:w val="0.94163280173650277"/>
          <c:h val="0.7525507827870217"/>
        </c:manualLayout>
      </c:layout>
      <c:barChart>
        <c:barDir val="col"/>
        <c:grouping val="percentStacked"/>
        <c:varyColors val="0"/>
        <c:ser>
          <c:idx val="0"/>
          <c:order val="0"/>
          <c:tx>
            <c:strRef>
              <c:f>Munka1!$C$1</c:f>
              <c:strCache>
                <c:ptCount val="1"/>
                <c:pt idx="0">
                  <c:v>4 (vagy 5) évfolyamos gimnázium</c:v>
                </c:pt>
              </c:strCache>
            </c:strRef>
          </c:tx>
          <c:spPr>
            <a:solidFill>
              <a:schemeClr val="accent3">
                <a:shade val="42000"/>
              </a:schemeClr>
            </a:solidFill>
            <a:ln>
              <a:noFill/>
            </a:ln>
            <a:effectLst/>
          </c:spPr>
          <c:invertIfNegative val="0"/>
          <c:dLbls>
            <c:dLbl>
              <c:idx val="0"/>
              <c:layout>
                <c:manualLayout>
                  <c:x val="0"/>
                  <c:y val="-9.964414672834118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E7F-4CC9-9BBB-5E57626AE31F}"/>
                </c:ext>
              </c:extLst>
            </c:dLbl>
            <c:dLbl>
              <c:idx val="1"/>
              <c:layout>
                <c:manualLayout>
                  <c:x val="-2.3280152018369463E-17"/>
                  <c:y val="-0.10201662641234939"/>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E7F-4CC9-9BBB-5E57626AE31F}"/>
                </c:ext>
              </c:extLst>
            </c:dLbl>
            <c:dLbl>
              <c:idx val="2"/>
              <c:layout>
                <c:manualLayout>
                  <c:x val="0"/>
                  <c:y val="-9.252670767631697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E7F-4CC9-9BBB-5E57626AE31F}"/>
                </c:ext>
              </c:extLst>
            </c:dLbl>
            <c:dLbl>
              <c:idx val="3"/>
              <c:layout>
                <c:manualLayout>
                  <c:x val="0"/>
                  <c:y val="-9.252670767631697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E7F-4CC9-9BBB-5E57626AE31F}"/>
                </c:ext>
              </c:extLst>
            </c:dLbl>
            <c:dLbl>
              <c:idx val="4"/>
              <c:layout>
                <c:manualLayout>
                  <c:x val="-1.2698411428730266E-3"/>
                  <c:y val="-9.252670767631680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E7F-4CC9-9BBB-5E57626AE31F}"/>
                </c:ext>
              </c:extLst>
            </c:dLbl>
            <c:dLbl>
              <c:idx val="5"/>
              <c:layout>
                <c:manualLayout>
                  <c:x val="0"/>
                  <c:y val="-8.778174830830047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E7F-4CC9-9BBB-5E57626AE31F}"/>
                </c:ext>
              </c:extLst>
            </c:dLbl>
            <c:dLbl>
              <c:idx val="6"/>
              <c:layout>
                <c:manualLayout>
                  <c:x val="0"/>
                  <c:y val="-9.015422799230876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E7F-4CC9-9BBB-5E57626AE31F}"/>
                </c:ext>
              </c:extLst>
            </c:dLbl>
            <c:dLbl>
              <c:idx val="7"/>
              <c:layout>
                <c:manualLayout>
                  <c:x val="0"/>
                  <c:y val="-9.252670767631680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E7F-4CC9-9BBB-5E57626AE31F}"/>
                </c:ext>
              </c:extLst>
            </c:dLbl>
            <c:dLbl>
              <c:idx val="8"/>
              <c:layout>
                <c:manualLayout>
                  <c:x val="0"/>
                  <c:y val="-9.252670767631680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4E7F-4CC9-9BBB-5E57626AE31F}"/>
                </c:ext>
              </c:extLst>
            </c:dLbl>
            <c:dLbl>
              <c:idx val="9"/>
              <c:layout>
                <c:manualLayout>
                  <c:x val="0"/>
                  <c:y val="-9.015422799230876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E7F-4CC9-9BBB-5E57626AE31F}"/>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Munka1!$A$2:$A$11</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Munka1!$B$2:$B$11</c:f>
              <c:numCache>
                <c:formatCode>0.00%</c:formatCode>
                <c:ptCount val="10"/>
                <c:pt idx="0">
                  <c:v>0.36430074467951101</c:v>
                </c:pt>
                <c:pt idx="1">
                  <c:v>0.36590177287363301</c:v>
                </c:pt>
                <c:pt idx="2">
                  <c:v>0.36429322955620103</c:v>
                </c:pt>
                <c:pt idx="3">
                  <c:v>0.35769173566010598</c:v>
                </c:pt>
                <c:pt idx="4">
                  <c:v>0.340756569448455</c:v>
                </c:pt>
                <c:pt idx="5">
                  <c:v>0.34514216575922602</c:v>
                </c:pt>
                <c:pt idx="6">
                  <c:v>0.34726307393190098</c:v>
                </c:pt>
                <c:pt idx="7">
                  <c:v>0.35006451448062598</c:v>
                </c:pt>
                <c:pt idx="8">
                  <c:v>0.35888876778026102</c:v>
                </c:pt>
                <c:pt idx="9">
                  <c:v>0.37177363330305135</c:v>
                </c:pt>
              </c:numCache>
            </c:numRef>
          </c:val>
          <c:extLst>
            <c:ext xmlns:c16="http://schemas.microsoft.com/office/drawing/2014/chart" uri="{C3380CC4-5D6E-409C-BE32-E72D297353CC}">
              <c16:uniqueId val="{0000000A-4E7F-4CC9-9BBB-5E57626AE31F}"/>
            </c:ext>
          </c:extLst>
        </c:ser>
        <c:ser>
          <c:idx val="1"/>
          <c:order val="1"/>
          <c:tx>
            <c:strRef>
              <c:f>Munka1!$C$1</c:f>
              <c:strCache>
                <c:ptCount val="1"/>
                <c:pt idx="0">
                  <c:v>4 (vagy 5) évfolyamos gimnázium</c:v>
                </c:pt>
              </c:strCache>
            </c:strRef>
          </c:tx>
          <c:spPr>
            <a:solidFill>
              <a:schemeClr val="accent3">
                <a:shade val="55000"/>
              </a:schemeClr>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Munka1!$A$2:$A$11</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Munka1!$C$2:$C$11</c:f>
              <c:numCache>
                <c:formatCode>#,##0</c:formatCode>
                <c:ptCount val="10"/>
                <c:pt idx="0">
                  <c:v>28912</c:v>
                </c:pt>
                <c:pt idx="1">
                  <c:v>28750</c:v>
                </c:pt>
                <c:pt idx="2">
                  <c:v>28738</c:v>
                </c:pt>
                <c:pt idx="3">
                  <c:v>28860</c:v>
                </c:pt>
                <c:pt idx="4">
                  <c:v>29501</c:v>
                </c:pt>
                <c:pt idx="5">
                  <c:v>28526</c:v>
                </c:pt>
                <c:pt idx="6">
                  <c:v>27863</c:v>
                </c:pt>
                <c:pt idx="7">
                  <c:v>27402</c:v>
                </c:pt>
                <c:pt idx="8">
                  <c:v>26341</c:v>
                </c:pt>
                <c:pt idx="9">
                  <c:v>27828</c:v>
                </c:pt>
              </c:numCache>
            </c:numRef>
          </c:val>
          <c:extLst>
            <c:ext xmlns:c16="http://schemas.microsoft.com/office/drawing/2014/chart" uri="{C3380CC4-5D6E-409C-BE32-E72D297353CC}">
              <c16:uniqueId val="{0000000B-4E7F-4CC9-9BBB-5E57626AE31F}"/>
            </c:ext>
          </c:extLst>
        </c:ser>
        <c:ser>
          <c:idx val="2"/>
          <c:order val="2"/>
          <c:tx>
            <c:strRef>
              <c:f>Munka1!$C$1</c:f>
              <c:strCache>
                <c:ptCount val="1"/>
                <c:pt idx="0">
                  <c:v>4 (vagy 5) évfolyamos gimnázium</c:v>
                </c:pt>
              </c:strCache>
            </c:strRef>
          </c:tx>
          <c:spPr>
            <a:solidFill>
              <a:schemeClr val="accent3">
                <a:shade val="68000"/>
              </a:schemeClr>
            </a:solidFill>
            <a:ln>
              <a:noFill/>
            </a:ln>
            <a:effectLst/>
          </c:spPr>
          <c:invertIfNegative val="0"/>
          <c:dLbls>
            <c:dLbl>
              <c:idx val="0"/>
              <c:layout>
                <c:manualLayout>
                  <c:x val="0"/>
                  <c:y val="-9.964414672834118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4E7F-4CC9-9BBB-5E57626AE31F}"/>
                </c:ext>
              </c:extLst>
            </c:dLbl>
            <c:dLbl>
              <c:idx val="1"/>
              <c:layout>
                <c:manualLayout>
                  <c:x val="-2.3280152018369463E-17"/>
                  <c:y val="-8.778174830830064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4E7F-4CC9-9BBB-5E57626AE31F}"/>
                </c:ext>
              </c:extLst>
            </c:dLbl>
            <c:dLbl>
              <c:idx val="2"/>
              <c:layout>
                <c:manualLayout>
                  <c:x val="0"/>
                  <c:y val="-8.778174830830064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4E7F-4CC9-9BBB-5E57626AE31F}"/>
                </c:ext>
              </c:extLst>
            </c:dLbl>
            <c:dLbl>
              <c:idx val="3"/>
              <c:layout>
                <c:manualLayout>
                  <c:x val="0"/>
                  <c:y val="-0.1043891060963574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4E7F-4CC9-9BBB-5E57626AE31F}"/>
                </c:ext>
              </c:extLst>
            </c:dLbl>
            <c:dLbl>
              <c:idx val="4"/>
              <c:layout>
                <c:manualLayout>
                  <c:x val="0"/>
                  <c:y val="-0.1067615857803655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E7F-4CC9-9BBB-5E57626AE31F}"/>
                </c:ext>
              </c:extLst>
            </c:dLbl>
            <c:dLbl>
              <c:idx val="5"/>
              <c:layout>
                <c:manualLayout>
                  <c:x val="-9.3120608073477854E-17"/>
                  <c:y val="1.423487810404865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4E7F-4CC9-9BBB-5E57626AE31F}"/>
                </c:ext>
              </c:extLst>
            </c:dLbl>
            <c:dLbl>
              <c:idx val="6"/>
              <c:layout>
                <c:manualLayout>
                  <c:x val="-9.3120608073477854E-17"/>
                  <c:y val="1.660735778805677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4E7F-4CC9-9BBB-5E57626AE31F}"/>
                </c:ext>
              </c:extLst>
            </c:dLbl>
            <c:dLbl>
              <c:idx val="7"/>
              <c:layout>
                <c:manualLayout>
                  <c:x val="0"/>
                  <c:y val="1.897983747206498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4E7F-4CC9-9BBB-5E57626AE31F}"/>
                </c:ext>
              </c:extLst>
            </c:dLbl>
            <c:dLbl>
              <c:idx val="8"/>
              <c:layout>
                <c:manualLayout>
                  <c:x val="0"/>
                  <c:y val="2.135231715607310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4E7F-4CC9-9BBB-5E57626AE31F}"/>
                </c:ext>
              </c:extLst>
            </c:dLbl>
            <c:dLbl>
              <c:idx val="9"/>
              <c:layout>
                <c:manualLayout>
                  <c:x val="0"/>
                  <c:y val="2.135231715607302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4E7F-4CC9-9BBB-5E57626AE31F}"/>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Munka1!$A$2:$A$11</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Munka1!$D$2:$D$11</c:f>
              <c:numCache>
                <c:formatCode>0.00%</c:formatCode>
                <c:ptCount val="10"/>
                <c:pt idx="0">
                  <c:v>0.38020236130186602</c:v>
                </c:pt>
                <c:pt idx="1">
                  <c:v>0.384343222226465</c:v>
                </c:pt>
                <c:pt idx="2">
                  <c:v>0.394957344049083</c:v>
                </c:pt>
                <c:pt idx="3">
                  <c:v>0.421037628278221</c:v>
                </c:pt>
                <c:pt idx="4">
                  <c:v>2.8645682933872402E-2</c:v>
                </c:pt>
                <c:pt idx="5">
                  <c:v>2.4307320024198401E-2</c:v>
                </c:pt>
                <c:pt idx="6">
                  <c:v>2.1748342389949601E-2</c:v>
                </c:pt>
                <c:pt idx="7">
                  <c:v>2.1743296242829901E-2</c:v>
                </c:pt>
                <c:pt idx="8">
                  <c:v>2.16769306229222E-2</c:v>
                </c:pt>
                <c:pt idx="9">
                  <c:v>2.1696147063538715E-2</c:v>
                </c:pt>
              </c:numCache>
            </c:numRef>
          </c:val>
          <c:extLst>
            <c:ext xmlns:c16="http://schemas.microsoft.com/office/drawing/2014/chart" uri="{C3380CC4-5D6E-409C-BE32-E72D297353CC}">
              <c16:uniqueId val="{00000016-4E7F-4CC9-9BBB-5E57626AE31F}"/>
            </c:ext>
          </c:extLst>
        </c:ser>
        <c:ser>
          <c:idx val="3"/>
          <c:order val="3"/>
          <c:tx>
            <c:strRef>
              <c:f>Munka1!$E$1</c:f>
              <c:strCache>
                <c:ptCount val="1"/>
                <c:pt idx="0">
                  <c:v>Szakgimnázium (2020 előtt: szakgimnázium/technikum; 2016 előtt: szakközépiskola)</c:v>
                </c:pt>
              </c:strCache>
            </c:strRef>
          </c:tx>
          <c:spPr>
            <a:solidFill>
              <a:schemeClr val="accent3">
                <a:shade val="80000"/>
              </a:schemeClr>
            </a:solidFill>
            <a:ln>
              <a:solidFill>
                <a:schemeClr val="tx1"/>
              </a:solidFill>
            </a:ln>
            <a:effectLst/>
          </c:spPr>
          <c:invertIfNegative val="0"/>
          <c:dLbls>
            <c:dLbl>
              <c:idx val="5"/>
              <c:layout>
                <c:manualLayout>
                  <c:x val="-9.3120608073477854E-17"/>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4E7F-4CC9-9BBB-5E57626AE31F}"/>
                </c:ext>
              </c:extLst>
            </c:dLbl>
            <c:dLbl>
              <c:idx val="6"/>
              <c:layout>
                <c:manualLayout>
                  <c:x val="0"/>
                  <c:y val="-1.5765471176568046E-4"/>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4E7F-4CC9-9BBB-5E57626AE31F}"/>
                </c:ext>
              </c:extLst>
            </c:dLbl>
            <c:dLbl>
              <c:idx val="7"/>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extLst>
                <c:ext xmlns:c16="http://schemas.microsoft.com/office/drawing/2014/chart" uri="{C3380CC4-5D6E-409C-BE32-E72D297353CC}">
                  <c16:uniqueId val="{00000019-4E7F-4CC9-9BBB-5E57626AE31F}"/>
                </c:ext>
              </c:extLst>
            </c:dLbl>
            <c:dLbl>
              <c:idx val="8"/>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extLst>
                <c:ext xmlns:c16="http://schemas.microsoft.com/office/drawing/2014/chart" uri="{C3380CC4-5D6E-409C-BE32-E72D297353CC}">
                  <c16:uniqueId val="{0000001A-4E7F-4CC9-9BBB-5E57626AE31F}"/>
                </c:ext>
              </c:extLst>
            </c:dLbl>
            <c:dLbl>
              <c:idx val="9"/>
              <c:spPr>
                <a:noFill/>
                <a:ln>
                  <a:noFill/>
                </a:ln>
                <a:effectLst/>
              </c:spPr>
              <c:txPr>
                <a:bodyPr rot="0" spcFirstLastPara="1" vertOverflow="ellipsis" vert="horz" wrap="square" lIns="38100" tIns="19050" rIns="38100" bIns="19050" anchor="ctr" anchorCtr="1">
                  <a:noAutofit/>
                </a:bodyPr>
                <a:lstStyle/>
                <a:p>
                  <a:pPr>
                    <a:defRPr sz="900" b="1"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a:noFill/>
                    <a:ln>
                      <a:noFill/>
                    </a:ln>
                  </c15:spPr>
                </c:ext>
                <c:ext xmlns:c16="http://schemas.microsoft.com/office/drawing/2014/chart" uri="{C3380CC4-5D6E-409C-BE32-E72D297353CC}">
                  <c16:uniqueId val="{0000001B-4E7F-4CC9-9BBB-5E57626AE31F}"/>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Munka1!$A$2:$A$11</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Munka1!$E$2:$E$11</c:f>
              <c:numCache>
                <c:formatCode>#,##0</c:formatCode>
                <c:ptCount val="10"/>
                <c:pt idx="0">
                  <c:v>30174</c:v>
                </c:pt>
                <c:pt idx="1">
                  <c:v>30199</c:v>
                </c:pt>
                <c:pt idx="2">
                  <c:v>31157</c:v>
                </c:pt>
                <c:pt idx="3">
                  <c:v>33971</c:v>
                </c:pt>
                <c:pt idx="4">
                  <c:v>2480</c:v>
                </c:pt>
                <c:pt idx="5">
                  <c:v>2009</c:v>
                </c:pt>
                <c:pt idx="6">
                  <c:v>1745</c:v>
                </c:pt>
                <c:pt idx="7">
                  <c:v>1702</c:v>
                </c:pt>
                <c:pt idx="8">
                  <c:v>1591</c:v>
                </c:pt>
                <c:pt idx="9">
                  <c:v>1624</c:v>
                </c:pt>
              </c:numCache>
            </c:numRef>
          </c:val>
          <c:extLst>
            <c:ext xmlns:c16="http://schemas.microsoft.com/office/drawing/2014/chart" uri="{C3380CC4-5D6E-409C-BE32-E72D297353CC}">
              <c16:uniqueId val="{0000001C-4E7F-4CC9-9BBB-5E57626AE31F}"/>
            </c:ext>
          </c:extLst>
        </c:ser>
        <c:ser>
          <c:idx val="4"/>
          <c:order val="4"/>
          <c:tx>
            <c:strRef>
              <c:f>Munka1!$E$1</c:f>
              <c:strCache>
                <c:ptCount val="1"/>
                <c:pt idx="0">
                  <c:v>Szakgimnázium (2020 előtt: szakgimnázium/technikum; 2016 előtt: szakközépiskola)</c:v>
                </c:pt>
              </c:strCache>
            </c:strRef>
          </c:tx>
          <c:spPr>
            <a:solidFill>
              <a:schemeClr val="accent3">
                <a:shade val="93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1D-4E7F-4CC9-9BBB-5E57626AE31F}"/>
                </c:ext>
              </c:extLst>
            </c:dLbl>
            <c:dLbl>
              <c:idx val="1"/>
              <c:delete val="1"/>
              <c:extLst>
                <c:ext xmlns:c15="http://schemas.microsoft.com/office/drawing/2012/chart" uri="{CE6537A1-D6FC-4f65-9D91-7224C49458BB}"/>
                <c:ext xmlns:c16="http://schemas.microsoft.com/office/drawing/2014/chart" uri="{C3380CC4-5D6E-409C-BE32-E72D297353CC}">
                  <c16:uniqueId val="{0000001E-4E7F-4CC9-9BBB-5E57626AE31F}"/>
                </c:ext>
              </c:extLst>
            </c:dLbl>
            <c:dLbl>
              <c:idx val="2"/>
              <c:delete val="1"/>
              <c:extLst>
                <c:ext xmlns:c15="http://schemas.microsoft.com/office/drawing/2012/chart" uri="{CE6537A1-D6FC-4f65-9D91-7224C49458BB}"/>
                <c:ext xmlns:c16="http://schemas.microsoft.com/office/drawing/2014/chart" uri="{C3380CC4-5D6E-409C-BE32-E72D297353CC}">
                  <c16:uniqueId val="{0000001F-4E7F-4CC9-9BBB-5E57626AE31F}"/>
                </c:ext>
              </c:extLst>
            </c:dLbl>
            <c:dLbl>
              <c:idx val="3"/>
              <c:delete val="1"/>
              <c:extLst>
                <c:ext xmlns:c15="http://schemas.microsoft.com/office/drawing/2012/chart" uri="{CE6537A1-D6FC-4f65-9D91-7224C49458BB}"/>
                <c:ext xmlns:c16="http://schemas.microsoft.com/office/drawing/2014/chart" uri="{C3380CC4-5D6E-409C-BE32-E72D297353CC}">
                  <c16:uniqueId val="{00000020-4E7F-4CC9-9BBB-5E57626AE31F}"/>
                </c:ext>
              </c:extLst>
            </c:dLbl>
            <c:dLbl>
              <c:idx val="4"/>
              <c:delete val="1"/>
              <c:extLst>
                <c:ext xmlns:c15="http://schemas.microsoft.com/office/drawing/2012/chart" uri="{CE6537A1-D6FC-4f65-9D91-7224C49458BB}"/>
                <c:ext xmlns:c16="http://schemas.microsoft.com/office/drawing/2014/chart" uri="{C3380CC4-5D6E-409C-BE32-E72D297353CC}">
                  <c16:uniqueId val="{00000021-4E7F-4CC9-9BBB-5E57626AE31F}"/>
                </c:ext>
              </c:extLst>
            </c:dLbl>
            <c:dLbl>
              <c:idx val="5"/>
              <c:layout>
                <c:manualLayout>
                  <c:x val="0"/>
                  <c:y val="-0.1138790248323899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4E7F-4CC9-9BBB-5E57626AE31F}"/>
                </c:ext>
              </c:extLst>
            </c:dLbl>
            <c:dLbl>
              <c:idx val="6"/>
              <c:layout>
                <c:manualLayout>
                  <c:x val="0"/>
                  <c:y val="-0.1138790248323899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4E7F-4CC9-9BBB-5E57626AE31F}"/>
                </c:ext>
              </c:extLst>
            </c:dLbl>
            <c:dLbl>
              <c:idx val="7"/>
              <c:layout>
                <c:manualLayout>
                  <c:x val="0"/>
                  <c:y val="-0.1162515045163980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4E7F-4CC9-9BBB-5E57626AE31F}"/>
                </c:ext>
              </c:extLst>
            </c:dLbl>
            <c:dLbl>
              <c:idx val="8"/>
              <c:layout>
                <c:manualLayout>
                  <c:x val="0"/>
                  <c:y val="-0.1233689435684224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4E7F-4CC9-9BBB-5E57626AE31F}"/>
                </c:ext>
              </c:extLst>
            </c:dLbl>
            <c:dLbl>
              <c:idx val="9"/>
              <c:layout>
                <c:manualLayout>
                  <c:x val="1.2698411428730266E-3"/>
                  <c:y val="-0.11625150451639804"/>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4E7F-4CC9-9BBB-5E57626AE31F}"/>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Munka1!$A$2:$A$11</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Munka1!$F$2:$F$11</c:f>
              <c:numCache>
                <c:formatCode>0.00%</c:formatCode>
                <c:ptCount val="10"/>
                <c:pt idx="0">
                  <c:v>0</c:v>
                </c:pt>
                <c:pt idx="1">
                  <c:v>0</c:v>
                </c:pt>
                <c:pt idx="2">
                  <c:v>0</c:v>
                </c:pt>
                <c:pt idx="3">
                  <c:v>0</c:v>
                </c:pt>
                <c:pt idx="4">
                  <c:v>0.40988738088362697</c:v>
                </c:pt>
                <c:pt idx="5">
                  <c:v>0.421427707199032</c:v>
                </c:pt>
                <c:pt idx="6">
                  <c:v>0.428423650231816</c:v>
                </c:pt>
                <c:pt idx="7">
                  <c:v>0.43342233350792703</c:v>
                </c:pt>
                <c:pt idx="8">
                  <c:v>0.43450596762766402</c:v>
                </c:pt>
                <c:pt idx="9">
                  <c:v>0.43389622187783894</c:v>
                </c:pt>
              </c:numCache>
            </c:numRef>
          </c:val>
          <c:extLst>
            <c:ext xmlns:c16="http://schemas.microsoft.com/office/drawing/2014/chart" uri="{C3380CC4-5D6E-409C-BE32-E72D297353CC}">
              <c16:uniqueId val="{00000027-4E7F-4CC9-9BBB-5E57626AE31F}"/>
            </c:ext>
          </c:extLst>
        </c:ser>
        <c:ser>
          <c:idx val="5"/>
          <c:order val="5"/>
          <c:tx>
            <c:strRef>
              <c:f>Munka1!$G$1</c:f>
              <c:strCache>
                <c:ptCount val="1"/>
                <c:pt idx="0">
                  <c:v>Technikum 2021-től</c:v>
                </c:pt>
              </c:strCache>
            </c:strRef>
          </c:tx>
          <c:spPr>
            <a:solidFill>
              <a:schemeClr val="accent3">
                <a:tint val="94000"/>
              </a:schemeClr>
            </a:solidFill>
            <a:ln>
              <a:solidFill>
                <a:schemeClr val="tx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Munka1!$A$2:$A$11</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Munka1!$G$2:$G$11</c:f>
              <c:numCache>
                <c:formatCode>General</c:formatCode>
                <c:ptCount val="10"/>
                <c:pt idx="4" formatCode="#,##0">
                  <c:v>35486</c:v>
                </c:pt>
                <c:pt idx="5" formatCode="#,##0">
                  <c:v>34831</c:v>
                </c:pt>
                <c:pt idx="6" formatCode="#,##0">
                  <c:v>34375</c:v>
                </c:pt>
                <c:pt idx="7" formatCode="#,##0">
                  <c:v>33927</c:v>
                </c:pt>
                <c:pt idx="8" formatCode="#,##0">
                  <c:v>31891</c:v>
                </c:pt>
                <c:pt idx="9" formatCode="#,##0">
                  <c:v>32478</c:v>
                </c:pt>
              </c:numCache>
            </c:numRef>
          </c:val>
          <c:extLst>
            <c:ext xmlns:c16="http://schemas.microsoft.com/office/drawing/2014/chart" uri="{C3380CC4-5D6E-409C-BE32-E72D297353CC}">
              <c16:uniqueId val="{00000028-4E7F-4CC9-9BBB-5E57626AE31F}"/>
            </c:ext>
          </c:extLst>
        </c:ser>
        <c:ser>
          <c:idx val="6"/>
          <c:order val="6"/>
          <c:tx>
            <c:strRef>
              <c:f>Munka1!$G$1</c:f>
              <c:strCache>
                <c:ptCount val="1"/>
                <c:pt idx="0">
                  <c:v>Technikum 2021-től</c:v>
                </c:pt>
              </c:strCache>
            </c:strRef>
          </c:tx>
          <c:spPr>
            <a:solidFill>
              <a:schemeClr val="accent3">
                <a:tint val="81000"/>
              </a:schemeClr>
            </a:solidFill>
            <a:ln>
              <a:noFill/>
            </a:ln>
            <a:effectLst/>
          </c:spPr>
          <c:invertIfNegative val="0"/>
          <c:dLbls>
            <c:dLbl>
              <c:idx val="0"/>
              <c:layout>
                <c:manualLayout>
                  <c:x val="0"/>
                  <c:y val="-2.609727652408933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4E7F-4CC9-9BBB-5E57626AE31F}"/>
                </c:ext>
              </c:extLst>
            </c:dLbl>
            <c:dLbl>
              <c:idx val="1"/>
              <c:layout>
                <c:manualLayout>
                  <c:x val="-2.3280152018369463E-17"/>
                  <c:y val="-1.897983747206498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4E7F-4CC9-9BBB-5E57626AE31F}"/>
                </c:ext>
              </c:extLst>
            </c:dLbl>
            <c:dLbl>
              <c:idx val="2"/>
              <c:layout>
                <c:manualLayout>
                  <c:x val="0"/>
                  <c:y val="-2.135231715607312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4E7F-4CC9-9BBB-5E57626AE31F}"/>
                </c:ext>
              </c:extLst>
            </c:dLbl>
            <c:dLbl>
              <c:idx val="3"/>
              <c:layout>
                <c:manualLayout>
                  <c:x val="0"/>
                  <c:y val="-2.135231715607312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4E7F-4CC9-9BBB-5E57626AE31F}"/>
                </c:ext>
              </c:extLst>
            </c:dLbl>
            <c:dLbl>
              <c:idx val="4"/>
              <c:layout>
                <c:manualLayout>
                  <c:x val="0"/>
                  <c:y val="-1.660735778805686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4E7F-4CC9-9BBB-5E57626AE31F}"/>
                </c:ext>
              </c:extLst>
            </c:dLbl>
            <c:dLbl>
              <c:idx val="5"/>
              <c:layout>
                <c:manualLayout>
                  <c:x val="-1.2698411428731197E-3"/>
                  <c:y val="-2.135231715607312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4E7F-4CC9-9BBB-5E57626AE31F}"/>
                </c:ext>
              </c:extLst>
            </c:dLbl>
            <c:dLbl>
              <c:idx val="6"/>
              <c:layout>
                <c:manualLayout>
                  <c:x val="0"/>
                  <c:y val="-2.135231715607310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4E7F-4CC9-9BBB-5E57626AE31F}"/>
                </c:ext>
              </c:extLst>
            </c:dLbl>
            <c:dLbl>
              <c:idx val="7"/>
              <c:layout>
                <c:manualLayout>
                  <c:x val="0"/>
                  <c:y val="-1.660735778805688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4E7F-4CC9-9BBB-5E57626AE31F}"/>
                </c:ext>
              </c:extLst>
            </c:dLbl>
            <c:dLbl>
              <c:idx val="8"/>
              <c:layout>
                <c:manualLayout>
                  <c:x val="-1.2698411428730266E-3"/>
                  <c:y val="-2.372479684008125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4E7F-4CC9-9BBB-5E57626AE31F}"/>
                </c:ext>
              </c:extLst>
            </c:dLbl>
            <c:dLbl>
              <c:idx val="9"/>
              <c:layout>
                <c:manualLayout>
                  <c:x val="0"/>
                  <c:y val="-1.660735778805688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2-4E7F-4CC9-9BBB-5E57626AE31F}"/>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Munka1!$A$2:$A$11</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Munka1!$H$2:$H$11</c:f>
              <c:numCache>
                <c:formatCode>0.00%</c:formatCode>
                <c:ptCount val="10"/>
                <c:pt idx="0">
                  <c:v>0.237113012360924</c:v>
                </c:pt>
                <c:pt idx="1">
                  <c:v>0.23122446641976299</c:v>
                </c:pt>
                <c:pt idx="2">
                  <c:v>0.22301519895546801</c:v>
                </c:pt>
                <c:pt idx="3">
                  <c:v>0.20337365524763301</c:v>
                </c:pt>
                <c:pt idx="4">
                  <c:v>0.20462027144094699</c:v>
                </c:pt>
                <c:pt idx="5">
                  <c:v>0.192873563218391</c:v>
                </c:pt>
                <c:pt idx="6">
                  <c:v>0.186038685876664</c:v>
                </c:pt>
                <c:pt idx="7">
                  <c:v>0.17754896074198001</c:v>
                </c:pt>
                <c:pt idx="8">
                  <c:v>0.16540410921576101</c:v>
                </c:pt>
                <c:pt idx="9">
                  <c:v>0.15343611393149148</c:v>
                </c:pt>
              </c:numCache>
            </c:numRef>
          </c:val>
          <c:extLst>
            <c:ext xmlns:c16="http://schemas.microsoft.com/office/drawing/2014/chart" uri="{C3380CC4-5D6E-409C-BE32-E72D297353CC}">
              <c16:uniqueId val="{00000033-4E7F-4CC9-9BBB-5E57626AE31F}"/>
            </c:ext>
          </c:extLst>
        </c:ser>
        <c:ser>
          <c:idx val="7"/>
          <c:order val="7"/>
          <c:tx>
            <c:strRef>
              <c:f>Munka1!$I$1</c:f>
              <c:strCache>
                <c:ptCount val="1"/>
                <c:pt idx="0">
                  <c:v>Szakképző iskola (2020 előtt: szakközépiskola; 2016 előtt: szakiskola)</c:v>
                </c:pt>
              </c:strCache>
            </c:strRef>
          </c:tx>
          <c:spPr>
            <a:solidFill>
              <a:schemeClr val="accent3">
                <a:tint val="69000"/>
              </a:schemeClr>
            </a:solidFill>
            <a:ln>
              <a:solidFill>
                <a:schemeClr val="tx1"/>
              </a:solidFill>
            </a:ln>
            <a:effectLst/>
          </c:spPr>
          <c:invertIfNegative val="0"/>
          <c:dLbls>
            <c:dLbl>
              <c:idx val="0"/>
              <c:layout>
                <c:manualLayout>
                  <c:x val="-1.2698411428730266E-3"/>
                  <c:y val="2.135231715607308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4E7F-4CC9-9BBB-5E57626AE31F}"/>
                </c:ext>
              </c:extLst>
            </c:dLbl>
            <c:dLbl>
              <c:idx val="1"/>
              <c:layout>
                <c:manualLayout>
                  <c:x val="0"/>
                  <c:y val="3.0842235892105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4E7F-4CC9-9BBB-5E57626AE31F}"/>
                </c:ext>
              </c:extLst>
            </c:dLbl>
            <c:dLbl>
              <c:idx val="2"/>
              <c:layout>
                <c:manualLayout>
                  <c:x val="0"/>
                  <c:y val="1.660735778805684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4E7F-4CC9-9BBB-5E57626AE31F}"/>
                </c:ext>
              </c:extLst>
            </c:dLbl>
            <c:dLbl>
              <c:idx val="3"/>
              <c:layout>
                <c:manualLayout>
                  <c:x val="0"/>
                  <c:y val="1.186239842004059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4E7F-4CC9-9BBB-5E57626AE31F}"/>
                </c:ext>
              </c:extLst>
            </c:dLbl>
            <c:dLbl>
              <c:idx val="4"/>
              <c:layout>
                <c:manualLayout>
                  <c:x val="0"/>
                  <c:y val="9.4899187360324936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4E7F-4CC9-9BBB-5E57626AE31F}"/>
                </c:ext>
              </c:extLst>
            </c:dLbl>
            <c:dLbl>
              <c:idx val="5"/>
              <c:layout>
                <c:manualLayout>
                  <c:x val="-9.3120608073477854E-17"/>
                  <c:y val="1.186239842004061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4E7F-4CC9-9BBB-5E57626AE31F}"/>
                </c:ext>
              </c:extLst>
            </c:dLbl>
            <c:dLbl>
              <c:idx val="6"/>
              <c:layout>
                <c:manualLayout>
                  <c:x val="0"/>
                  <c:y val="9.4899187360324936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4E7F-4CC9-9BBB-5E57626AE31F}"/>
                </c:ext>
              </c:extLst>
            </c:dLbl>
            <c:dLbl>
              <c:idx val="7"/>
              <c:layout>
                <c:manualLayout>
                  <c:x val="0"/>
                  <c:y val="7.1174390520243698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4E7F-4CC9-9BBB-5E57626AE31F}"/>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Munka1!$A$2:$A$11</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Munka1!$I$2:$I$11</c:f>
              <c:numCache>
                <c:formatCode>#,##0</c:formatCode>
                <c:ptCount val="10"/>
                <c:pt idx="0">
                  <c:v>18818</c:v>
                </c:pt>
                <c:pt idx="1">
                  <c:v>18168</c:v>
                </c:pt>
                <c:pt idx="2">
                  <c:v>17593</c:v>
                </c:pt>
                <c:pt idx="3">
                  <c:v>16409</c:v>
                </c:pt>
                <c:pt idx="4">
                  <c:v>17715</c:v>
                </c:pt>
                <c:pt idx="5">
                  <c:v>15941</c:v>
                </c:pt>
                <c:pt idx="6">
                  <c:v>14927</c:v>
                </c:pt>
                <c:pt idx="7">
                  <c:v>13898</c:v>
                </c:pt>
                <c:pt idx="8">
                  <c:v>12140</c:v>
                </c:pt>
                <c:pt idx="9">
                  <c:v>11485</c:v>
                </c:pt>
              </c:numCache>
            </c:numRef>
          </c:val>
          <c:extLst>
            <c:ext xmlns:c16="http://schemas.microsoft.com/office/drawing/2014/chart" uri="{C3380CC4-5D6E-409C-BE32-E72D297353CC}">
              <c16:uniqueId val="{0000003C-4E7F-4CC9-9BBB-5E57626AE31F}"/>
            </c:ext>
          </c:extLst>
        </c:ser>
        <c:ser>
          <c:idx val="8"/>
          <c:order val="8"/>
          <c:tx>
            <c:strRef>
              <c:f>Munka1!$I$1</c:f>
              <c:strCache>
                <c:ptCount val="1"/>
                <c:pt idx="0">
                  <c:v>Szakképző iskola (2020 előtt: szakközépiskola; 2016 előtt: szakiskola)</c:v>
                </c:pt>
              </c:strCache>
            </c:strRef>
          </c:tx>
          <c:spPr>
            <a:solidFill>
              <a:schemeClr val="accent3">
                <a:tint val="56000"/>
              </a:schemeClr>
            </a:solidFill>
            <a:ln>
              <a:noFill/>
            </a:ln>
            <a:effectLst/>
          </c:spPr>
          <c:invertIfNegative val="0"/>
          <c:dLbls>
            <c:dLbl>
              <c:idx val="0"/>
              <c:layout>
                <c:manualLayout>
                  <c:x val="0"/>
                  <c:y val="1.660735778805686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4E7F-4CC9-9BBB-5E57626AE31F}"/>
                </c:ext>
              </c:extLst>
            </c:dLbl>
            <c:dLbl>
              <c:idx val="1"/>
              <c:layout>
                <c:manualLayout>
                  <c:x val="-2.3280152018369463E-17"/>
                  <c:y val="1.660735778805685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E-4E7F-4CC9-9BBB-5E57626AE31F}"/>
                </c:ext>
              </c:extLst>
            </c:dLbl>
            <c:dLbl>
              <c:idx val="2"/>
              <c:layout>
                <c:manualLayout>
                  <c:x val="0"/>
                  <c:y val="1.423487810404873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F-4E7F-4CC9-9BBB-5E57626AE31F}"/>
                </c:ext>
              </c:extLst>
            </c:dLbl>
            <c:dLbl>
              <c:idx val="3"/>
              <c:layout>
                <c:manualLayout>
                  <c:x val="4.6560304036738927E-17"/>
                  <c:y val="9.4899187360324936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0-4E7F-4CC9-9BBB-5E57626AE31F}"/>
                </c:ext>
              </c:extLst>
            </c:dLbl>
            <c:dLbl>
              <c:idx val="4"/>
              <c:layout>
                <c:manualLayout>
                  <c:x val="-2.5396822857460533E-3"/>
                  <c:y val="1.42348781040487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1-4E7F-4CC9-9BBB-5E57626AE31F}"/>
                </c:ext>
              </c:extLst>
            </c:dLbl>
            <c:dLbl>
              <c:idx val="5"/>
              <c:layout>
                <c:manualLayout>
                  <c:x val="-9.3120608073477854E-17"/>
                  <c:y val="1.42348781040487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2-4E7F-4CC9-9BBB-5E57626AE31F}"/>
                </c:ext>
              </c:extLst>
            </c:dLbl>
            <c:dLbl>
              <c:idx val="6"/>
              <c:layout>
                <c:manualLayout>
                  <c:x val="-9.3120608073477854E-17"/>
                  <c:y val="1.423487810404873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3-4E7F-4CC9-9BBB-5E57626AE31F}"/>
                </c:ext>
              </c:extLst>
            </c:dLbl>
            <c:dLbl>
              <c:idx val="7"/>
              <c:layout>
                <c:manualLayout>
                  <c:x val="-1.2698411428731197E-3"/>
                  <c:y val="1.42348781040487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4-4E7F-4CC9-9BBB-5E57626AE31F}"/>
                </c:ext>
              </c:extLst>
            </c:dLbl>
            <c:dLbl>
              <c:idx val="8"/>
              <c:layout>
                <c:manualLayout>
                  <c:x val="0"/>
                  <c:y val="1.423487810404873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5-4E7F-4CC9-9BBB-5E57626AE31F}"/>
                </c:ext>
              </c:extLst>
            </c:dLbl>
            <c:dLbl>
              <c:idx val="9"/>
              <c:layout>
                <c:manualLayout>
                  <c:x val="-2.5396822857462393E-3"/>
                  <c:y val="1.423487810404873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6-4E7F-4CC9-9BBB-5E57626AE31F}"/>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Munka1!$A$2:$A$11</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Munka1!$J$2:$J$11</c:f>
              <c:numCache>
                <c:formatCode>0.00%</c:formatCode>
                <c:ptCount val="10"/>
                <c:pt idx="0">
                  <c:v>1.83838816576994E-2</c:v>
                </c:pt>
                <c:pt idx="1">
                  <c:v>1.85305384801395E-2</c:v>
                </c:pt>
                <c:pt idx="2">
                  <c:v>1.77342274392485E-2</c:v>
                </c:pt>
                <c:pt idx="3">
                  <c:v>1.7896980814039998E-2</c:v>
                </c:pt>
                <c:pt idx="4">
                  <c:v>1.6090095293098499E-2</c:v>
                </c:pt>
                <c:pt idx="5">
                  <c:v>1.6249243799153101E-2</c:v>
                </c:pt>
                <c:pt idx="6">
                  <c:v>1.65262475696695E-2</c:v>
                </c:pt>
                <c:pt idx="7">
                  <c:v>1.72208950266362E-2</c:v>
                </c:pt>
                <c:pt idx="8">
                  <c:v>1.9524224753392602E-2</c:v>
                </c:pt>
                <c:pt idx="9">
                  <c:v>1.9197883824079515E-2</c:v>
                </c:pt>
              </c:numCache>
            </c:numRef>
          </c:val>
          <c:extLst>
            <c:ext xmlns:c16="http://schemas.microsoft.com/office/drawing/2014/chart" uri="{C3380CC4-5D6E-409C-BE32-E72D297353CC}">
              <c16:uniqueId val="{00000047-4E7F-4CC9-9BBB-5E57626AE31F}"/>
            </c:ext>
          </c:extLst>
        </c:ser>
        <c:ser>
          <c:idx val="9"/>
          <c:order val="9"/>
          <c:tx>
            <c:strRef>
              <c:f>Munka1!$K$1</c:f>
              <c:strCache>
                <c:ptCount val="1"/>
                <c:pt idx="0">
                  <c:v>Szakiskola és készségfejlesztő iskola</c:v>
                </c:pt>
              </c:strCache>
            </c:strRef>
          </c:tx>
          <c:spPr>
            <a:solidFill>
              <a:schemeClr val="accent3">
                <a:tint val="43000"/>
              </a:schemeClr>
            </a:solidFill>
            <a:ln>
              <a:solidFill>
                <a:schemeClr val="tx1"/>
              </a:solidFill>
            </a:ln>
            <a:effectLst/>
          </c:spPr>
          <c:invertIfNegative val="0"/>
          <c:dLbls>
            <c:dLbl>
              <c:idx val="0"/>
              <c:layout>
                <c:manualLayout>
                  <c:x val="0"/>
                  <c:y val="-1.660735778805686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8-4E7F-4CC9-9BBB-5E57626AE31F}"/>
                </c:ext>
              </c:extLst>
            </c:dLbl>
            <c:dLbl>
              <c:idx val="1"/>
              <c:layout>
                <c:manualLayout>
                  <c:x val="-2.3280152018369463E-17"/>
                  <c:y val="-1.660735778805686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9-4E7F-4CC9-9BBB-5E57626AE31F}"/>
                </c:ext>
              </c:extLst>
            </c:dLbl>
            <c:dLbl>
              <c:idx val="2"/>
              <c:layout>
                <c:manualLayout>
                  <c:x val="0"/>
                  <c:y val="-1.660735778805686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A-4E7F-4CC9-9BBB-5E57626AE31F}"/>
                </c:ext>
              </c:extLst>
            </c:dLbl>
            <c:dLbl>
              <c:idx val="3"/>
              <c:layout>
                <c:manualLayout>
                  <c:x val="-4.6560304036738927E-17"/>
                  <c:y val="-1.660735778805686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B-4E7F-4CC9-9BBB-5E57626AE31F}"/>
                </c:ext>
              </c:extLst>
            </c:dLbl>
            <c:dLbl>
              <c:idx val="4"/>
              <c:layout>
                <c:manualLayout>
                  <c:x val="0"/>
                  <c:y val="-1.660735778805686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C-4E7F-4CC9-9BBB-5E57626AE31F}"/>
                </c:ext>
              </c:extLst>
            </c:dLbl>
            <c:dLbl>
              <c:idx val="5"/>
              <c:layout>
                <c:manualLayout>
                  <c:x val="-9.3120608073477854E-17"/>
                  <c:y val="-1.660735778805686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D-4E7F-4CC9-9BBB-5E57626AE31F}"/>
                </c:ext>
              </c:extLst>
            </c:dLbl>
            <c:dLbl>
              <c:idx val="6"/>
              <c:layout>
                <c:manualLayout>
                  <c:x val="-2.5396822857460533E-3"/>
                  <c:y val="-1.660735778805686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E-4E7F-4CC9-9BBB-5E57626AE31F}"/>
                </c:ext>
              </c:extLst>
            </c:dLbl>
            <c:dLbl>
              <c:idx val="7"/>
              <c:layout>
                <c:manualLayout>
                  <c:x val="-9.3120608073477854E-17"/>
                  <c:y val="-1.660735778805686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4F-4E7F-4CC9-9BBB-5E57626AE31F}"/>
                </c:ext>
              </c:extLst>
            </c:dLbl>
            <c:dLbl>
              <c:idx val="8"/>
              <c:layout>
                <c:manualLayout>
                  <c:x val="-1.2698411428731197E-3"/>
                  <c:y val="-1.660735778805686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0-4E7F-4CC9-9BBB-5E57626AE31F}"/>
                </c:ext>
              </c:extLst>
            </c:dLbl>
            <c:dLbl>
              <c:idx val="9"/>
              <c:layout>
                <c:manualLayout>
                  <c:x val="-1.8624121614695571E-16"/>
                  <c:y val="-1.897983747206498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51-4E7F-4CC9-9BBB-5E57626AE31F}"/>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2">
                          <a:lumMod val="35000"/>
                          <a:lumOff val="65000"/>
                        </a:schemeClr>
                      </a:solidFill>
                      <a:prstDash val="solid"/>
                      <a:round/>
                    </a:ln>
                    <a:effectLst/>
                  </c:spPr>
                </c15:leaderLines>
              </c:ext>
            </c:extLst>
          </c:dLbls>
          <c:cat>
            <c:strRef>
              <c:f>Munka1!$A$2:$A$11</c:f>
              <c:strCache>
                <c:ptCount val="10"/>
                <c:pt idx="0">
                  <c:v>2016/2017.</c:v>
                </c:pt>
                <c:pt idx="1">
                  <c:v>2017/2018.</c:v>
                </c:pt>
                <c:pt idx="2">
                  <c:v>2018/2019.</c:v>
                </c:pt>
                <c:pt idx="3">
                  <c:v>2019/2020.</c:v>
                </c:pt>
                <c:pt idx="4">
                  <c:v>2020/2021.</c:v>
                </c:pt>
                <c:pt idx="5">
                  <c:v>2021/2022.</c:v>
                </c:pt>
                <c:pt idx="6">
                  <c:v>2022/2023.</c:v>
                </c:pt>
                <c:pt idx="7">
                  <c:v>2023/2024.</c:v>
                </c:pt>
                <c:pt idx="8">
                  <c:v>2024/2025.</c:v>
                </c:pt>
                <c:pt idx="9">
                  <c:v>2025/2026.</c:v>
                </c:pt>
              </c:strCache>
            </c:strRef>
          </c:cat>
          <c:val>
            <c:numRef>
              <c:f>Munka1!$K$2:$K$11</c:f>
              <c:numCache>
                <c:formatCode>#,##0</c:formatCode>
                <c:ptCount val="10"/>
                <c:pt idx="0">
                  <c:v>1459</c:v>
                </c:pt>
                <c:pt idx="1">
                  <c:v>1456</c:v>
                </c:pt>
                <c:pt idx="2">
                  <c:v>1399</c:v>
                </c:pt>
                <c:pt idx="3">
                  <c:v>1444</c:v>
                </c:pt>
                <c:pt idx="4">
                  <c:v>1393</c:v>
                </c:pt>
                <c:pt idx="5">
                  <c:v>1343</c:v>
                </c:pt>
                <c:pt idx="6">
                  <c:v>1326</c:v>
                </c:pt>
                <c:pt idx="7">
                  <c:v>1348</c:v>
                </c:pt>
                <c:pt idx="8">
                  <c:v>1433</c:v>
                </c:pt>
                <c:pt idx="9">
                  <c:v>1437</c:v>
                </c:pt>
              </c:numCache>
            </c:numRef>
          </c:val>
          <c:extLst>
            <c:ext xmlns:c16="http://schemas.microsoft.com/office/drawing/2014/chart" uri="{C3380CC4-5D6E-409C-BE32-E72D297353CC}">
              <c16:uniqueId val="{00000052-4E7F-4CC9-9BBB-5E57626AE31F}"/>
            </c:ext>
          </c:extLst>
        </c:ser>
        <c:dLbls>
          <c:dLblPos val="ctr"/>
          <c:showLegendKey val="0"/>
          <c:showVal val="1"/>
          <c:showCatName val="0"/>
          <c:showSerName val="0"/>
          <c:showPercent val="0"/>
          <c:showBubbleSize val="0"/>
        </c:dLbls>
        <c:gapWidth val="81"/>
        <c:overlap val="100"/>
        <c:axId val="445491872"/>
        <c:axId val="445489904"/>
      </c:barChart>
      <c:catAx>
        <c:axId val="445491872"/>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crossAx val="445489904"/>
        <c:crosses val="autoZero"/>
        <c:auto val="1"/>
        <c:lblAlgn val="ctr"/>
        <c:lblOffset val="100"/>
        <c:noMultiLvlLbl val="0"/>
      </c:catAx>
      <c:valAx>
        <c:axId val="445489904"/>
        <c:scaling>
          <c:orientation val="minMax"/>
        </c:scaling>
        <c:delete val="0"/>
        <c:axPos val="l"/>
        <c:majorGridlines>
          <c:spPr>
            <a:ln w="9525" cap="flat" cmpd="sng" algn="ctr">
              <a:solidFill>
                <a:schemeClr val="tx2">
                  <a:lumMod val="15000"/>
                  <a:lumOff val="85000"/>
                </a:schemeClr>
              </a:solidFill>
              <a:prstDash val="solid"/>
              <a:round/>
            </a:ln>
            <a:effectLst/>
          </c:spPr>
        </c:majorGridlines>
        <c:numFmt formatCode="0%"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Verdana" panose="020B0604030504040204" pitchFamily="34" charset="0"/>
                <a:ea typeface="Verdana" panose="020B0604030504040204" pitchFamily="34" charset="0"/>
                <a:cs typeface="+mn-cs"/>
              </a:defRPr>
            </a:pPr>
            <a:endParaRPr lang="hu-HU"/>
          </a:p>
        </c:txPr>
        <c:crossAx val="445491872"/>
        <c:crosses val="autoZero"/>
        <c:crossBetween val="between"/>
      </c:valAx>
      <c:spPr>
        <a:noFill/>
        <a:ln>
          <a:noFill/>
        </a:ln>
        <a:effectLst/>
      </c:spPr>
    </c:plotArea>
    <c:legend>
      <c:legendPos val="b"/>
      <c:legendEntry>
        <c:idx val="0"/>
        <c:delete val="1"/>
      </c:legendEntry>
      <c:legendEntry>
        <c:idx val="1"/>
        <c:delete val="1"/>
      </c:legendEntry>
      <c:legendEntry>
        <c:idx val="4"/>
        <c:delete val="1"/>
      </c:legendEntry>
      <c:legendEntry>
        <c:idx val="6"/>
        <c:delete val="1"/>
      </c:legendEntry>
      <c:legendEntry>
        <c:idx val="8"/>
        <c:delete val="1"/>
      </c:legendEntry>
      <c:layout>
        <c:manualLayout>
          <c:xMode val="edge"/>
          <c:yMode val="edge"/>
          <c:x val="9.6453433675447203E-2"/>
          <c:y val="0.85248731077182005"/>
          <c:w val="0.58995019723032638"/>
          <c:h val="0.1332778713747985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hu-HU"/>
        </a:p>
      </c:txPr>
    </c:legend>
    <c:plotVisOnly val="1"/>
    <c:dispBlanksAs val="gap"/>
    <c:showDLblsOverMax val="0"/>
  </c:chart>
  <c:spPr>
    <a:noFill/>
    <a:ln w="6350" cap="flat" cmpd="sng" algn="ctr">
      <a:noFill/>
      <a:prstDash val="solid"/>
      <a:miter lim="800000"/>
    </a:ln>
    <a:effectLst/>
  </c:spPr>
  <c:txPr>
    <a:bodyPr/>
    <a:lstStyle/>
    <a:p>
      <a:pPr>
        <a:defRPr/>
      </a:pPr>
      <a:endParaRPr lang="hu-HU"/>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5.4793724578733299E-2"/>
          <c:y val="2.8092285434878999E-2"/>
          <c:w val="0.941092887214239"/>
          <c:h val="0.78137405681290295"/>
        </c:manualLayout>
      </c:layout>
      <c:barChart>
        <c:barDir val="col"/>
        <c:grouping val="clustered"/>
        <c:varyColors val="0"/>
        <c:ser>
          <c:idx val="0"/>
          <c:order val="0"/>
          <c:tx>
            <c:strRef>
              <c:f>Munka1!$B$1</c:f>
              <c:strCache>
                <c:ptCount val="1"/>
                <c:pt idx="0">
                  <c:v>2011/2012</c:v>
                </c:pt>
              </c:strCache>
            </c:strRef>
          </c:tx>
          <c:spPr>
            <a:solidFill>
              <a:schemeClr val="accent3">
                <a:tint val="39000"/>
              </a:schemeClr>
            </a:solidFill>
            <a:ln>
              <a:no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Munka1!$B$2:$B$8</c:f>
            </c:numRef>
          </c:val>
          <c:extLst>
            <c:ext xmlns:c16="http://schemas.microsoft.com/office/drawing/2014/chart" uri="{C3380CC4-5D6E-409C-BE32-E72D297353CC}">
              <c16:uniqueId val="{00000000-D148-4EB3-9AB2-262EBF2F3F2A}"/>
            </c:ext>
          </c:extLst>
        </c:ser>
        <c:ser>
          <c:idx val="1"/>
          <c:order val="1"/>
          <c:tx>
            <c:strRef>
              <c:f>Munka1!$C$1</c:f>
              <c:strCache>
                <c:ptCount val="1"/>
                <c:pt idx="0">
                  <c:v>2012/2013</c:v>
                </c:pt>
              </c:strCache>
            </c:strRef>
          </c:tx>
          <c:spPr>
            <a:solidFill>
              <a:schemeClr val="accent3">
                <a:tint val="48000"/>
              </a:schemeClr>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Munka1!$C$2:$C$8</c:f>
            </c:numRef>
          </c:val>
          <c:extLst>
            <c:ext xmlns:c16="http://schemas.microsoft.com/office/drawing/2014/chart" uri="{C3380CC4-5D6E-409C-BE32-E72D297353CC}">
              <c16:uniqueId val="{00000001-D148-4EB3-9AB2-262EBF2F3F2A}"/>
            </c:ext>
          </c:extLst>
        </c:ser>
        <c:ser>
          <c:idx val="2"/>
          <c:order val="2"/>
          <c:tx>
            <c:strRef>
              <c:f>Munka1!$D$1</c:f>
              <c:strCache>
                <c:ptCount val="1"/>
                <c:pt idx="0">
                  <c:v>2013/2014.</c:v>
                </c:pt>
              </c:strCache>
            </c:strRef>
          </c:tx>
          <c:spPr>
            <a:solidFill>
              <a:schemeClr val="accent3">
                <a:tint val="57000"/>
              </a:schemeClr>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Munka1!$D$2:$D$8</c:f>
            </c:numRef>
          </c:val>
          <c:extLst>
            <c:ext xmlns:c16="http://schemas.microsoft.com/office/drawing/2014/chart" uri="{C3380CC4-5D6E-409C-BE32-E72D297353CC}">
              <c16:uniqueId val="{00000002-D148-4EB3-9AB2-262EBF2F3F2A}"/>
            </c:ext>
          </c:extLst>
        </c:ser>
        <c:ser>
          <c:idx val="3"/>
          <c:order val="3"/>
          <c:tx>
            <c:strRef>
              <c:f>Munka1!$E$1</c:f>
              <c:strCache>
                <c:ptCount val="1"/>
                <c:pt idx="0">
                  <c:v>2014/2015.</c:v>
                </c:pt>
              </c:strCache>
            </c:strRef>
          </c:tx>
          <c:spPr>
            <a:solidFill>
              <a:schemeClr val="accent3">
                <a:tint val="65000"/>
              </a:schemeClr>
            </a:solidFill>
            <a:ln>
              <a:no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Munka1!$E$2:$E$8</c:f>
            </c:numRef>
          </c:val>
          <c:extLst>
            <c:ext xmlns:c16="http://schemas.microsoft.com/office/drawing/2014/chart" uri="{C3380CC4-5D6E-409C-BE32-E72D297353CC}">
              <c16:uniqueId val="{00000003-D148-4EB3-9AB2-262EBF2F3F2A}"/>
            </c:ext>
          </c:extLst>
        </c:ser>
        <c:ser>
          <c:idx val="4"/>
          <c:order val="4"/>
          <c:tx>
            <c:strRef>
              <c:f>Munka1!$F$1</c:f>
              <c:strCache>
                <c:ptCount val="1"/>
                <c:pt idx="0">
                  <c:v>2015/2016.</c:v>
                </c:pt>
              </c:strCache>
            </c:strRef>
          </c:tx>
          <c:spPr>
            <a:solidFill>
              <a:schemeClr val="accent3">
                <a:tint val="74000"/>
              </a:schemeClr>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Munka1!$F$2:$F$8</c:f>
            </c:numRef>
          </c:val>
          <c:extLst>
            <c:ext xmlns:c16="http://schemas.microsoft.com/office/drawing/2014/chart" uri="{C3380CC4-5D6E-409C-BE32-E72D297353CC}">
              <c16:uniqueId val="{00000004-D148-4EB3-9AB2-262EBF2F3F2A}"/>
            </c:ext>
          </c:extLst>
        </c:ser>
        <c:ser>
          <c:idx val="5"/>
          <c:order val="5"/>
          <c:tx>
            <c:strRef>
              <c:f>Munka1!$G$1</c:f>
              <c:strCache>
                <c:ptCount val="1"/>
                <c:pt idx="0">
                  <c:v>2016/2017.</c:v>
                </c:pt>
              </c:strCache>
            </c:strRef>
          </c:tx>
          <c:spPr>
            <a:solidFill>
              <a:srgbClr val="EFD0B7"/>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Munka1!$G$2:$G$8</c:f>
              <c:numCache>
                <c:formatCode>#,##0</c:formatCode>
                <c:ptCount val="7"/>
                <c:pt idx="0">
                  <c:v>3182</c:v>
                </c:pt>
                <c:pt idx="1">
                  <c:v>4433</c:v>
                </c:pt>
                <c:pt idx="2">
                  <c:v>28912</c:v>
                </c:pt>
                <c:pt idx="3">
                  <c:v>30174</c:v>
                </c:pt>
                <c:pt idx="5">
                  <c:v>18818</c:v>
                </c:pt>
                <c:pt idx="6">
                  <c:v>1459</c:v>
                </c:pt>
              </c:numCache>
            </c:numRef>
          </c:val>
          <c:extLst>
            <c:ext xmlns:c16="http://schemas.microsoft.com/office/drawing/2014/chart" uri="{C3380CC4-5D6E-409C-BE32-E72D297353CC}">
              <c16:uniqueId val="{00000005-D148-4EB3-9AB2-262EBF2F3F2A}"/>
            </c:ext>
          </c:extLst>
        </c:ser>
        <c:ser>
          <c:idx val="6"/>
          <c:order val="6"/>
          <c:tx>
            <c:strRef>
              <c:f>Munka1!$H$1</c:f>
              <c:strCache>
                <c:ptCount val="1"/>
                <c:pt idx="0">
                  <c:v>2017/2018.</c:v>
                </c:pt>
              </c:strCache>
            </c:strRef>
          </c:tx>
          <c:spPr>
            <a:solidFill>
              <a:srgbClr val="E7B791"/>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Munka1!$H$2:$H$8</c:f>
              <c:numCache>
                <c:formatCode>#,##0</c:formatCode>
                <c:ptCount val="7"/>
                <c:pt idx="0">
                  <c:v>3191</c:v>
                </c:pt>
                <c:pt idx="1">
                  <c:v>4546</c:v>
                </c:pt>
                <c:pt idx="2">
                  <c:v>28750</c:v>
                </c:pt>
                <c:pt idx="3">
                  <c:v>30199</c:v>
                </c:pt>
                <c:pt idx="5">
                  <c:v>18168</c:v>
                </c:pt>
                <c:pt idx="6">
                  <c:v>1456</c:v>
                </c:pt>
              </c:numCache>
            </c:numRef>
          </c:val>
          <c:extLst>
            <c:ext xmlns:c16="http://schemas.microsoft.com/office/drawing/2014/chart" uri="{C3380CC4-5D6E-409C-BE32-E72D297353CC}">
              <c16:uniqueId val="{00000006-D148-4EB3-9AB2-262EBF2F3F2A}"/>
            </c:ext>
          </c:extLst>
        </c:ser>
        <c:ser>
          <c:idx val="7"/>
          <c:order val="7"/>
          <c:tx>
            <c:strRef>
              <c:f>Munka1!$I$1</c:f>
              <c:strCache>
                <c:ptCount val="1"/>
                <c:pt idx="0">
                  <c:v>2018/2019.</c:v>
                </c:pt>
              </c:strCache>
            </c:strRef>
          </c:tx>
          <c:spPr>
            <a:solidFill>
              <a:srgbClr val="E9A864"/>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Munka1!$I$2:$I$8</c:f>
              <c:numCache>
                <c:formatCode>#,##0</c:formatCode>
                <c:ptCount val="7"/>
                <c:pt idx="0">
                  <c:v>3146</c:v>
                </c:pt>
                <c:pt idx="1">
                  <c:v>4680</c:v>
                </c:pt>
                <c:pt idx="2">
                  <c:v>28783</c:v>
                </c:pt>
                <c:pt idx="3">
                  <c:v>31157</c:v>
                </c:pt>
                <c:pt idx="5">
                  <c:v>17593</c:v>
                </c:pt>
                <c:pt idx="6">
                  <c:v>1399</c:v>
                </c:pt>
              </c:numCache>
            </c:numRef>
          </c:val>
          <c:extLst>
            <c:ext xmlns:c16="http://schemas.microsoft.com/office/drawing/2014/chart" uri="{C3380CC4-5D6E-409C-BE32-E72D297353CC}">
              <c16:uniqueId val="{00000007-D148-4EB3-9AB2-262EBF2F3F2A}"/>
            </c:ext>
          </c:extLst>
        </c:ser>
        <c:ser>
          <c:idx val="8"/>
          <c:order val="8"/>
          <c:tx>
            <c:strRef>
              <c:f>Munka1!$J$1</c:f>
              <c:strCache>
                <c:ptCount val="1"/>
                <c:pt idx="0">
                  <c:v>2019/2020.</c:v>
                </c:pt>
              </c:strCache>
            </c:strRef>
          </c:tx>
          <c:spPr>
            <a:solidFill>
              <a:srgbClr val="E9A168"/>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Munka1!$J$2:$J$8</c:f>
              <c:numCache>
                <c:formatCode>#,##0</c:formatCode>
                <c:ptCount val="7"/>
                <c:pt idx="0">
                  <c:v>3165</c:v>
                </c:pt>
                <c:pt idx="1">
                  <c:v>4644</c:v>
                </c:pt>
                <c:pt idx="2">
                  <c:v>28860</c:v>
                </c:pt>
                <c:pt idx="3">
                  <c:v>33971</c:v>
                </c:pt>
                <c:pt idx="5">
                  <c:v>16409</c:v>
                </c:pt>
                <c:pt idx="6">
                  <c:v>1444</c:v>
                </c:pt>
              </c:numCache>
            </c:numRef>
          </c:val>
          <c:extLst>
            <c:ext xmlns:c16="http://schemas.microsoft.com/office/drawing/2014/chart" uri="{C3380CC4-5D6E-409C-BE32-E72D297353CC}">
              <c16:uniqueId val="{00000008-D148-4EB3-9AB2-262EBF2F3F2A}"/>
            </c:ext>
          </c:extLst>
        </c:ser>
        <c:ser>
          <c:idx val="9"/>
          <c:order val="9"/>
          <c:tx>
            <c:strRef>
              <c:f>Munka1!$K$1</c:f>
              <c:strCache>
                <c:ptCount val="1"/>
                <c:pt idx="0">
                  <c:v>2020/2021.</c:v>
                </c:pt>
              </c:strCache>
            </c:strRef>
          </c:tx>
          <c:spPr>
            <a:solidFill>
              <a:srgbClr val="D59A63"/>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Munka1!$K$2:$K$8</c:f>
              <c:numCache>
                <c:formatCode>#,##0</c:formatCode>
                <c:ptCount val="7"/>
                <c:pt idx="0">
                  <c:v>3114</c:v>
                </c:pt>
                <c:pt idx="1">
                  <c:v>4604</c:v>
                </c:pt>
                <c:pt idx="2">
                  <c:v>29501</c:v>
                </c:pt>
                <c:pt idx="3">
                  <c:v>2480</c:v>
                </c:pt>
                <c:pt idx="4">
                  <c:v>35486</c:v>
                </c:pt>
                <c:pt idx="5">
                  <c:v>17715</c:v>
                </c:pt>
                <c:pt idx="6">
                  <c:v>1393</c:v>
                </c:pt>
              </c:numCache>
            </c:numRef>
          </c:val>
          <c:extLst>
            <c:ext xmlns:c16="http://schemas.microsoft.com/office/drawing/2014/chart" uri="{C3380CC4-5D6E-409C-BE32-E72D297353CC}">
              <c16:uniqueId val="{00000009-D148-4EB3-9AB2-262EBF2F3F2A}"/>
            </c:ext>
          </c:extLst>
        </c:ser>
        <c:ser>
          <c:idx val="10"/>
          <c:order val="10"/>
          <c:tx>
            <c:strRef>
              <c:f>Munka1!$L$1</c:f>
              <c:strCache>
                <c:ptCount val="1"/>
                <c:pt idx="0">
                  <c:v>2021/2022.</c:v>
                </c:pt>
              </c:strCache>
            </c:strRef>
          </c:tx>
          <c:spPr>
            <a:solidFill>
              <a:srgbClr val="C0966C"/>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Munka1!$L$2:$L$8</c:f>
              <c:numCache>
                <c:formatCode>#,##0</c:formatCode>
                <c:ptCount val="7"/>
                <c:pt idx="0">
                  <c:v>3105</c:v>
                </c:pt>
                <c:pt idx="1">
                  <c:v>4742</c:v>
                </c:pt>
                <c:pt idx="2">
                  <c:v>28526</c:v>
                </c:pt>
                <c:pt idx="3">
                  <c:v>2009</c:v>
                </c:pt>
                <c:pt idx="4">
                  <c:v>34831</c:v>
                </c:pt>
                <c:pt idx="5">
                  <c:v>15941</c:v>
                </c:pt>
                <c:pt idx="6">
                  <c:v>1343</c:v>
                </c:pt>
              </c:numCache>
            </c:numRef>
          </c:val>
          <c:extLst>
            <c:ext xmlns:c16="http://schemas.microsoft.com/office/drawing/2014/chart" uri="{C3380CC4-5D6E-409C-BE32-E72D297353CC}">
              <c16:uniqueId val="{0000000A-D148-4EB3-9AB2-262EBF2F3F2A}"/>
            </c:ext>
          </c:extLst>
        </c:ser>
        <c:ser>
          <c:idx val="11"/>
          <c:order val="11"/>
          <c:tx>
            <c:strRef>
              <c:f>Munka1!$M$1</c:f>
              <c:strCache>
                <c:ptCount val="1"/>
                <c:pt idx="0">
                  <c:v>2022/2023.</c:v>
                </c:pt>
              </c:strCache>
            </c:strRef>
          </c:tx>
          <c:spPr>
            <a:solidFill>
              <a:srgbClr val="AC7B4E"/>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Munka1!$M$2:$M$8</c:f>
              <c:numCache>
                <c:formatCode>#,##0</c:formatCode>
                <c:ptCount val="7"/>
                <c:pt idx="0">
                  <c:v>3249</c:v>
                </c:pt>
                <c:pt idx="1">
                  <c:v>4624</c:v>
                </c:pt>
                <c:pt idx="2">
                  <c:v>27863</c:v>
                </c:pt>
                <c:pt idx="3">
                  <c:v>1745</c:v>
                </c:pt>
                <c:pt idx="4">
                  <c:v>34375</c:v>
                </c:pt>
                <c:pt idx="5">
                  <c:v>14927</c:v>
                </c:pt>
                <c:pt idx="6">
                  <c:v>1326</c:v>
                </c:pt>
              </c:numCache>
            </c:numRef>
          </c:val>
          <c:extLst>
            <c:ext xmlns:c16="http://schemas.microsoft.com/office/drawing/2014/chart" uri="{C3380CC4-5D6E-409C-BE32-E72D297353CC}">
              <c16:uniqueId val="{0000000B-D148-4EB3-9AB2-262EBF2F3F2A}"/>
            </c:ext>
          </c:extLst>
        </c:ser>
        <c:ser>
          <c:idx val="12"/>
          <c:order val="12"/>
          <c:tx>
            <c:strRef>
              <c:f>Munka1!$N$1</c:f>
              <c:strCache>
                <c:ptCount val="1"/>
                <c:pt idx="0">
                  <c:v>2023/2024.</c:v>
                </c:pt>
              </c:strCache>
            </c:strRef>
          </c:tx>
          <c:spPr>
            <a:solidFill>
              <a:srgbClr val="936943"/>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Munka1!$N$2:$N$8</c:f>
              <c:numCache>
                <c:formatCode>#,##0</c:formatCode>
                <c:ptCount val="7"/>
                <c:pt idx="0">
                  <c:v>3330</c:v>
                </c:pt>
                <c:pt idx="1">
                  <c:v>4753</c:v>
                </c:pt>
                <c:pt idx="2">
                  <c:v>27402</c:v>
                </c:pt>
                <c:pt idx="3">
                  <c:v>1702</c:v>
                </c:pt>
                <c:pt idx="4">
                  <c:v>33927</c:v>
                </c:pt>
                <c:pt idx="5">
                  <c:v>13898</c:v>
                </c:pt>
                <c:pt idx="6">
                  <c:v>1348</c:v>
                </c:pt>
              </c:numCache>
            </c:numRef>
          </c:val>
          <c:extLst>
            <c:ext xmlns:c16="http://schemas.microsoft.com/office/drawing/2014/chart" uri="{C3380CC4-5D6E-409C-BE32-E72D297353CC}">
              <c16:uniqueId val="{0000000C-D148-4EB3-9AB2-262EBF2F3F2A}"/>
            </c:ext>
          </c:extLst>
        </c:ser>
        <c:ser>
          <c:idx val="13"/>
          <c:order val="13"/>
          <c:tx>
            <c:strRef>
              <c:f>Munka1!$O$1</c:f>
              <c:strCache>
                <c:ptCount val="1"/>
                <c:pt idx="0">
                  <c:v>2024/2025.</c:v>
                </c:pt>
              </c:strCache>
            </c:strRef>
          </c:tx>
          <c:spPr>
            <a:solidFill>
              <a:srgbClr val="8C6440"/>
            </a:solidFill>
            <a:ln>
              <a:solidFill>
                <a:schemeClr val="tx1"/>
              </a:solidFill>
            </a:ln>
            <a:effectLst/>
          </c:spPr>
          <c:invertIfNegative val="0"/>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Munka1!$O$2:$O$8</c:f>
              <c:numCache>
                <c:formatCode>#,##0</c:formatCode>
                <c:ptCount val="7"/>
                <c:pt idx="0">
                  <c:v>3337</c:v>
                </c:pt>
                <c:pt idx="1">
                  <c:v>4645</c:v>
                </c:pt>
                <c:pt idx="2">
                  <c:v>26341</c:v>
                </c:pt>
                <c:pt idx="3">
                  <c:v>1591</c:v>
                </c:pt>
                <c:pt idx="4">
                  <c:v>31891</c:v>
                </c:pt>
                <c:pt idx="5">
                  <c:v>12140</c:v>
                </c:pt>
                <c:pt idx="6">
                  <c:v>1433</c:v>
                </c:pt>
              </c:numCache>
            </c:numRef>
          </c:val>
          <c:extLst>
            <c:ext xmlns:c16="http://schemas.microsoft.com/office/drawing/2014/chart" uri="{C3380CC4-5D6E-409C-BE32-E72D297353CC}">
              <c16:uniqueId val="{00000010-D148-4EB3-9AB2-262EBF2F3F2A}"/>
            </c:ext>
          </c:extLst>
        </c:ser>
        <c:ser>
          <c:idx val="14"/>
          <c:order val="14"/>
          <c:tx>
            <c:strRef>
              <c:f>Munka1!$P$1</c:f>
              <c:strCache>
                <c:ptCount val="1"/>
                <c:pt idx="0">
                  <c:v>2025/2026</c:v>
                </c:pt>
              </c:strCache>
            </c:strRef>
          </c:tx>
          <c:spPr>
            <a:solidFill>
              <a:srgbClr val="715133"/>
            </a:solidFill>
            <a:ln>
              <a:solidFill>
                <a:schemeClr val="tx1"/>
              </a:solidFill>
            </a:ln>
            <a:effectLst/>
          </c:spPr>
          <c:invertIfNegative val="0"/>
          <c:dLbls>
            <c:dLbl>
              <c:idx val="2"/>
              <c:layout>
                <c:manualLayout>
                  <c:x val="-4.6545392707051632E-3"/>
                  <c:y val="-2.69462492730589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879-4DFC-8A3A-96F3E13C7448}"/>
                </c:ext>
              </c:extLst>
            </c:dLbl>
            <c:dLbl>
              <c:idx val="4"/>
              <c:layout>
                <c:manualLayout>
                  <c:x val="1.6290887447468073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879-4DFC-8A3A-96F3E13C7448}"/>
                </c:ext>
              </c:extLst>
            </c:dLbl>
            <c:dLbl>
              <c:idx val="5"/>
              <c:layout>
                <c:manualLayout>
                  <c:x val="1.1636348176762738E-2"/>
                  <c:y val="-2.20469312234117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879-4DFC-8A3A-96F3E13C7448}"/>
                </c:ext>
              </c:extLst>
            </c:dLbl>
            <c:dLbl>
              <c:idx val="6"/>
              <c:layout>
                <c:manualLayout>
                  <c:x val="-5.8181740883814547E-3"/>
                  <c:y val="-8.981979330427933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879-4DFC-8A3A-96F3E13C7448}"/>
                </c:ext>
              </c:extLst>
            </c:dLbl>
            <c:spPr>
              <a:noFill/>
              <a:ln>
                <a:noFill/>
              </a:ln>
              <a:effectLst/>
            </c:spPr>
            <c:txPr>
              <a:bodyPr rot="0" spcFirstLastPara="1" vertOverflow="ellipsis" vert="horz" wrap="square" lIns="38100" tIns="19050" rIns="38100" bIns="19050" anchor="ctr" anchorCtr="1">
                <a:spAutoFit/>
              </a:bodyPr>
              <a:lstStyle/>
              <a:p>
                <a:pPr>
                  <a:defRPr lang="en-US" sz="1195" b="1" i="0" u="none" strike="noStrike" kern="1200" baseline="0">
                    <a:solidFill>
                      <a:schemeClr val="tx1">
                        <a:lumMod val="75000"/>
                        <a:lumOff val="25000"/>
                      </a:schemeClr>
                    </a:solidFill>
                    <a:latin typeface="+mn-lt"/>
                    <a:ea typeface="+mn-ea"/>
                    <a:cs typeface="+mn-cs"/>
                  </a:defRPr>
                </a:pPr>
                <a:endParaRPr lang="hu-H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Munka1!$A$2:$A$8</c:f>
              <c:strCache>
                <c:ptCount val="7"/>
                <c:pt idx="0">
                  <c:v>8 évfolyamos gimnázium</c:v>
                </c:pt>
                <c:pt idx="1">
                  <c:v>6 évfolyamos gimnázium</c:v>
                </c:pt>
                <c:pt idx="2">
                  <c:v>4 (vagy 5) évfolyamos gimnázium</c:v>
                </c:pt>
                <c:pt idx="3">
                  <c:v>Szakgimnázium 
(2020 előtt: szakgimnázium/technikum; 2016 előtt: szakközépiskola)</c:v>
                </c:pt>
                <c:pt idx="4">
                  <c:v>Technikum 2021-től</c:v>
                </c:pt>
                <c:pt idx="5">
                  <c:v>Szakképző iskola 
(2020 előtt: szakközépiskola/szakképző iskola; 2016 előtt: szakiskola)</c:v>
                </c:pt>
                <c:pt idx="6">
                  <c:v>Szakiskola és készségfejlesztő iskola</c:v>
                </c:pt>
              </c:strCache>
            </c:strRef>
          </c:cat>
          <c:val>
            <c:numRef>
              <c:f>Munka1!$P$2:$P$8</c:f>
              <c:numCache>
                <c:formatCode>#,##0</c:formatCode>
                <c:ptCount val="7"/>
                <c:pt idx="0">
                  <c:v>3286</c:v>
                </c:pt>
                <c:pt idx="1">
                  <c:v>4774</c:v>
                </c:pt>
                <c:pt idx="2">
                  <c:v>27828</c:v>
                </c:pt>
                <c:pt idx="3">
                  <c:v>1624</c:v>
                </c:pt>
                <c:pt idx="4">
                  <c:v>32478</c:v>
                </c:pt>
                <c:pt idx="5">
                  <c:v>11485</c:v>
                </c:pt>
                <c:pt idx="6">
                  <c:v>1437</c:v>
                </c:pt>
              </c:numCache>
            </c:numRef>
          </c:val>
          <c:extLst>
            <c:ext xmlns:c16="http://schemas.microsoft.com/office/drawing/2014/chart" uri="{C3380CC4-5D6E-409C-BE32-E72D297353CC}">
              <c16:uniqueId val="{00000004-F879-4DFC-8A3A-96F3E13C7448}"/>
            </c:ext>
          </c:extLst>
        </c:ser>
        <c:dLbls>
          <c:showLegendKey val="0"/>
          <c:showVal val="0"/>
          <c:showCatName val="0"/>
          <c:showSerName val="0"/>
          <c:showPercent val="0"/>
          <c:showBubbleSize val="0"/>
        </c:dLbls>
        <c:gapWidth val="220"/>
        <c:overlap val="-27"/>
        <c:axId val="500657784"/>
        <c:axId val="500659424"/>
      </c:barChart>
      <c:catAx>
        <c:axId val="500657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800" b="0" i="0" u="none" strike="noStrike" kern="1200" baseline="0">
                <a:solidFill>
                  <a:schemeClr val="tx1"/>
                </a:solidFill>
                <a:latin typeface="+mn-lt"/>
                <a:ea typeface="+mn-ea"/>
                <a:cs typeface="+mn-cs"/>
              </a:defRPr>
            </a:pPr>
            <a:endParaRPr lang="hu-HU"/>
          </a:p>
        </c:txPr>
        <c:crossAx val="500659424"/>
        <c:crosses val="autoZero"/>
        <c:auto val="1"/>
        <c:lblAlgn val="ctr"/>
        <c:lblOffset val="100"/>
        <c:noMultiLvlLbl val="0"/>
      </c:catAx>
      <c:valAx>
        <c:axId val="500659424"/>
        <c:scaling>
          <c:orientation val="minMax"/>
          <c:max val="42000"/>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hu-HU"/>
          </a:p>
        </c:txPr>
        <c:crossAx val="500657784"/>
        <c:crosses val="autoZero"/>
        <c:crossBetween val="between"/>
      </c:valAx>
      <c:spPr>
        <a:noFill/>
        <a:ln>
          <a:noFill/>
        </a:ln>
        <a:effectLst/>
      </c:spPr>
    </c:plotArea>
    <c:legend>
      <c:legendPos val="b"/>
      <c:layout>
        <c:manualLayout>
          <c:xMode val="edge"/>
          <c:yMode val="edge"/>
          <c:x val="4.9397330729259899E-2"/>
          <c:y val="0.95946538765864697"/>
          <c:w val="0.87466086229737983"/>
          <c:h val="4.0534527172408741E-2"/>
        </c:manualLayout>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hu-HU"/>
        </a:p>
      </c:txPr>
    </c:legend>
    <c:plotVisOnly val="1"/>
    <c:dispBlanksAs val="gap"/>
    <c:showDLblsOverMax val="0"/>
    <c:extLst>
      <c:ext uri="{0b15fc19-7d7d-44ad-8c2d-2c3a37ce22c3}">
        <chartProps xmlns="https://web.wps.cn/et/2018/main" chartId="{90b73475-4a3a-42b4-a9db-e9e5dc0525e1}"/>
      </c:ext>
    </c:extLst>
  </c:chart>
  <c:spPr>
    <a:noFill/>
    <a:ln>
      <a:noFill/>
    </a:ln>
    <a:effectLst/>
  </c:spPr>
  <c:txPr>
    <a:bodyPr/>
    <a:lstStyle/>
    <a:p>
      <a:pPr>
        <a:defRPr lang="en-US"/>
      </a:pPr>
      <a:endParaRPr lang="hu-HU"/>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7.27063239471991E-2"/>
          <c:y val="1.9995546754905998E-2"/>
          <c:w val="0.57485524484207595"/>
          <c:h val="0.97755219167528895"/>
        </c:manualLayout>
      </c:layout>
      <c:pieChart>
        <c:varyColors val="1"/>
        <c:ser>
          <c:idx val="1"/>
          <c:order val="0"/>
          <c:tx>
            <c:strRef>
              <c:f>'2025_2026'!$B$1</c:f>
              <c:strCache>
                <c:ptCount val="1"/>
                <c:pt idx="0">
                  <c:v>Értékesítés</c:v>
                </c:pt>
              </c:strCache>
            </c:strRef>
          </c:tx>
          <c:spPr>
            <a:ln w="19050">
              <a:solidFill>
                <a:schemeClr val="tx1"/>
              </a:solidFill>
            </a:ln>
          </c:spPr>
          <c:dPt>
            <c:idx val="0"/>
            <c:bubble3D val="0"/>
            <c:spPr>
              <a:solidFill>
                <a:schemeClr val="accent3">
                  <a:shade val="53000"/>
                </a:schemeClr>
              </a:solidFill>
              <a:ln w="19050">
                <a:solidFill>
                  <a:schemeClr val="tx1"/>
                </a:solidFill>
              </a:ln>
              <a:effectLst/>
            </c:spPr>
            <c:extLst>
              <c:ext xmlns:c16="http://schemas.microsoft.com/office/drawing/2014/chart" uri="{C3380CC4-5D6E-409C-BE32-E72D297353CC}">
                <c16:uniqueId val="{00000001-D039-42C5-AC95-D1C4121CDE0F}"/>
              </c:ext>
            </c:extLst>
          </c:dPt>
          <c:dPt>
            <c:idx val="1"/>
            <c:bubble3D val="0"/>
            <c:spPr>
              <a:solidFill>
                <a:schemeClr val="accent3">
                  <a:shade val="76000"/>
                </a:schemeClr>
              </a:solidFill>
              <a:ln w="19050">
                <a:solidFill>
                  <a:schemeClr val="tx1"/>
                </a:solidFill>
              </a:ln>
              <a:effectLst/>
            </c:spPr>
            <c:extLst>
              <c:ext xmlns:c16="http://schemas.microsoft.com/office/drawing/2014/chart" uri="{C3380CC4-5D6E-409C-BE32-E72D297353CC}">
                <c16:uniqueId val="{00000003-D039-42C5-AC95-D1C4121CDE0F}"/>
              </c:ext>
            </c:extLst>
          </c:dPt>
          <c:dPt>
            <c:idx val="2"/>
            <c:bubble3D val="0"/>
            <c:spPr>
              <a:solidFill>
                <a:schemeClr val="accent3"/>
              </a:solidFill>
              <a:ln w="19050">
                <a:solidFill>
                  <a:schemeClr val="tx1"/>
                </a:solidFill>
              </a:ln>
              <a:effectLst/>
            </c:spPr>
            <c:extLst>
              <c:ext xmlns:c16="http://schemas.microsoft.com/office/drawing/2014/chart" uri="{C3380CC4-5D6E-409C-BE32-E72D297353CC}">
                <c16:uniqueId val="{00000005-D039-42C5-AC95-D1C4121CDE0F}"/>
              </c:ext>
            </c:extLst>
          </c:dPt>
          <c:dPt>
            <c:idx val="3"/>
            <c:bubble3D val="0"/>
            <c:spPr>
              <a:solidFill>
                <a:schemeClr val="accent3">
                  <a:tint val="77000"/>
                </a:schemeClr>
              </a:solidFill>
              <a:ln w="19050">
                <a:solidFill>
                  <a:schemeClr val="tx1"/>
                </a:solidFill>
              </a:ln>
              <a:effectLst/>
            </c:spPr>
            <c:extLst>
              <c:ext xmlns:c16="http://schemas.microsoft.com/office/drawing/2014/chart" uri="{C3380CC4-5D6E-409C-BE32-E72D297353CC}">
                <c16:uniqueId val="{00000007-D039-42C5-AC95-D1C4121CDE0F}"/>
              </c:ext>
            </c:extLst>
          </c:dPt>
          <c:dPt>
            <c:idx val="4"/>
            <c:bubble3D val="0"/>
            <c:spPr>
              <a:solidFill>
                <a:schemeClr val="accent3">
                  <a:tint val="54000"/>
                </a:schemeClr>
              </a:solidFill>
              <a:ln w="19050">
                <a:solidFill>
                  <a:schemeClr val="tx1"/>
                </a:solidFill>
              </a:ln>
              <a:effectLst/>
            </c:spPr>
            <c:extLst>
              <c:ext xmlns:c16="http://schemas.microsoft.com/office/drawing/2014/chart" uri="{C3380CC4-5D6E-409C-BE32-E72D297353CC}">
                <c16:uniqueId val="{00000009-D039-42C5-AC95-D1C4121CDE0F}"/>
              </c:ext>
            </c:extLst>
          </c:dPt>
          <c:dLbls>
            <c:dLbl>
              <c:idx val="4"/>
              <c:layout>
                <c:manualLayout>
                  <c:x val="7.0850932980612499E-3"/>
                  <c:y val="2.4498208351502598E-2"/>
                </c:manualLayout>
              </c:layout>
              <c:spPr>
                <a:noFill/>
                <a:ln>
                  <a:noFill/>
                </a:ln>
                <a:effectLst/>
              </c:spPr>
              <c:txPr>
                <a:bodyPr rot="0" spcFirstLastPara="1" vertOverflow="ellipsis" vert="horz" wrap="square" lIns="38100" tIns="19050" rIns="38100" bIns="19050" anchor="ctr" anchorCtr="1">
                  <a:noAutofit/>
                </a:bodyPr>
                <a:lstStyle/>
                <a:p>
                  <a:pPr>
                    <a:defRPr lang="en-US" sz="1195" b="1" i="0" u="none" strike="noStrike" kern="1200" baseline="0">
                      <a:solidFill>
                        <a:schemeClr val="tx1"/>
                      </a:solidFill>
                      <a:latin typeface="+mn-lt"/>
                      <a:ea typeface="+mn-ea"/>
                      <a:cs typeface="+mn-cs"/>
                    </a:defRPr>
                  </a:pPr>
                  <a:endParaRPr lang="hu-HU"/>
                </a:p>
              </c:txPr>
              <c:dLblPos val="bestFit"/>
              <c:showLegendKey val="0"/>
              <c:showVal val="0"/>
              <c:showCatName val="0"/>
              <c:showSerName val="0"/>
              <c:showPercent val="1"/>
              <c:showBubbleSize val="0"/>
              <c:extLst>
                <c:ext xmlns:c15="http://schemas.microsoft.com/office/drawing/2012/chart" uri="{CE6537A1-D6FC-4f65-9D91-7224C49458BB}">
                  <c15:layout>
                    <c:manualLayout>
                      <c:w val="4.1950534629553698E-2"/>
                      <c:h val="4.6336611224842103E-2"/>
                    </c:manualLayout>
                  </c15:layout>
                </c:ext>
                <c:ext xmlns:c16="http://schemas.microsoft.com/office/drawing/2014/chart" uri="{C3380CC4-5D6E-409C-BE32-E72D297353CC}">
                  <c16:uniqueId val="{00000009-D039-42C5-AC95-D1C4121CDE0F}"/>
                </c:ext>
              </c:extLst>
            </c:dLbl>
            <c:spPr>
              <a:noFill/>
              <a:ln>
                <a:noFill/>
              </a:ln>
              <a:effectLst/>
            </c:spPr>
            <c:txPr>
              <a:bodyPr rot="0" spcFirstLastPara="1" vertOverflow="ellipsis" vert="horz" wrap="square" lIns="38100" tIns="19050" rIns="38100" bIns="19050" anchor="ctr" anchorCtr="1">
                <a:spAutoFit/>
              </a:bodyPr>
              <a:lstStyle/>
              <a:p>
                <a:pPr>
                  <a:defRPr lang="en-US" sz="1195" b="1" i="0" u="none" strike="noStrike" kern="1200" baseline="0">
                    <a:solidFill>
                      <a:schemeClr val="tx1"/>
                    </a:solidFill>
                    <a:latin typeface="+mn-lt"/>
                    <a:ea typeface="+mn-ea"/>
                    <a:cs typeface="+mn-cs"/>
                  </a:defRPr>
                </a:pPr>
                <a:endParaRPr lang="hu-HU"/>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'2025_2026'!$A$2:$A$6</c:f>
              <c:strCache>
                <c:ptCount val="5"/>
                <c:pt idx="0">
                  <c:v>1. helyen megjelölt tanulmányi területre</c:v>
                </c:pt>
                <c:pt idx="1">
                  <c:v>2. helyen megjelölt tanulmányi területre</c:v>
                </c:pt>
                <c:pt idx="2">
                  <c:v>3. helyen megjelölt tanulmányi területre</c:v>
                </c:pt>
                <c:pt idx="3">
                  <c:v>További helyen megjelölt tanulmányi területre</c:v>
                </c:pt>
                <c:pt idx="4">
                  <c:v>Felvételt nem nyert tanulók</c:v>
                </c:pt>
              </c:strCache>
            </c:strRef>
          </c:cat>
          <c:val>
            <c:numRef>
              <c:f>'2025_2026'!$B$2:$B$6</c:f>
              <c:numCache>
                <c:formatCode>General</c:formatCode>
                <c:ptCount val="5"/>
                <c:pt idx="0" formatCode="#,##0">
                  <c:v>59259</c:v>
                </c:pt>
                <c:pt idx="1">
                  <c:v>8211</c:v>
                </c:pt>
                <c:pt idx="2">
                  <c:v>3553</c:v>
                </c:pt>
                <c:pt idx="3" formatCode="#,##0">
                  <c:v>2483</c:v>
                </c:pt>
                <c:pt idx="4">
                  <c:v>1346</c:v>
                </c:pt>
              </c:numCache>
            </c:numRef>
          </c:val>
          <c:extLst>
            <c:ext xmlns:c16="http://schemas.microsoft.com/office/drawing/2014/chart" uri="{C3380CC4-5D6E-409C-BE32-E72D297353CC}">
              <c16:uniqueId val="{0000000A-D039-42C5-AC95-D1C4121CDE0F}"/>
            </c:ext>
          </c:extLst>
        </c:ser>
        <c:dLbls>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61492899464316098"/>
          <c:y val="0.231127586216963"/>
          <c:w val="0.312655418084958"/>
          <c:h val="0.537744827566073"/>
        </c:manualLayout>
      </c:layout>
      <c:overlay val="0"/>
      <c:spPr>
        <a:noFill/>
        <a:ln>
          <a:noFill/>
        </a:ln>
        <a:effectLst/>
      </c:spPr>
      <c:txPr>
        <a:bodyPr rot="0" spcFirstLastPara="1" vertOverflow="ellipsis" vert="horz" wrap="square" anchor="ctr" anchorCtr="1"/>
        <a:lstStyle/>
        <a:p>
          <a:pPr>
            <a:defRPr lang="en-US" sz="1195" b="0" i="0" u="none" strike="noStrike" kern="1200" baseline="0">
              <a:solidFill>
                <a:schemeClr val="tx1"/>
              </a:solidFill>
              <a:latin typeface="+mn-lt"/>
              <a:ea typeface="+mn-ea"/>
              <a:cs typeface="+mn-cs"/>
            </a:defRPr>
          </a:pPr>
          <a:endParaRPr lang="hu-HU"/>
        </a:p>
      </c:txPr>
    </c:legend>
    <c:plotVisOnly val="1"/>
    <c:dispBlanksAs val="gap"/>
    <c:showDLblsOverMax val="0"/>
    <c:extLst>
      <c:ext uri="{0b15fc19-7d7d-44ad-8c2d-2c3a37ce22c3}">
        <chartProps xmlns="https://web.wps.cn/et/2018/main" chartId="{e566096d-c351-4f47-9376-c1b315fdc372}"/>
      </c:ext>
    </c:extLst>
  </c:chart>
  <c:spPr>
    <a:noFill/>
    <a:ln>
      <a:noFill/>
    </a:ln>
    <a:effectLst/>
  </c:spPr>
  <c:txPr>
    <a:bodyPr/>
    <a:lstStyle/>
    <a:p>
      <a:pPr>
        <a:defRPr lang="en-US"/>
      </a:pPr>
      <a:endParaRPr lang="hu-HU"/>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lang="en-US" sz="1050" b="0" i="0" u="none" strike="noStrike" kern="1200" spc="0" baseline="0">
                <a:solidFill>
                  <a:schemeClr val="tx1"/>
                </a:solidFill>
                <a:latin typeface="+mn-lt"/>
                <a:ea typeface="+mn-ea"/>
                <a:cs typeface="+mn-cs"/>
              </a:defRPr>
            </a:pPr>
            <a:r>
              <a:rPr lang="hu-HU" sz="1050" b="1" i="0" baseline="0" dirty="0">
                <a:effectLst/>
              </a:rPr>
              <a:t>A középfokú iskola 9. évfolyamára jelentkezők körében meghirdetett férőhelyek száma és aránya</a:t>
            </a:r>
            <a:endParaRPr lang="hu-HU" sz="1050" dirty="0">
              <a:effectLst/>
            </a:endParaRPr>
          </a:p>
        </c:rich>
      </c:tx>
      <c:layout>
        <c:manualLayout>
          <c:xMode val="edge"/>
          <c:yMode val="edge"/>
          <c:x val="0.12367841897062599"/>
          <c:y val="2.37716366866986E-2"/>
        </c:manualLayout>
      </c:layout>
      <c:overlay val="0"/>
      <c:spPr>
        <a:noFill/>
        <a:ln>
          <a:noFill/>
        </a:ln>
        <a:effectLst/>
      </c:spPr>
    </c:title>
    <c:autoTitleDeleted val="0"/>
    <c:plotArea>
      <c:layout>
        <c:manualLayout>
          <c:layoutTarget val="inner"/>
          <c:xMode val="edge"/>
          <c:yMode val="edge"/>
          <c:x val="0.35798032348068198"/>
          <c:y val="0.30935066247797899"/>
          <c:w val="0.31693788890268099"/>
          <c:h val="0.58891027266046903"/>
        </c:manualLayout>
      </c:layout>
      <c:pieChart>
        <c:varyColors val="1"/>
        <c:ser>
          <c:idx val="0"/>
          <c:order val="0"/>
          <c:tx>
            <c:strRef>
              <c:f>'2025_2026'!$B$1</c:f>
              <c:strCache>
                <c:ptCount val="1"/>
                <c:pt idx="0">
                  <c:v>Fő</c:v>
                </c:pt>
              </c:strCache>
            </c:strRef>
          </c:tx>
          <c:spPr>
            <a:ln>
              <a:solidFill>
                <a:srgbClr val="715133"/>
              </a:solidFill>
            </a:ln>
          </c:spPr>
          <c:dPt>
            <c:idx val="0"/>
            <c:bubble3D val="0"/>
            <c:spPr>
              <a:solidFill>
                <a:schemeClr val="accent3">
                  <a:shade val="53000"/>
                </a:schemeClr>
              </a:solidFill>
              <a:ln>
                <a:solidFill>
                  <a:srgbClr val="715133"/>
                </a:solidFill>
              </a:ln>
              <a:effectLst/>
            </c:spPr>
            <c:extLst>
              <c:ext xmlns:c16="http://schemas.microsoft.com/office/drawing/2014/chart" uri="{C3380CC4-5D6E-409C-BE32-E72D297353CC}">
                <c16:uniqueId val="{00000001-165B-4C90-8C13-A02F205E693F}"/>
              </c:ext>
            </c:extLst>
          </c:dPt>
          <c:dPt>
            <c:idx val="1"/>
            <c:bubble3D val="0"/>
            <c:spPr>
              <a:solidFill>
                <a:schemeClr val="accent3">
                  <a:shade val="76000"/>
                </a:schemeClr>
              </a:solidFill>
              <a:ln>
                <a:solidFill>
                  <a:srgbClr val="715133"/>
                </a:solidFill>
              </a:ln>
              <a:effectLst/>
            </c:spPr>
            <c:extLst>
              <c:ext xmlns:c16="http://schemas.microsoft.com/office/drawing/2014/chart" uri="{C3380CC4-5D6E-409C-BE32-E72D297353CC}">
                <c16:uniqueId val="{00000003-165B-4C90-8C13-A02F205E693F}"/>
              </c:ext>
            </c:extLst>
          </c:dPt>
          <c:dPt>
            <c:idx val="2"/>
            <c:bubble3D val="0"/>
            <c:spPr>
              <a:solidFill>
                <a:schemeClr val="accent3"/>
              </a:solidFill>
              <a:ln>
                <a:solidFill>
                  <a:srgbClr val="715133"/>
                </a:solidFill>
              </a:ln>
              <a:effectLst/>
            </c:spPr>
            <c:extLst>
              <c:ext xmlns:c16="http://schemas.microsoft.com/office/drawing/2014/chart" uri="{C3380CC4-5D6E-409C-BE32-E72D297353CC}">
                <c16:uniqueId val="{00000005-165B-4C90-8C13-A02F205E693F}"/>
              </c:ext>
            </c:extLst>
          </c:dPt>
          <c:dPt>
            <c:idx val="3"/>
            <c:bubble3D val="0"/>
            <c:spPr>
              <a:solidFill>
                <a:schemeClr val="accent3">
                  <a:tint val="77000"/>
                </a:schemeClr>
              </a:solidFill>
              <a:ln>
                <a:solidFill>
                  <a:srgbClr val="715133"/>
                </a:solidFill>
              </a:ln>
              <a:effectLst/>
            </c:spPr>
            <c:extLst>
              <c:ext xmlns:c16="http://schemas.microsoft.com/office/drawing/2014/chart" uri="{C3380CC4-5D6E-409C-BE32-E72D297353CC}">
                <c16:uniqueId val="{00000007-165B-4C90-8C13-A02F205E693F}"/>
              </c:ext>
            </c:extLst>
          </c:dPt>
          <c:dPt>
            <c:idx val="4"/>
            <c:bubble3D val="0"/>
            <c:spPr>
              <a:solidFill>
                <a:schemeClr val="accent3">
                  <a:tint val="54000"/>
                </a:schemeClr>
              </a:solidFill>
              <a:ln>
                <a:solidFill>
                  <a:srgbClr val="715133"/>
                </a:solidFill>
              </a:ln>
              <a:effectLst/>
            </c:spPr>
            <c:extLst>
              <c:ext xmlns:c16="http://schemas.microsoft.com/office/drawing/2014/chart" uri="{C3380CC4-5D6E-409C-BE32-E72D297353CC}">
                <c16:uniqueId val="{00000009-165B-4C90-8C13-A02F205E693F}"/>
              </c:ext>
            </c:extLst>
          </c:dPt>
          <c:dLbls>
            <c:dLbl>
              <c:idx val="0"/>
              <c:layout>
                <c:manualLayout>
                  <c:x val="4.8322422921040199E-2"/>
                  <c:y val="-3.1403866519676199E-3"/>
                </c:manualLayout>
              </c:layout>
              <c:tx>
                <c:rich>
                  <a:bodyPr/>
                  <a:lstStyle/>
                  <a:p>
                    <a:fld id="{DCEF1415-1CC0-46C2-8A32-365504D06611}" type="CATEGORYNAME">
                      <a:rPr lang="en-US" smtClean="0"/>
                      <a:pPr/>
                      <a:t>[KATEGÓRIA NEVE]</a:t>
                    </a:fld>
                    <a:r>
                      <a:rPr lang="en-US" dirty="0"/>
                      <a:t>;</a:t>
                    </a:r>
                  </a:p>
                  <a:p>
                    <a:fld id="{5E81665C-8E42-4EB1-9689-37A3BEBFDED6}" type="VALUE">
                      <a:rPr lang="en-US" smtClean="0"/>
                      <a:pPr/>
                      <a:t>[ÉRTÉK]</a:t>
                    </a:fld>
                    <a:r>
                      <a:rPr lang="en-US" dirty="0"/>
                      <a:t>; 30%</a:t>
                    </a:r>
                  </a:p>
                  <a:p>
                    <a:endParaRPr lang="hu-HU"/>
                  </a:p>
                </c:rich>
              </c:tx>
              <c:dLblPos val="bestFit"/>
              <c:showLegendKey val="0"/>
              <c:showVal val="1"/>
              <c:showCatName val="1"/>
              <c:showSerName val="0"/>
              <c:showPercent val="1"/>
              <c:showBubbleSize val="0"/>
              <c:extLst>
                <c:ext xmlns:c15="http://schemas.microsoft.com/office/drawing/2012/chart" uri="{CE6537A1-D6FC-4f65-9D91-7224C49458BB}">
                  <c15:layout>
                    <c:manualLayout>
                      <c:w val="0.32912459456979898"/>
                      <c:h val="0.21552888216134999"/>
                    </c:manualLayout>
                  </c15:layout>
                  <c15:dlblFieldTable/>
                  <c15:showDataLabelsRange val="0"/>
                </c:ext>
                <c:ext xmlns:c16="http://schemas.microsoft.com/office/drawing/2014/chart" uri="{C3380CC4-5D6E-409C-BE32-E72D297353CC}">
                  <c16:uniqueId val="{00000001-165B-4C90-8C13-A02F205E693F}"/>
                </c:ext>
              </c:extLst>
            </c:dLbl>
            <c:dLbl>
              <c:idx val="1"/>
              <c:layout>
                <c:manualLayout>
                  <c:x val="7.0095468356206503E-2"/>
                  <c:y val="-9.7367447006819499E-2"/>
                </c:manualLayout>
              </c:layout>
              <c:spPr>
                <a:solidFill>
                  <a:srgbClr val="FFFFFF"/>
                </a:solidFill>
                <a:ln w="9525" cap="flat" cmpd="sng" algn="ctr">
                  <a:solidFill>
                    <a:schemeClr val="bg1">
                      <a:lumMod val="65000"/>
                    </a:schemeClr>
                  </a:solidFill>
                  <a:prstDash val="solid"/>
                  <a:round/>
                  <a:headEnd type="none" w="med" len="med"/>
                  <a:tailEnd type="none" w="med" len="med"/>
                </a:ln>
                <a:effectLst/>
              </c:spPr>
              <c:txPr>
                <a:bodyPr rot="0" spcFirstLastPara="1" vertOverflow="clip" horzOverflow="clip" vert="horz" wrap="square" lIns="38100" tIns="19050" rIns="38100" bIns="19050" anchor="ctr" anchorCtr="1">
                  <a:noAutofit/>
                </a:bodyPr>
                <a:lstStyle/>
                <a:p>
                  <a:pPr>
                    <a:defRPr lang="en-US" sz="800" b="0" i="0" u="none" strike="noStrike" kern="1200" baseline="0">
                      <a:solidFill>
                        <a:schemeClr val="tx1"/>
                      </a:solidFill>
                      <a:latin typeface="+mn-lt"/>
                      <a:ea typeface="+mn-ea"/>
                      <a:cs typeface="+mn-cs"/>
                    </a:defRPr>
                  </a:pPr>
                  <a:endParaRPr lang="hu-HU"/>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86934"/>
                        <a:gd name="adj2" fmla="val 28818"/>
                      </a:avLst>
                    </a:prstGeom>
                  </c15:spPr>
                  <c15:layout>
                    <c:manualLayout>
                      <c:w val="0.21374917025100201"/>
                      <c:h val="0.21644554442161901"/>
                    </c:manualLayout>
                  </c15:layout>
                </c:ext>
                <c:ext xmlns:c16="http://schemas.microsoft.com/office/drawing/2014/chart" uri="{C3380CC4-5D6E-409C-BE32-E72D297353CC}">
                  <c16:uniqueId val="{00000003-165B-4C90-8C13-A02F205E693F}"/>
                </c:ext>
              </c:extLst>
            </c:dLbl>
            <c:dLbl>
              <c:idx val="2"/>
              <c:layout>
                <c:manualLayout>
                  <c:x val="0.36391609146397408"/>
                  <c:y val="-3.0068929213785619E-2"/>
                </c:manualLayout>
              </c:layout>
              <c:tx>
                <c:rich>
                  <a:bodyPr rot="0" spcFirstLastPara="1" vertOverflow="clip" horzOverflow="clip" vert="horz" wrap="square" lIns="38100" tIns="19050" rIns="38100" bIns="19050" anchor="ctr" anchorCtr="1">
                    <a:noAutofit/>
                  </a:bodyPr>
                  <a:lstStyle/>
                  <a:p>
                    <a:fld id="{12A76DB1-52BA-40D3-B35E-490AB9907EAD}" type="CATEGORYNAME">
                      <a:rPr lang="en-US" sz="800" smtClean="0">
                        <a:latin typeface="+mn-lt"/>
                      </a:rPr>
                      <a:pPr/>
                      <a:t>[KATEGÓRIA NEVE]</a:t>
                    </a:fld>
                    <a:r>
                      <a:rPr lang="en-US" sz="800" dirty="0">
                        <a:latin typeface="+mn-lt"/>
                      </a:rPr>
                      <a:t>;</a:t>
                    </a:r>
                  </a:p>
                  <a:p>
                    <a:fld id="{4F0E6E31-852C-4F10-9301-EC376C534C24}" type="VALUE">
                      <a:rPr lang="en-US" sz="800" smtClean="0">
                        <a:latin typeface="+mn-lt"/>
                      </a:rPr>
                      <a:pPr/>
                      <a:t>[ÉRTÉK]</a:t>
                    </a:fld>
                    <a:r>
                      <a:rPr lang="en-US" sz="800" dirty="0">
                        <a:latin typeface="+mn-lt"/>
                      </a:rPr>
                      <a:t>; 40%</a:t>
                    </a:r>
                  </a:p>
                </c:rich>
              </c:tx>
              <c:spPr>
                <a:xfrm>
                  <a:off x="2990345" y="2064202"/>
                  <a:ext cx="1211774" cy="393791"/>
                </a:xfrm>
                <a:solidFill>
                  <a:srgbClr val="FFFFFF"/>
                </a:solidFill>
                <a:ln w="9525" cap="flat" cmpd="sng" algn="ctr">
                  <a:solidFill>
                    <a:prstClr val="white">
                      <a:lumMod val="65000"/>
                    </a:prst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67754"/>
                        <a:gd name="adj2" fmla="val -23869"/>
                      </a:avLst>
                    </a:prstGeom>
                  </c15:spPr>
                  <c15:layout>
                    <c:manualLayout>
                      <c:w val="0.26158523883279278"/>
                      <c:h val="0.15539141833655984"/>
                    </c:manualLayout>
                  </c15:layout>
                  <c15:dlblFieldTable/>
                  <c15:showDataLabelsRange val="0"/>
                </c:ext>
                <c:ext xmlns:c16="http://schemas.microsoft.com/office/drawing/2014/chart" uri="{C3380CC4-5D6E-409C-BE32-E72D297353CC}">
                  <c16:uniqueId val="{00000005-165B-4C90-8C13-A02F205E693F}"/>
                </c:ext>
              </c:extLst>
            </c:dLbl>
            <c:dLbl>
              <c:idx val="3"/>
              <c:layout>
                <c:manualLayout>
                  <c:x val="-7.081334290355483E-2"/>
                  <c:y val="0.20631273690964463"/>
                </c:manualLayout>
              </c:layout>
              <c:spPr>
                <a:xfrm>
                  <a:off x="88900" y="1168319"/>
                  <a:ext cx="1322932" cy="546191"/>
                </a:xfrm>
                <a:solidFill>
                  <a:srgbClr val="FFFFFF"/>
                </a:solidFill>
                <a:ln w="9525" cap="flat" cmpd="sng" algn="ctr">
                  <a:solidFill>
                    <a:prstClr val="white">
                      <a:lumMod val="65000"/>
                    </a:prst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lang="en-US" sz="800" b="0" i="0" u="none" strike="noStrike" kern="1200" baseline="0">
                      <a:solidFill>
                        <a:schemeClr val="tx1"/>
                      </a:solidFill>
                      <a:latin typeface="+mn-lt"/>
                      <a:ea typeface="+mn-ea"/>
                      <a:cs typeface="+mn-cs"/>
                    </a:defRPr>
                  </a:pPr>
                  <a:endParaRPr lang="hu-HU"/>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73535"/>
                        <a:gd name="adj2" fmla="val -38149"/>
                      </a:avLst>
                    </a:prstGeom>
                  </c15:spPr>
                  <c15:layout>
                    <c:manualLayout>
                      <c:w val="0.28558109413536098"/>
                      <c:h val="0.21552876300006699"/>
                    </c:manualLayout>
                  </c15:layout>
                </c:ext>
                <c:ext xmlns:c16="http://schemas.microsoft.com/office/drawing/2014/chart" uri="{C3380CC4-5D6E-409C-BE32-E72D297353CC}">
                  <c16:uniqueId val="{00000007-165B-4C90-8C13-A02F205E693F}"/>
                </c:ext>
              </c:extLst>
            </c:dLbl>
            <c:dLbl>
              <c:idx val="4"/>
              <c:layout>
                <c:manualLayout>
                  <c:x val="-0.24673891104551099"/>
                  <c:y val="8.0183087798329597E-2"/>
                </c:manualLayout>
              </c:layout>
              <c:spPr>
                <a:solidFill>
                  <a:prstClr val="white"/>
                </a:solidFill>
                <a:ln>
                  <a:solidFill>
                    <a:prstClr val="white">
                      <a:lumMod val="65000"/>
                    </a:prstClr>
                  </a:solidFill>
                </a:ln>
                <a:effectLst/>
              </c:spPr>
              <c:txPr>
                <a:bodyPr/>
                <a:lstStyle/>
                <a:p>
                  <a:pPr>
                    <a:defRPr/>
                  </a:pPr>
                  <a:endParaRPr lang="hu-HU"/>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15:layout>
                    <c:manualLayout>
                      <c:w val="0.30153105554866"/>
                      <c:h val="0.196996362551565"/>
                    </c:manualLayout>
                  </c15:layout>
                </c:ext>
                <c:ext xmlns:c16="http://schemas.microsoft.com/office/drawing/2014/chart" uri="{C3380CC4-5D6E-409C-BE32-E72D297353CC}">
                  <c16:uniqueId val="{00000009-165B-4C90-8C13-A02F205E693F}"/>
                </c:ext>
              </c:extLst>
            </c:dLbl>
            <c:spPr>
              <a:solidFill>
                <a:srgbClr val="FFFFFF"/>
              </a:solidFill>
              <a:ln>
                <a:solidFill>
                  <a:prstClr val="white">
                    <a:lumMod val="65000"/>
                  </a:prstClr>
                </a:solidFill>
              </a:ln>
              <a:effectLst/>
            </c:spPr>
            <c:txPr>
              <a:bodyPr rot="0" spcFirstLastPara="1" vertOverflow="clip" horzOverflow="clip" vert="horz" wrap="square" lIns="38100" tIns="19050" rIns="38100" bIns="19050" anchor="ctr" anchorCtr="1">
                <a:spAutoFit/>
              </a:bodyPr>
              <a:lstStyle/>
              <a:p>
                <a:pPr>
                  <a:defRPr lang="en-US" sz="800" b="0" i="0" u="none" strike="noStrike" kern="1200" baseline="0">
                    <a:solidFill>
                      <a:schemeClr val="tx1"/>
                    </a:solidFill>
                    <a:latin typeface="+mn-lt"/>
                    <a:ea typeface="+mn-ea"/>
                    <a:cs typeface="+mn-cs"/>
                  </a:defRPr>
                </a:pPr>
                <a:endParaRPr lang="hu-HU"/>
              </a:p>
            </c:tx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c15:spPr>
              </c:ext>
            </c:extLst>
          </c:dLbls>
          <c:cat>
            <c:strRef>
              <c:f>'2025_2026'!$A$2:$A$6</c:f>
              <c:strCache>
                <c:ptCount val="5"/>
                <c:pt idx="0">
                  <c:v>4 (vagy 5) évfolyamos gimnázium</c:v>
                </c:pt>
                <c:pt idx="1">
                  <c:v>Szakgimnázium</c:v>
                </c:pt>
                <c:pt idx="2">
                  <c:v>Technikum</c:v>
                </c:pt>
                <c:pt idx="3">
                  <c:v>Szakképző iskola</c:v>
                </c:pt>
                <c:pt idx="4">
                  <c:v>Szakiskola és Készségfejlesztő iskola</c:v>
                </c:pt>
              </c:strCache>
            </c:strRef>
          </c:cat>
          <c:val>
            <c:numRef>
              <c:f>'2025_2026'!$B$2:$B$6</c:f>
              <c:numCache>
                <c:formatCode>#,##0</c:formatCode>
                <c:ptCount val="5"/>
                <c:pt idx="0">
                  <c:v>37853</c:v>
                </c:pt>
                <c:pt idx="1">
                  <c:v>3264</c:v>
                </c:pt>
                <c:pt idx="2">
                  <c:v>49752</c:v>
                </c:pt>
                <c:pt idx="3">
                  <c:v>28955</c:v>
                </c:pt>
                <c:pt idx="4">
                  <c:v>4918</c:v>
                </c:pt>
              </c:numCache>
            </c:numRef>
          </c:val>
          <c:extLst>
            <c:ext xmlns:c16="http://schemas.microsoft.com/office/drawing/2014/chart" uri="{C3380CC4-5D6E-409C-BE32-E72D297353CC}">
              <c16:uniqueId val="{0000000A-165B-4C90-8C13-A02F205E693F}"/>
            </c:ext>
          </c:extLst>
        </c:ser>
        <c:ser>
          <c:idx val="1"/>
          <c:order val="1"/>
          <c:tx>
            <c:strRef>
              <c:f>'2025_2026'!$C$1</c:f>
              <c:strCache>
                <c:ptCount val="1"/>
                <c:pt idx="0">
                  <c:v>Százalék</c:v>
                </c:pt>
              </c:strCache>
            </c:strRef>
          </c:tx>
          <c:dPt>
            <c:idx val="0"/>
            <c:bubble3D val="0"/>
            <c:spPr>
              <a:solidFill>
                <a:schemeClr val="accent3">
                  <a:shade val="53000"/>
                </a:schemeClr>
              </a:solidFill>
              <a:ln>
                <a:noFill/>
              </a:ln>
              <a:effectLst/>
            </c:spPr>
            <c:extLst>
              <c:ext xmlns:c16="http://schemas.microsoft.com/office/drawing/2014/chart" uri="{C3380CC4-5D6E-409C-BE32-E72D297353CC}">
                <c16:uniqueId val="{0000000C-165B-4C90-8C13-A02F205E693F}"/>
              </c:ext>
            </c:extLst>
          </c:dPt>
          <c:dPt>
            <c:idx val="1"/>
            <c:bubble3D val="0"/>
            <c:spPr>
              <a:solidFill>
                <a:schemeClr val="accent3">
                  <a:shade val="76000"/>
                </a:schemeClr>
              </a:solidFill>
              <a:ln>
                <a:noFill/>
              </a:ln>
              <a:effectLst/>
            </c:spPr>
            <c:extLst>
              <c:ext xmlns:c16="http://schemas.microsoft.com/office/drawing/2014/chart" uri="{C3380CC4-5D6E-409C-BE32-E72D297353CC}">
                <c16:uniqueId val="{0000000E-165B-4C90-8C13-A02F205E693F}"/>
              </c:ext>
            </c:extLst>
          </c:dPt>
          <c:dPt>
            <c:idx val="2"/>
            <c:bubble3D val="0"/>
            <c:spPr>
              <a:solidFill>
                <a:schemeClr val="accent3"/>
              </a:solidFill>
              <a:ln>
                <a:noFill/>
              </a:ln>
              <a:effectLst/>
            </c:spPr>
            <c:extLst>
              <c:ext xmlns:c16="http://schemas.microsoft.com/office/drawing/2014/chart" uri="{C3380CC4-5D6E-409C-BE32-E72D297353CC}">
                <c16:uniqueId val="{00000010-165B-4C90-8C13-A02F205E693F}"/>
              </c:ext>
            </c:extLst>
          </c:dPt>
          <c:dPt>
            <c:idx val="3"/>
            <c:bubble3D val="0"/>
            <c:spPr>
              <a:solidFill>
                <a:schemeClr val="accent3">
                  <a:tint val="77000"/>
                </a:schemeClr>
              </a:solidFill>
              <a:ln>
                <a:noFill/>
              </a:ln>
              <a:effectLst/>
            </c:spPr>
            <c:extLst>
              <c:ext xmlns:c16="http://schemas.microsoft.com/office/drawing/2014/chart" uri="{C3380CC4-5D6E-409C-BE32-E72D297353CC}">
                <c16:uniqueId val="{00000012-165B-4C90-8C13-A02F205E693F}"/>
              </c:ext>
            </c:extLst>
          </c:dPt>
          <c:dPt>
            <c:idx val="4"/>
            <c:bubble3D val="0"/>
            <c:spPr>
              <a:solidFill>
                <a:schemeClr val="accent3">
                  <a:tint val="54000"/>
                </a:schemeClr>
              </a:solidFill>
              <a:ln>
                <a:noFill/>
              </a:ln>
              <a:effectLst/>
            </c:spPr>
            <c:extLst>
              <c:ext xmlns:c16="http://schemas.microsoft.com/office/drawing/2014/chart" uri="{C3380CC4-5D6E-409C-BE32-E72D297353CC}">
                <c16:uniqueId val="{00000014-165B-4C90-8C13-A02F205E693F}"/>
              </c:ext>
            </c:extLst>
          </c:dPt>
          <c:cat>
            <c:strRef>
              <c:f>'2025_2026'!$A$2:$A$6</c:f>
              <c:strCache>
                <c:ptCount val="5"/>
                <c:pt idx="0">
                  <c:v>4 (vagy 5) évfolyamos gimnázium</c:v>
                </c:pt>
                <c:pt idx="1">
                  <c:v>Szakgimnázium</c:v>
                </c:pt>
                <c:pt idx="2">
                  <c:v>Technikum</c:v>
                </c:pt>
                <c:pt idx="3">
                  <c:v>Szakképző iskola</c:v>
                </c:pt>
                <c:pt idx="4">
                  <c:v>Szakiskola és Készségfejlesztő iskola</c:v>
                </c:pt>
              </c:strCache>
            </c:strRef>
          </c:cat>
          <c:val>
            <c:numRef>
              <c:f>'2025_2026'!$C$2:$C$6</c:f>
              <c:numCache>
                <c:formatCode>0%</c:formatCode>
                <c:ptCount val="5"/>
                <c:pt idx="0">
                  <c:v>0.30345032146350065</c:v>
                </c:pt>
                <c:pt idx="1">
                  <c:v>2.6166006637700214E-2</c:v>
                </c:pt>
                <c:pt idx="2">
                  <c:v>0.39883920411729812</c:v>
                </c:pt>
                <c:pt idx="3">
                  <c:v>0.23211909380962306</c:v>
                </c:pt>
                <c:pt idx="4">
                  <c:v>3.9425373971877953E-2</c:v>
                </c:pt>
              </c:numCache>
            </c:numRef>
          </c:val>
          <c:extLst>
            <c:ext xmlns:c16="http://schemas.microsoft.com/office/drawing/2014/chart" uri="{C3380CC4-5D6E-409C-BE32-E72D297353CC}">
              <c16:uniqueId val="{00000015-165B-4C90-8C13-A02F205E693F}"/>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uri="{0b15fc19-7d7d-44ad-8c2d-2c3a37ce22c3}">
        <chartProps xmlns="https://web.wps.cn/et/2018/main" chartId="{7a990c32-7412-494e-976f-f71dfb1567af}"/>
      </c:ext>
    </c:extLst>
  </c:chart>
  <c:spPr>
    <a:noFill/>
    <a:ln w="6350" cap="flat" cmpd="sng" algn="ctr">
      <a:solidFill>
        <a:schemeClr val="tx2"/>
      </a:solidFill>
      <a:prstDash val="solid"/>
      <a:miter lim="800000"/>
    </a:ln>
    <a:effectLst/>
  </c:spPr>
  <c:txPr>
    <a:bodyPr/>
    <a:lstStyle/>
    <a:p>
      <a:pPr>
        <a:defRPr lang="en-US"/>
      </a:pPr>
      <a:endParaRPr lang="hu-HU"/>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lang="en-US" sz="1050" b="0" i="0" u="none" strike="noStrike" kern="1200" spc="0" baseline="0">
                <a:solidFill>
                  <a:schemeClr val="tx1"/>
                </a:solidFill>
                <a:latin typeface="+mn-lt"/>
                <a:ea typeface="+mn-ea"/>
                <a:cs typeface="+mn-cs"/>
              </a:defRPr>
            </a:pPr>
            <a:r>
              <a:rPr lang="hu-HU" sz="1050" b="1" i="0" baseline="0" dirty="0">
                <a:effectLst/>
              </a:rPr>
              <a:t>A középfokú iskola 9. évfolyamára jelentkezők körében az általános felvételi eljárás után</a:t>
            </a:r>
            <a:endParaRPr lang="hu-HU" sz="1050" dirty="0">
              <a:effectLst/>
            </a:endParaRPr>
          </a:p>
          <a:p>
            <a:pPr>
              <a:defRPr lang="en-US" sz="1050" b="0" i="0" u="none" strike="noStrike" kern="1200" spc="0" baseline="0">
                <a:solidFill>
                  <a:schemeClr val="tx1"/>
                </a:solidFill>
                <a:latin typeface="+mn-lt"/>
                <a:ea typeface="+mn-ea"/>
                <a:cs typeface="+mn-cs"/>
              </a:defRPr>
            </a:pPr>
            <a:r>
              <a:rPr lang="hu-HU" sz="1050" b="1" i="0" baseline="0" dirty="0">
                <a:effectLst/>
              </a:rPr>
              <a:t>üresen maradt férőhelyek száma</a:t>
            </a:r>
            <a:endParaRPr lang="hu-HU" sz="1050" dirty="0">
              <a:effectLst/>
            </a:endParaRPr>
          </a:p>
        </c:rich>
      </c:tx>
      <c:layout>
        <c:manualLayout>
          <c:xMode val="edge"/>
          <c:yMode val="edge"/>
          <c:x val="0.158670674646648"/>
          <c:y val="2.7888943153989099E-2"/>
        </c:manualLayout>
      </c:layout>
      <c:overlay val="0"/>
      <c:spPr>
        <a:noFill/>
        <a:ln>
          <a:noFill/>
        </a:ln>
        <a:effectLst/>
      </c:spPr>
    </c:title>
    <c:autoTitleDeleted val="0"/>
    <c:plotArea>
      <c:layout>
        <c:manualLayout>
          <c:layoutTarget val="inner"/>
          <c:xMode val="edge"/>
          <c:yMode val="edge"/>
          <c:x val="0.35098118156257302"/>
          <c:y val="0.310476404636504"/>
          <c:w val="0.322711538772889"/>
          <c:h val="0.656570283650316"/>
        </c:manualLayout>
      </c:layout>
      <c:pieChart>
        <c:varyColors val="1"/>
        <c:ser>
          <c:idx val="0"/>
          <c:order val="0"/>
          <c:tx>
            <c:strRef>
              <c:f>'2025_2026'!$B$1</c:f>
              <c:strCache>
                <c:ptCount val="1"/>
                <c:pt idx="0">
                  <c:v>Fő</c:v>
                </c:pt>
              </c:strCache>
            </c:strRef>
          </c:tx>
          <c:spPr>
            <a:ln>
              <a:solidFill>
                <a:srgbClr val="715133"/>
              </a:solidFill>
            </a:ln>
          </c:spPr>
          <c:dPt>
            <c:idx val="0"/>
            <c:bubble3D val="0"/>
            <c:spPr>
              <a:solidFill>
                <a:schemeClr val="accent3">
                  <a:shade val="53000"/>
                </a:schemeClr>
              </a:solidFill>
              <a:ln>
                <a:solidFill>
                  <a:srgbClr val="715133"/>
                </a:solidFill>
              </a:ln>
              <a:effectLst/>
            </c:spPr>
            <c:extLst>
              <c:ext xmlns:c16="http://schemas.microsoft.com/office/drawing/2014/chart" uri="{C3380CC4-5D6E-409C-BE32-E72D297353CC}">
                <c16:uniqueId val="{00000001-E611-4B48-A957-8FCA200DF52A}"/>
              </c:ext>
            </c:extLst>
          </c:dPt>
          <c:dPt>
            <c:idx val="1"/>
            <c:bubble3D val="0"/>
            <c:spPr>
              <a:solidFill>
                <a:schemeClr val="accent3">
                  <a:shade val="76000"/>
                </a:schemeClr>
              </a:solidFill>
              <a:ln>
                <a:solidFill>
                  <a:srgbClr val="715133"/>
                </a:solidFill>
              </a:ln>
              <a:effectLst/>
            </c:spPr>
            <c:extLst>
              <c:ext xmlns:c16="http://schemas.microsoft.com/office/drawing/2014/chart" uri="{C3380CC4-5D6E-409C-BE32-E72D297353CC}">
                <c16:uniqueId val="{00000003-E611-4B48-A957-8FCA200DF52A}"/>
              </c:ext>
            </c:extLst>
          </c:dPt>
          <c:dPt>
            <c:idx val="2"/>
            <c:bubble3D val="0"/>
            <c:spPr>
              <a:solidFill>
                <a:schemeClr val="accent3"/>
              </a:solidFill>
              <a:ln>
                <a:solidFill>
                  <a:srgbClr val="715133"/>
                </a:solidFill>
              </a:ln>
              <a:effectLst/>
            </c:spPr>
            <c:extLst>
              <c:ext xmlns:c16="http://schemas.microsoft.com/office/drawing/2014/chart" uri="{C3380CC4-5D6E-409C-BE32-E72D297353CC}">
                <c16:uniqueId val="{00000005-E611-4B48-A957-8FCA200DF52A}"/>
              </c:ext>
            </c:extLst>
          </c:dPt>
          <c:dPt>
            <c:idx val="3"/>
            <c:bubble3D val="0"/>
            <c:spPr>
              <a:solidFill>
                <a:schemeClr val="accent3">
                  <a:tint val="77000"/>
                </a:schemeClr>
              </a:solidFill>
              <a:ln>
                <a:solidFill>
                  <a:srgbClr val="715133"/>
                </a:solidFill>
              </a:ln>
              <a:effectLst/>
            </c:spPr>
            <c:extLst>
              <c:ext xmlns:c16="http://schemas.microsoft.com/office/drawing/2014/chart" uri="{C3380CC4-5D6E-409C-BE32-E72D297353CC}">
                <c16:uniqueId val="{00000007-E611-4B48-A957-8FCA200DF52A}"/>
              </c:ext>
            </c:extLst>
          </c:dPt>
          <c:dPt>
            <c:idx val="4"/>
            <c:bubble3D val="0"/>
            <c:spPr>
              <a:solidFill>
                <a:schemeClr val="accent3">
                  <a:tint val="54000"/>
                </a:schemeClr>
              </a:solidFill>
              <a:ln>
                <a:solidFill>
                  <a:srgbClr val="715133"/>
                </a:solidFill>
              </a:ln>
              <a:effectLst/>
            </c:spPr>
            <c:extLst>
              <c:ext xmlns:c16="http://schemas.microsoft.com/office/drawing/2014/chart" uri="{C3380CC4-5D6E-409C-BE32-E72D297353CC}">
                <c16:uniqueId val="{00000009-E611-4B48-A957-8FCA200DF52A}"/>
              </c:ext>
            </c:extLst>
          </c:dPt>
          <c:dLbls>
            <c:dLbl>
              <c:idx val="0"/>
              <c:layout>
                <c:manualLayout>
                  <c:x val="0.116644306167936"/>
                  <c:y val="0.130244171130876"/>
                </c:manualLayout>
              </c:layout>
              <c:tx>
                <c:rich>
                  <a:bodyPr/>
                  <a:lstStyle/>
                  <a:p>
                    <a:endParaRPr lang="en-US" b="0" i="0" u="none" strike="noStrike" baseline="0" dirty="0">
                      <a:latin typeface="Arial" panose="020B0604020202020204" pitchFamily="34" charset="0"/>
                      <a:ea typeface="Arial" panose="020B0604020202020204" pitchFamily="34" charset="0"/>
                      <a:cs typeface="+mn-ea"/>
                    </a:endParaRPr>
                  </a:p>
                  <a:p>
                    <a:fld id="{C9F40D47-82E1-4412-9819-EDF48E668CAD}" type="CATEGORYNAME">
                      <a:rPr lang="en-US" smtClean="0"/>
                      <a:pPr/>
                      <a:t>[KATEGÓRIA NEVE]</a:t>
                    </a:fld>
                    <a:r>
                      <a:rPr lang="en-US" dirty="0"/>
                      <a:t>;</a:t>
                    </a:r>
                  </a:p>
                  <a:p>
                    <a:fld id="{9E97B862-25F1-4F15-A6E7-7F576949BA01}" type="VALUE">
                      <a:rPr lang="en-US" smtClean="0"/>
                      <a:pPr/>
                      <a:t>[ÉRTÉK]</a:t>
                    </a:fld>
                    <a:r>
                      <a:rPr lang="en-US" dirty="0"/>
                      <a:t>; 20%</a:t>
                    </a:r>
                  </a:p>
                </c:rich>
              </c:tx>
              <c:dLblPos val="bestFit"/>
              <c:showLegendKey val="0"/>
              <c:showVal val="1"/>
              <c:showCatName val="1"/>
              <c:showSerName val="0"/>
              <c:showPercent val="1"/>
              <c:showBubbleSize val="0"/>
              <c:extLst>
                <c:ext xmlns:c15="http://schemas.microsoft.com/office/drawing/2012/chart" uri="{CE6537A1-D6FC-4f65-9D91-7224C49458BB}">
                  <c15:layout>
                    <c:manualLayout>
                      <c:w val="0.26569993038203499"/>
                      <c:h val="0.23599184500950399"/>
                    </c:manualLayout>
                  </c15:layout>
                  <c15:dlblFieldTable/>
                  <c15:showDataLabelsRange val="0"/>
                </c:ext>
                <c:ext xmlns:c16="http://schemas.microsoft.com/office/drawing/2014/chart" uri="{C3380CC4-5D6E-409C-BE32-E72D297353CC}">
                  <c16:uniqueId val="{00000001-E611-4B48-A957-8FCA200DF52A}"/>
                </c:ext>
              </c:extLst>
            </c:dLbl>
            <c:dLbl>
              <c:idx val="1"/>
              <c:layout>
                <c:manualLayout>
                  <c:x val="1.1754966351317075E-2"/>
                  <c:y val="6.5658331949001641E-2"/>
                </c:manualLayout>
              </c:layout>
              <c:spPr>
                <a:solidFill>
                  <a:prstClr val="white"/>
                </a:solidFill>
                <a:ln>
                  <a:solidFill>
                    <a:prstClr val="white">
                      <a:lumMod val="65000"/>
                    </a:prstClr>
                  </a:solidFill>
                </a:ln>
                <a:effectLst/>
              </c:spPr>
              <c:txPr>
                <a:bodyPr/>
                <a:lstStyle/>
                <a:p>
                  <a:pPr>
                    <a:defRPr/>
                  </a:pPr>
                  <a:endParaRPr lang="hu-HU"/>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15:layout>
                    <c:manualLayout>
                      <c:w val="0.26767664883943099"/>
                      <c:h val="0.166540307367434"/>
                    </c:manualLayout>
                  </c15:layout>
                </c:ext>
                <c:ext xmlns:c16="http://schemas.microsoft.com/office/drawing/2014/chart" uri="{C3380CC4-5D6E-409C-BE32-E72D297353CC}">
                  <c16:uniqueId val="{00000003-E611-4B48-A957-8FCA200DF52A}"/>
                </c:ext>
              </c:extLst>
            </c:dLbl>
            <c:dLbl>
              <c:idx val="2"/>
              <c:layout>
                <c:manualLayout>
                  <c:x val="3.6301505151189697E-2"/>
                  <c:y val="-2.9081374139684701E-2"/>
                </c:manualLayout>
              </c:layout>
              <c:spPr>
                <a:solidFill>
                  <a:prstClr val="white"/>
                </a:solidFill>
                <a:ln>
                  <a:solidFill>
                    <a:prstClr val="white">
                      <a:lumMod val="65000"/>
                    </a:prstClr>
                  </a:solidFill>
                </a:ln>
                <a:effectLst/>
              </c:spPr>
              <c:txPr>
                <a:bodyPr/>
                <a:lstStyle/>
                <a:p>
                  <a:pPr>
                    <a:defRPr/>
                  </a:pPr>
                  <a:endParaRPr lang="hu-HU"/>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15:layout>
                    <c:manualLayout>
                      <c:w val="0.23691133693475899"/>
                      <c:h val="0.15667886960261601"/>
                    </c:manualLayout>
                  </c15:layout>
                </c:ext>
                <c:ext xmlns:c16="http://schemas.microsoft.com/office/drawing/2014/chart" uri="{C3380CC4-5D6E-409C-BE32-E72D297353CC}">
                  <c16:uniqueId val="{00000005-E611-4B48-A957-8FCA200DF52A}"/>
                </c:ext>
              </c:extLst>
            </c:dLbl>
            <c:dLbl>
              <c:idx val="3"/>
              <c:layout>
                <c:manualLayout>
                  <c:x val="-1.0955385138453401E-2"/>
                  <c:y val="8.9628087319896271E-2"/>
                </c:manualLayout>
              </c:layout>
              <c:spPr>
                <a:solidFill>
                  <a:prstClr val="white"/>
                </a:solidFill>
                <a:ln>
                  <a:solidFill>
                    <a:prstClr val="white">
                      <a:lumMod val="65000"/>
                    </a:prstClr>
                  </a:solidFill>
                </a:ln>
                <a:effectLst/>
              </c:spPr>
              <c:txPr>
                <a:bodyPr/>
                <a:lstStyle/>
                <a:p>
                  <a:pPr>
                    <a:defRPr/>
                  </a:pPr>
                  <a:endParaRPr lang="hu-HU"/>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15:layout>
                    <c:manualLayout>
                      <c:w val="0.24719946896064199"/>
                      <c:h val="0.19369152759857799"/>
                    </c:manualLayout>
                  </c15:layout>
                </c:ext>
                <c:ext xmlns:c16="http://schemas.microsoft.com/office/drawing/2014/chart" uri="{C3380CC4-5D6E-409C-BE32-E72D297353CC}">
                  <c16:uniqueId val="{00000007-E611-4B48-A957-8FCA200DF52A}"/>
                </c:ext>
              </c:extLst>
            </c:dLbl>
            <c:dLbl>
              <c:idx val="4"/>
              <c:layout>
                <c:manualLayout>
                  <c:x val="-0.18094194725224899"/>
                  <c:y val="0.126900749870622"/>
                </c:manualLayout>
              </c:layout>
              <c:spPr>
                <a:solidFill>
                  <a:prstClr val="white"/>
                </a:solidFill>
                <a:ln>
                  <a:solidFill>
                    <a:prstClr val="white">
                      <a:lumMod val="65000"/>
                    </a:prstClr>
                  </a:solidFill>
                </a:ln>
                <a:effectLst/>
              </c:spPr>
              <c:txPr>
                <a:bodyPr/>
                <a:lstStyle/>
                <a:p>
                  <a:pPr>
                    <a:defRPr/>
                  </a:pPr>
                  <a:endParaRPr lang="hu-HU"/>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15:layout>
                    <c:manualLayout>
                      <c:w val="0.30427260020399699"/>
                      <c:h val="0.19198578114402801"/>
                    </c:manualLayout>
                  </c15:layout>
                </c:ext>
                <c:ext xmlns:c16="http://schemas.microsoft.com/office/drawing/2014/chart" uri="{C3380CC4-5D6E-409C-BE32-E72D297353CC}">
                  <c16:uniqueId val="{00000009-E611-4B48-A957-8FCA200DF52A}"/>
                </c:ext>
              </c:extLst>
            </c:dLbl>
            <c:spPr>
              <a:solidFill>
                <a:srgbClr val="FFFFFF"/>
              </a:solidFill>
              <a:ln>
                <a:solidFill>
                  <a:prstClr val="white">
                    <a:lumMod val="65000"/>
                  </a:prstClr>
                </a:solidFill>
              </a:ln>
              <a:effectLst/>
            </c:spPr>
            <c:txPr>
              <a:bodyPr rot="0" spcFirstLastPara="1" vertOverflow="clip" horzOverflow="clip" vert="horz" wrap="square" lIns="38100" tIns="19050" rIns="38100" bIns="19050" anchor="ctr" anchorCtr="1">
                <a:spAutoFit/>
              </a:bodyPr>
              <a:lstStyle/>
              <a:p>
                <a:pPr>
                  <a:defRPr lang="en-US" sz="800" b="0" i="0" u="none" strike="noStrike" kern="1200" baseline="0">
                    <a:solidFill>
                      <a:schemeClr val="tx1"/>
                    </a:solidFill>
                    <a:latin typeface="+mn-lt"/>
                    <a:ea typeface="+mn-ea"/>
                    <a:cs typeface="+mn-cs"/>
                  </a:defRPr>
                </a:pPr>
                <a:endParaRPr lang="hu-HU"/>
              </a:p>
            </c:tx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c15:spPr>
              </c:ext>
            </c:extLst>
          </c:dLbls>
          <c:cat>
            <c:strRef>
              <c:f>'2025_2026'!$A$2:$A$6</c:f>
              <c:strCache>
                <c:ptCount val="5"/>
                <c:pt idx="0">
                  <c:v>4 (vagy 5) évfolyamos gimnázium</c:v>
                </c:pt>
                <c:pt idx="1">
                  <c:v>Szakgimnázium</c:v>
                </c:pt>
                <c:pt idx="2">
                  <c:v>Technikum</c:v>
                </c:pt>
                <c:pt idx="3">
                  <c:v>Szakképző iskola</c:v>
                </c:pt>
                <c:pt idx="4">
                  <c:v>Szakiskola és Készségfejlesztő iskola</c:v>
                </c:pt>
              </c:strCache>
            </c:strRef>
          </c:cat>
          <c:val>
            <c:numRef>
              <c:f>'2025_2026'!$B$2:$B$6</c:f>
              <c:numCache>
                <c:formatCode>#,##0</c:formatCode>
                <c:ptCount val="5"/>
                <c:pt idx="0">
                  <c:v>10025</c:v>
                </c:pt>
                <c:pt idx="1">
                  <c:v>1640</c:v>
                </c:pt>
                <c:pt idx="2">
                  <c:v>17274</c:v>
                </c:pt>
                <c:pt idx="3">
                  <c:v>17470</c:v>
                </c:pt>
                <c:pt idx="4">
                  <c:v>3481</c:v>
                </c:pt>
              </c:numCache>
            </c:numRef>
          </c:val>
          <c:extLst>
            <c:ext xmlns:c16="http://schemas.microsoft.com/office/drawing/2014/chart" uri="{C3380CC4-5D6E-409C-BE32-E72D297353CC}">
              <c16:uniqueId val="{0000000A-E611-4B48-A957-8FCA200DF52A}"/>
            </c:ext>
          </c:extLst>
        </c:ser>
        <c:ser>
          <c:idx val="1"/>
          <c:order val="1"/>
          <c:tx>
            <c:strRef>
              <c:f>'2025_2026'!$C$1</c:f>
              <c:strCache>
                <c:ptCount val="1"/>
                <c:pt idx="0">
                  <c:v>Százalék</c:v>
                </c:pt>
              </c:strCache>
            </c:strRef>
          </c:tx>
          <c:dPt>
            <c:idx val="0"/>
            <c:bubble3D val="0"/>
            <c:spPr>
              <a:solidFill>
                <a:schemeClr val="accent3">
                  <a:shade val="53000"/>
                </a:schemeClr>
              </a:solidFill>
              <a:ln>
                <a:noFill/>
              </a:ln>
              <a:effectLst/>
            </c:spPr>
            <c:extLst>
              <c:ext xmlns:c16="http://schemas.microsoft.com/office/drawing/2014/chart" uri="{C3380CC4-5D6E-409C-BE32-E72D297353CC}">
                <c16:uniqueId val="{0000000C-E611-4B48-A957-8FCA200DF52A}"/>
              </c:ext>
            </c:extLst>
          </c:dPt>
          <c:dPt>
            <c:idx val="1"/>
            <c:bubble3D val="0"/>
            <c:spPr>
              <a:solidFill>
                <a:schemeClr val="accent3">
                  <a:shade val="76000"/>
                </a:schemeClr>
              </a:solidFill>
              <a:ln>
                <a:noFill/>
              </a:ln>
              <a:effectLst/>
            </c:spPr>
            <c:extLst>
              <c:ext xmlns:c16="http://schemas.microsoft.com/office/drawing/2014/chart" uri="{C3380CC4-5D6E-409C-BE32-E72D297353CC}">
                <c16:uniqueId val="{0000000E-E611-4B48-A957-8FCA200DF52A}"/>
              </c:ext>
            </c:extLst>
          </c:dPt>
          <c:dPt>
            <c:idx val="2"/>
            <c:bubble3D val="0"/>
            <c:spPr>
              <a:solidFill>
                <a:schemeClr val="accent3"/>
              </a:solidFill>
              <a:ln>
                <a:noFill/>
              </a:ln>
              <a:effectLst/>
            </c:spPr>
            <c:extLst>
              <c:ext xmlns:c16="http://schemas.microsoft.com/office/drawing/2014/chart" uri="{C3380CC4-5D6E-409C-BE32-E72D297353CC}">
                <c16:uniqueId val="{00000010-E611-4B48-A957-8FCA200DF52A}"/>
              </c:ext>
            </c:extLst>
          </c:dPt>
          <c:dPt>
            <c:idx val="3"/>
            <c:bubble3D val="0"/>
            <c:spPr>
              <a:solidFill>
                <a:schemeClr val="accent3">
                  <a:tint val="77000"/>
                </a:schemeClr>
              </a:solidFill>
              <a:ln>
                <a:noFill/>
              </a:ln>
              <a:effectLst/>
            </c:spPr>
            <c:extLst>
              <c:ext xmlns:c16="http://schemas.microsoft.com/office/drawing/2014/chart" uri="{C3380CC4-5D6E-409C-BE32-E72D297353CC}">
                <c16:uniqueId val="{00000012-E611-4B48-A957-8FCA200DF52A}"/>
              </c:ext>
            </c:extLst>
          </c:dPt>
          <c:dPt>
            <c:idx val="4"/>
            <c:bubble3D val="0"/>
            <c:spPr>
              <a:solidFill>
                <a:schemeClr val="accent3">
                  <a:tint val="54000"/>
                </a:schemeClr>
              </a:solidFill>
              <a:ln>
                <a:noFill/>
              </a:ln>
              <a:effectLst/>
            </c:spPr>
            <c:extLst>
              <c:ext xmlns:c16="http://schemas.microsoft.com/office/drawing/2014/chart" uri="{C3380CC4-5D6E-409C-BE32-E72D297353CC}">
                <c16:uniqueId val="{00000014-E611-4B48-A957-8FCA200DF52A}"/>
              </c:ext>
            </c:extLst>
          </c:dPt>
          <c:cat>
            <c:strRef>
              <c:f>'2025_2026'!$A$2:$A$6</c:f>
              <c:strCache>
                <c:ptCount val="5"/>
                <c:pt idx="0">
                  <c:v>4 (vagy 5) évfolyamos gimnázium</c:v>
                </c:pt>
                <c:pt idx="1">
                  <c:v>Szakgimnázium</c:v>
                </c:pt>
                <c:pt idx="2">
                  <c:v>Technikum</c:v>
                </c:pt>
                <c:pt idx="3">
                  <c:v>Szakképző iskola</c:v>
                </c:pt>
                <c:pt idx="4">
                  <c:v>Szakiskola és Készségfejlesztő iskola</c:v>
                </c:pt>
              </c:strCache>
            </c:strRef>
          </c:cat>
          <c:val>
            <c:numRef>
              <c:f>'2025_2026'!$C$2:$C$6</c:f>
              <c:numCache>
                <c:formatCode>0%</c:formatCode>
                <c:ptCount val="5"/>
                <c:pt idx="0">
                  <c:v>0.2009420725596312</c:v>
                </c:pt>
                <c:pt idx="1">
                  <c:v>3.2872319102024455E-2</c:v>
                </c:pt>
                <c:pt idx="2">
                  <c:v>0.34624173180998197</c:v>
                </c:pt>
                <c:pt idx="3">
                  <c:v>0.35017037482461416</c:v>
                </c:pt>
                <c:pt idx="4">
                  <c:v>6.9773501703748242E-2</c:v>
                </c:pt>
              </c:numCache>
            </c:numRef>
          </c:val>
          <c:extLst>
            <c:ext xmlns:c16="http://schemas.microsoft.com/office/drawing/2014/chart" uri="{C3380CC4-5D6E-409C-BE32-E72D297353CC}">
              <c16:uniqueId val="{00000015-E611-4B48-A957-8FCA200DF52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c:ext uri="{0b15fc19-7d7d-44ad-8c2d-2c3a37ce22c3}">
        <chartProps xmlns="https://web.wps.cn/et/2018/main" chartId="{256756d5-007a-49c4-98c2-f52a6fcb83a8}"/>
      </c:ext>
    </c:extLst>
  </c:chart>
  <c:spPr>
    <a:noFill/>
    <a:ln w="6350" cap="flat" cmpd="sng" algn="ctr">
      <a:solidFill>
        <a:schemeClr val="tx2"/>
      </a:solidFill>
      <a:prstDash val="solid"/>
      <a:miter lim="800000"/>
    </a:ln>
    <a:effectLst/>
  </c:spPr>
  <c:txPr>
    <a:bodyPr/>
    <a:lstStyle/>
    <a:p>
      <a:pPr>
        <a:defRPr lang="en-US"/>
      </a:pPr>
      <a:endParaRPr lang="hu-HU"/>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lang="en-US" sz="1860" b="0" i="0" u="none" strike="noStrike" kern="1200" spc="0" baseline="0">
                <a:solidFill>
                  <a:schemeClr val="tx1"/>
                </a:solidFill>
                <a:latin typeface="+mn-lt"/>
                <a:ea typeface="+mn-ea"/>
                <a:cs typeface="+mn-cs"/>
              </a:defRPr>
            </a:pPr>
            <a:r>
              <a:rPr lang="hu-HU" sz="1100" b="1" dirty="0">
                <a:solidFill>
                  <a:schemeClr val="tx1"/>
                </a:solidFill>
              </a:rPr>
              <a:t>Betöltöttség képzéstípus szerint az általános felvételi eljárás után</a:t>
            </a:r>
          </a:p>
        </c:rich>
      </c:tx>
      <c:layout>
        <c:manualLayout>
          <c:xMode val="edge"/>
          <c:yMode val="edge"/>
          <c:x val="0.175743419812808"/>
          <c:y val="5.3216371307162101E-3"/>
        </c:manualLayout>
      </c:layout>
      <c:overlay val="0"/>
      <c:spPr>
        <a:noFill/>
        <a:ln>
          <a:noFill/>
        </a:ln>
        <a:effectLst/>
      </c:spPr>
    </c:title>
    <c:autoTitleDeleted val="0"/>
    <c:plotArea>
      <c:layout>
        <c:manualLayout>
          <c:layoutTarget val="inner"/>
          <c:xMode val="edge"/>
          <c:yMode val="edge"/>
          <c:x val="0.13561307271641901"/>
          <c:y val="8.0443064580663803E-2"/>
          <c:w val="0.83183697540984802"/>
          <c:h val="0.726206753341471"/>
        </c:manualLayout>
      </c:layout>
      <c:barChart>
        <c:barDir val="col"/>
        <c:grouping val="clustered"/>
        <c:varyColors val="0"/>
        <c:ser>
          <c:idx val="0"/>
          <c:order val="0"/>
          <c:tx>
            <c:strRef>
              <c:f>'2025_2026'!$B$1</c:f>
              <c:strCache>
                <c:ptCount val="1"/>
                <c:pt idx="0">
                  <c:v>1. adatsor</c:v>
                </c:pt>
              </c:strCache>
            </c:strRef>
          </c:tx>
          <c:spPr>
            <a:solidFill>
              <a:schemeClr val="tx1">
                <a:lumMod val="50000"/>
                <a:lumOff val="50000"/>
              </a:schemeClr>
            </a:solidFill>
            <a:ln>
              <a:solidFill>
                <a:schemeClr val="tx1"/>
              </a:solidFill>
            </a:ln>
            <a:effectLst/>
          </c:spPr>
          <c:invertIfNegative val="0"/>
          <c:dLbls>
            <c:dLbl>
              <c:idx val="0"/>
              <c:layout>
                <c:manualLayout>
                  <c:x val="3.3457909159932599E-3"/>
                  <c:y val="1.21442644206176E-2"/>
                </c:manualLayout>
              </c:layout>
              <c:tx>
                <c:rich>
                  <a:bodyPr rot="0" spcFirstLastPara="1" vertOverflow="ellipsis" vert="horz" wrap="square" lIns="38100" tIns="19050" rIns="38100" bIns="19050" anchor="ctr" anchorCtr="1">
                    <a:noAutofit/>
                  </a:bodyPr>
                  <a:lstStyle/>
                  <a:p>
                    <a:fld id="{4F57264F-E31A-46D0-AF9F-16B27998882E}" type="VALUE">
                      <a:rPr lang="en-US" sz="1000">
                        <a:latin typeface="+mn-lt"/>
                      </a:rPr>
                      <a:pPr/>
                      <a:t>[ÉRTÉK]</a:t>
                    </a:fld>
                    <a:endParaRPr lang="hu-HU"/>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layout>
                    <c:manualLayout>
                      <c:w val="0.10738882358303101"/>
                      <c:h val="4.8267499987338099E-2"/>
                    </c:manualLayout>
                  </c15:layout>
                  <c15:dlblFieldTable/>
                  <c15:showDataLabelsRange val="0"/>
                </c:ext>
                <c:ext xmlns:c16="http://schemas.microsoft.com/office/drawing/2014/chart" uri="{C3380CC4-5D6E-409C-BE32-E72D297353CC}">
                  <c16:uniqueId val="{00000000-BFD6-46FB-96B5-C43F87A8EF24}"/>
                </c:ext>
              </c:extLst>
            </c:dLbl>
            <c:dLbl>
              <c:idx val="1"/>
              <c:layout>
                <c:manualLayout>
                  <c:x val="7.8067576546163499E-3"/>
                  <c:y val="9.0051305946526293E-3"/>
                </c:manualLayout>
              </c:layout>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hu-HU"/>
                </a:p>
              </c:txPr>
              <c:dLblPos val="outEnd"/>
              <c:showLegendKey val="0"/>
              <c:showVal val="1"/>
              <c:showCatName val="0"/>
              <c:showSerName val="0"/>
              <c:showPercent val="0"/>
              <c:showBubbleSize val="0"/>
              <c:extLst>
                <c:ext xmlns:c15="http://schemas.microsoft.com/office/drawing/2012/chart" uri="{CE6537A1-D6FC-4f65-9D91-7224C49458BB}">
                  <c15:layout>
                    <c:manualLayout>
                      <c:w val="0.103641537757119"/>
                      <c:h val="4.1565211225518199E-2"/>
                    </c:manualLayout>
                  </c15:layout>
                </c:ext>
                <c:ext xmlns:c16="http://schemas.microsoft.com/office/drawing/2014/chart" uri="{C3380CC4-5D6E-409C-BE32-E72D297353CC}">
                  <c16:uniqueId val="{00000001-BFD6-46FB-96B5-C43F87A8EF24}"/>
                </c:ext>
              </c:extLst>
            </c:dLbl>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'2025_2026'!$A$2:$A$8</c:f>
              <c:strCache>
                <c:ptCount val="7"/>
                <c:pt idx="0">
                  <c:v>8 évf. gimn.</c:v>
                </c:pt>
                <c:pt idx="1">
                  <c:v>6 évf. gimn.</c:v>
                </c:pt>
                <c:pt idx="2">
                  <c:v>4 (vagy 5) évf. gimn.</c:v>
                </c:pt>
                <c:pt idx="3">
                  <c:v>Szakgimnázium</c:v>
                </c:pt>
                <c:pt idx="4">
                  <c:v>Technikum</c:v>
                </c:pt>
                <c:pt idx="5">
                  <c:v>Szakképző iskola</c:v>
                </c:pt>
                <c:pt idx="6">
                  <c:v>Szakiskola és Készségfejlesztő iskola</c:v>
                </c:pt>
              </c:strCache>
            </c:strRef>
          </c:cat>
          <c:val>
            <c:numRef>
              <c:f>'2025_2026'!$B$2:$B$8</c:f>
              <c:numCache>
                <c:formatCode>0.0%</c:formatCode>
                <c:ptCount val="7"/>
                <c:pt idx="0">
                  <c:v>0.94971098265895959</c:v>
                </c:pt>
                <c:pt idx="1">
                  <c:v>0.92933618843683086</c:v>
                </c:pt>
                <c:pt idx="2">
                  <c:v>0.73515969672152803</c:v>
                </c:pt>
                <c:pt idx="3">
                  <c:v>0.49754901960784315</c:v>
                </c:pt>
                <c:pt idx="4">
                  <c:v>0.65279787747226237</c:v>
                </c:pt>
                <c:pt idx="5">
                  <c:v>0.39664997409773789</c:v>
                </c:pt>
                <c:pt idx="6">
                  <c:v>0.29219194794631964</c:v>
                </c:pt>
              </c:numCache>
            </c:numRef>
          </c:val>
          <c:extLst>
            <c:ext xmlns:c16="http://schemas.microsoft.com/office/drawing/2014/chart" uri="{C3380CC4-5D6E-409C-BE32-E72D297353CC}">
              <c16:uniqueId val="{00000002-BFD6-46FB-96B5-C43F87A8EF24}"/>
            </c:ext>
          </c:extLst>
        </c:ser>
        <c:dLbls>
          <c:showLegendKey val="0"/>
          <c:showVal val="0"/>
          <c:showCatName val="0"/>
          <c:showSerName val="0"/>
          <c:showPercent val="0"/>
          <c:showBubbleSize val="0"/>
        </c:dLbls>
        <c:gapWidth val="219"/>
        <c:overlap val="-27"/>
        <c:axId val="538909968"/>
        <c:axId val="538910296"/>
      </c:barChart>
      <c:catAx>
        <c:axId val="538909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prstDash val="solid"/>
            <a:round/>
          </a:ln>
          <a:effectLst/>
        </c:spPr>
        <c:txPr>
          <a:bodyPr rot="-5400000" spcFirstLastPara="1" vertOverflow="ellipsis" vert="horz" wrap="square" anchor="t" anchorCtr="1"/>
          <a:lstStyle/>
          <a:p>
            <a:pPr>
              <a:defRPr lang="en-US" sz="800" b="0" i="0" u="none" strike="noStrike" kern="1200" baseline="0">
                <a:solidFill>
                  <a:schemeClr val="tx1"/>
                </a:solidFill>
                <a:latin typeface="Arial" panose="020B0604020202020204" pitchFamily="34" charset="0"/>
                <a:ea typeface="+mn-ea"/>
                <a:cs typeface="Arial" panose="020B0604020202020204" pitchFamily="34" charset="0"/>
              </a:defRPr>
            </a:pPr>
            <a:endParaRPr lang="hu-HU"/>
          </a:p>
        </c:txPr>
        <c:crossAx val="538910296"/>
        <c:crosses val="autoZero"/>
        <c:auto val="1"/>
        <c:lblAlgn val="ctr"/>
        <c:lblOffset val="100"/>
        <c:tickLblSkip val="1"/>
        <c:noMultiLvlLbl val="0"/>
      </c:catAx>
      <c:valAx>
        <c:axId val="538910296"/>
        <c:scaling>
          <c:orientation val="minMax"/>
          <c:max val="1"/>
        </c:scaling>
        <c:delete val="0"/>
        <c:axPos val="l"/>
        <c:majorGridlines>
          <c:spPr>
            <a:ln w="9525" cap="flat" cmpd="sng" algn="ctr">
              <a:solidFill>
                <a:schemeClr val="tx1">
                  <a:lumMod val="15000"/>
                  <a:lumOff val="85000"/>
                </a:schemeClr>
              </a:solidFill>
              <a:prstDash val="solid"/>
              <a:round/>
            </a:ln>
            <a:effectLst/>
          </c:spPr>
        </c:majorGridlines>
        <c:numFmt formatCode="0.0%" sourceLinked="1"/>
        <c:majorTickMark val="none"/>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hu-HU"/>
          </a:p>
        </c:txPr>
        <c:crossAx val="538909968"/>
        <c:crosses val="autoZero"/>
        <c:crossBetween val="between"/>
      </c:valAx>
      <c:spPr>
        <a:noFill/>
        <a:ln>
          <a:noFill/>
        </a:ln>
        <a:effectLst/>
      </c:spPr>
    </c:plotArea>
    <c:plotVisOnly val="1"/>
    <c:dispBlanksAs val="gap"/>
    <c:showDLblsOverMax val="0"/>
    <c:extLst>
      <c:ext uri="{0b15fc19-7d7d-44ad-8c2d-2c3a37ce22c3}">
        <chartProps xmlns="https://web.wps.cn/et/2018/main" chartId="{c6a0a021-6d95-4660-904b-65db6004bee6}"/>
      </c:ext>
    </c:extLst>
  </c:chart>
  <c:spPr>
    <a:noFill/>
    <a:ln>
      <a:solidFill>
        <a:schemeClr val="tx1"/>
      </a:solidFill>
    </a:ln>
    <a:effectLst/>
  </c:spPr>
  <c:txPr>
    <a:bodyPr/>
    <a:lstStyle/>
    <a:p>
      <a:pPr>
        <a:defRPr lang="en-US"/>
      </a:pPr>
      <a:endParaRPr lang="hu-HU"/>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u-HU"/>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view3D>
      <c:rotX val="0"/>
      <c:rotY val="0"/>
      <c:depthPercent val="60"/>
      <c:rAngAx val="0"/>
      <c:perspective val="100"/>
    </c:view3D>
    <c:floor>
      <c:thickness val="0"/>
      <c:spPr>
        <a:solidFill>
          <a:schemeClr val="lt1">
            <a:lumMod val="95000"/>
          </a:schemeClr>
        </a:solid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5.7998782760850499E-2"/>
          <c:y val="8.79613353554132E-2"/>
          <c:w val="0.93765386663623596"/>
          <c:h val="0.75111882041612599"/>
        </c:manualLayout>
      </c:layout>
      <c:bar3DChart>
        <c:barDir val="col"/>
        <c:grouping val="clustered"/>
        <c:varyColors val="0"/>
        <c:ser>
          <c:idx val="0"/>
          <c:order val="0"/>
          <c:tx>
            <c:strRef>
              <c:f>'2025_2026'!$B$1</c:f>
              <c:strCache>
                <c:ptCount val="1"/>
                <c:pt idx="0">
                  <c:v>2020/2021.</c:v>
                </c:pt>
              </c:strCache>
            </c:strRef>
          </c:tx>
          <c:spPr>
            <a:solidFill>
              <a:schemeClr val="accent3">
                <a:tint val="50000"/>
                <a:alpha val="85000"/>
              </a:schemeClr>
            </a:solidFill>
            <a:ln w="9525" cap="flat" cmpd="sng" algn="ctr">
              <a:solidFill>
                <a:schemeClr val="accent3">
                  <a:tint val="50000"/>
                  <a:lumMod val="75000"/>
                </a:schemeClr>
              </a:solidFill>
              <a:round/>
            </a:ln>
            <a:effectLst/>
            <a:sp3d contourW="9525">
              <a:contourClr>
                <a:schemeClr val="accent3">
                  <a:tint val="50000"/>
                  <a:lumMod val="75000"/>
                </a:schemeClr>
              </a:contourClr>
            </a:sp3d>
          </c:spPr>
          <c:invertIfNegative val="0"/>
          <c:dLbls>
            <c:dLbl>
              <c:idx val="0"/>
              <c:layout>
                <c:manualLayout>
                  <c:x val="2.4154589371980454E-3"/>
                  <c:y val="-4.74212619055455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271-4D6F-810F-D3FA683C3ED9}"/>
                </c:ext>
              </c:extLst>
            </c:dLbl>
            <c:dLbl>
              <c:idx val="1"/>
              <c:layout>
                <c:manualLayout>
                  <c:x val="-4.830917874396135E-3"/>
                  <c:y val="-3.447936062472323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271-4D6F-810F-D3FA683C3ED9}"/>
                </c:ext>
              </c:extLst>
            </c:dLbl>
            <c:dLbl>
              <c:idx val="2"/>
              <c:layout>
                <c:manualLayout>
                  <c:x val="-4.8309178743960466E-3"/>
                  <c:y val="-1.47031355098300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271-4D6F-810F-D3FA683C3ED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u-H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'2025_2026'!$A$2:$A$4</c:f>
              <c:strCache>
                <c:ptCount val="3"/>
                <c:pt idx="0">
                  <c:v>közművelődés</c:v>
                </c:pt>
                <c:pt idx="1">
                  <c:v>művészet</c:v>
                </c:pt>
                <c:pt idx="2">
                  <c:v>pedagógia</c:v>
                </c:pt>
              </c:strCache>
            </c:strRef>
          </c:cat>
          <c:val>
            <c:numRef>
              <c:f>'2025_2026'!$B$2:$B$4</c:f>
              <c:numCache>
                <c:formatCode>General</c:formatCode>
                <c:ptCount val="3"/>
                <c:pt idx="0">
                  <c:v>14</c:v>
                </c:pt>
                <c:pt idx="1">
                  <c:v>1721</c:v>
                </c:pt>
                <c:pt idx="2">
                  <c:v>745</c:v>
                </c:pt>
              </c:numCache>
            </c:numRef>
          </c:val>
          <c:extLst>
            <c:ext xmlns:c16="http://schemas.microsoft.com/office/drawing/2014/chart" uri="{C3380CC4-5D6E-409C-BE32-E72D297353CC}">
              <c16:uniqueId val="{00000003-E271-4D6F-810F-D3FA683C3ED9}"/>
            </c:ext>
          </c:extLst>
        </c:ser>
        <c:ser>
          <c:idx val="1"/>
          <c:order val="1"/>
          <c:tx>
            <c:strRef>
              <c:f>'2025_2026'!$C$1</c:f>
              <c:strCache>
                <c:ptCount val="1"/>
                <c:pt idx="0">
                  <c:v>2021/2022.</c:v>
                </c:pt>
              </c:strCache>
            </c:strRef>
          </c:tx>
          <c:spPr>
            <a:solidFill>
              <a:schemeClr val="accent3">
                <a:tint val="70000"/>
                <a:alpha val="85000"/>
              </a:schemeClr>
            </a:solidFill>
            <a:ln w="9525" cap="flat" cmpd="sng" algn="ctr">
              <a:solidFill>
                <a:schemeClr val="accent3">
                  <a:tint val="70000"/>
                  <a:lumMod val="75000"/>
                </a:schemeClr>
              </a:solidFill>
              <a:round/>
            </a:ln>
            <a:effectLst/>
            <a:sp3d contourW="9525">
              <a:contourClr>
                <a:schemeClr val="accent3">
                  <a:tint val="70000"/>
                  <a:lumMod val="75000"/>
                </a:schemeClr>
              </a:contourClr>
            </a:sp3d>
          </c:spPr>
          <c:invertIfNegative val="0"/>
          <c:dLbls>
            <c:dLbl>
              <c:idx val="0"/>
              <c:layout>
                <c:manualLayout>
                  <c:x val="0"/>
                  <c:y val="-3.07741454369151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CDF0-4AC0-A4E1-29C173B9DCC2}"/>
                </c:ext>
              </c:extLst>
            </c:dLbl>
            <c:dLbl>
              <c:idx val="1"/>
              <c:layout>
                <c:manualLayout>
                  <c:x val="1.2077294685990338E-3"/>
                  <c:y val="-3.33386575566580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DF0-4AC0-A4E1-29C173B9DCC2}"/>
                </c:ext>
              </c:extLst>
            </c:dLbl>
            <c:dLbl>
              <c:idx val="2"/>
              <c:layout>
                <c:manualLayout>
                  <c:x val="7.2463768115942915E-3"/>
                  <c:y val="-3.077414543691521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DF0-4AC0-A4E1-29C173B9DCC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u-H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'2025_2026'!$A$2:$A$4</c:f>
              <c:strCache>
                <c:ptCount val="3"/>
                <c:pt idx="0">
                  <c:v>közművelődés</c:v>
                </c:pt>
                <c:pt idx="1">
                  <c:v>művészet</c:v>
                </c:pt>
                <c:pt idx="2">
                  <c:v>pedagógia</c:v>
                </c:pt>
              </c:strCache>
            </c:strRef>
          </c:cat>
          <c:val>
            <c:numRef>
              <c:f>'2025_2026'!$C$2:$C$4</c:f>
              <c:numCache>
                <c:formatCode>General</c:formatCode>
                <c:ptCount val="3"/>
                <c:pt idx="0">
                  <c:v>9</c:v>
                </c:pt>
                <c:pt idx="1">
                  <c:v>1742</c:v>
                </c:pt>
                <c:pt idx="2">
                  <c:v>267</c:v>
                </c:pt>
              </c:numCache>
            </c:numRef>
          </c:val>
          <c:extLst>
            <c:ext xmlns:c16="http://schemas.microsoft.com/office/drawing/2014/chart" uri="{C3380CC4-5D6E-409C-BE32-E72D297353CC}">
              <c16:uniqueId val="{00000001-CDF0-4AC0-A4E1-29C173B9DCC2}"/>
            </c:ext>
          </c:extLst>
        </c:ser>
        <c:ser>
          <c:idx val="2"/>
          <c:order val="2"/>
          <c:tx>
            <c:strRef>
              <c:f>'2025_2026'!$D$1</c:f>
              <c:strCache>
                <c:ptCount val="1"/>
                <c:pt idx="0">
                  <c:v>2022/2023.</c:v>
                </c:pt>
              </c:strCache>
            </c:strRef>
          </c:tx>
          <c:spPr>
            <a:solidFill>
              <a:schemeClr val="accent3">
                <a:tint val="90000"/>
                <a:alpha val="85000"/>
              </a:schemeClr>
            </a:solidFill>
            <a:ln w="9525" cap="flat" cmpd="sng" algn="ctr">
              <a:solidFill>
                <a:schemeClr val="accent3">
                  <a:tint val="90000"/>
                  <a:lumMod val="75000"/>
                </a:schemeClr>
              </a:solidFill>
              <a:round/>
            </a:ln>
            <a:effectLst/>
            <a:sp3d contourW="9525">
              <a:contourClr>
                <a:schemeClr val="accent3">
                  <a:tint val="90000"/>
                  <a:lumMod val="75000"/>
                </a:schemeClr>
              </a:contourClr>
            </a:sp3d>
          </c:spPr>
          <c:invertIfNegative val="0"/>
          <c:dLbls>
            <c:dLbl>
              <c:idx val="0"/>
              <c:layout>
                <c:manualLayout>
                  <c:x val="0"/>
                  <c:y val="-1.79515848382005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DF0-4AC0-A4E1-29C173B9DCC2}"/>
                </c:ext>
              </c:extLst>
            </c:dLbl>
            <c:dLbl>
              <c:idx val="1"/>
              <c:layout>
                <c:manualLayout>
                  <c:x val="3.6231884057971015E-3"/>
                  <c:y val="-2.56451211974292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CDF0-4AC0-A4E1-29C173B9DCC2}"/>
                </c:ext>
              </c:extLst>
            </c:dLbl>
            <c:dLbl>
              <c:idx val="2"/>
              <c:layout>
                <c:manualLayout>
                  <c:x val="3.6231884057971015E-3"/>
                  <c:y val="-1.02580484789718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DF0-4AC0-A4E1-29C173B9DCC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u-H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'2025_2026'!$A$2:$A$4</c:f>
              <c:strCache>
                <c:ptCount val="3"/>
                <c:pt idx="0">
                  <c:v>közművelődés</c:v>
                </c:pt>
                <c:pt idx="1">
                  <c:v>művészet</c:v>
                </c:pt>
                <c:pt idx="2">
                  <c:v>pedagógia</c:v>
                </c:pt>
              </c:strCache>
            </c:strRef>
          </c:cat>
          <c:val>
            <c:numRef>
              <c:f>'2025_2026'!$D$2:$D$4</c:f>
              <c:numCache>
                <c:formatCode>General</c:formatCode>
                <c:ptCount val="3"/>
                <c:pt idx="0">
                  <c:v>4</c:v>
                </c:pt>
                <c:pt idx="1">
                  <c:v>1660</c:v>
                </c:pt>
                <c:pt idx="2">
                  <c:v>94</c:v>
                </c:pt>
              </c:numCache>
            </c:numRef>
          </c:val>
          <c:extLst>
            <c:ext xmlns:c16="http://schemas.microsoft.com/office/drawing/2014/chart" uri="{C3380CC4-5D6E-409C-BE32-E72D297353CC}">
              <c16:uniqueId val="{00000002-CDF0-4AC0-A4E1-29C173B9DCC2}"/>
            </c:ext>
          </c:extLst>
        </c:ser>
        <c:ser>
          <c:idx val="3"/>
          <c:order val="3"/>
          <c:tx>
            <c:strRef>
              <c:f>'2025_2026'!$E$1</c:f>
              <c:strCache>
                <c:ptCount val="1"/>
                <c:pt idx="0">
                  <c:v>2023/2024.</c:v>
                </c:pt>
              </c:strCache>
            </c:strRef>
          </c:tx>
          <c:spPr>
            <a:solidFill>
              <a:schemeClr val="accent3">
                <a:shade val="90000"/>
                <a:alpha val="85000"/>
              </a:schemeClr>
            </a:solidFill>
            <a:ln w="9525" cap="flat" cmpd="sng" algn="ctr">
              <a:solidFill>
                <a:schemeClr val="accent3">
                  <a:shade val="90000"/>
                  <a:lumMod val="75000"/>
                </a:schemeClr>
              </a:solidFill>
              <a:round/>
            </a:ln>
            <a:effectLst/>
            <a:sp3d contourW="9525">
              <a:contourClr>
                <a:schemeClr val="accent3">
                  <a:shade val="90000"/>
                  <a:lumMod val="75000"/>
                </a:schemeClr>
              </a:contourClr>
            </a:sp3d>
          </c:spPr>
          <c:invertIfNegative val="0"/>
          <c:dLbls>
            <c:dLbl>
              <c:idx val="0"/>
              <c:layout>
                <c:manualLayout>
                  <c:x val="-2.4154589371980675E-3"/>
                  <c:y val="-1.538707271845756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DF0-4AC0-A4E1-29C173B9DCC2}"/>
                </c:ext>
              </c:extLst>
            </c:dLbl>
            <c:dLbl>
              <c:idx val="1"/>
              <c:layout>
                <c:manualLayout>
                  <c:x val="9.6618357487922701E-3"/>
                  <c:y val="-2.05160969579434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DF0-4AC0-A4E1-29C173B9DCC2}"/>
                </c:ext>
              </c:extLst>
            </c:dLbl>
            <c:dLbl>
              <c:idx val="2"/>
              <c:layout>
                <c:manualLayout>
                  <c:x val="3.623188405797013E-3"/>
                  <c:y val="-1.79515848382004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DF0-4AC0-A4E1-29C173B9DCC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u-H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'2025_2026'!$A$2:$A$4</c:f>
              <c:strCache>
                <c:ptCount val="3"/>
                <c:pt idx="0">
                  <c:v>közművelődés</c:v>
                </c:pt>
                <c:pt idx="1">
                  <c:v>művészet</c:v>
                </c:pt>
                <c:pt idx="2">
                  <c:v>pedagógia</c:v>
                </c:pt>
              </c:strCache>
            </c:strRef>
          </c:cat>
          <c:val>
            <c:numRef>
              <c:f>'2025_2026'!$E$2:$E$4</c:f>
              <c:numCache>
                <c:formatCode>General</c:formatCode>
                <c:ptCount val="3"/>
                <c:pt idx="0">
                  <c:v>4</c:v>
                </c:pt>
                <c:pt idx="1">
                  <c:v>1622</c:v>
                </c:pt>
                <c:pt idx="2">
                  <c:v>87</c:v>
                </c:pt>
              </c:numCache>
            </c:numRef>
          </c:val>
          <c:extLst>
            <c:ext xmlns:c16="http://schemas.microsoft.com/office/drawing/2014/chart" uri="{C3380CC4-5D6E-409C-BE32-E72D297353CC}">
              <c16:uniqueId val="{00000003-CDF0-4AC0-A4E1-29C173B9DCC2}"/>
            </c:ext>
          </c:extLst>
        </c:ser>
        <c:ser>
          <c:idx val="4"/>
          <c:order val="4"/>
          <c:tx>
            <c:strRef>
              <c:f>'2025_2026'!$F$1</c:f>
              <c:strCache>
                <c:ptCount val="1"/>
                <c:pt idx="0">
                  <c:v>2024/2025.</c:v>
                </c:pt>
              </c:strCache>
            </c:strRef>
          </c:tx>
          <c:spPr>
            <a:solidFill>
              <a:schemeClr val="accent3">
                <a:shade val="70000"/>
                <a:alpha val="85000"/>
              </a:schemeClr>
            </a:solidFill>
            <a:ln w="9525" cap="flat" cmpd="sng" algn="ctr">
              <a:solidFill>
                <a:schemeClr val="accent3">
                  <a:shade val="70000"/>
                  <a:lumMod val="75000"/>
                </a:schemeClr>
              </a:solidFill>
              <a:round/>
            </a:ln>
            <a:effectLst/>
            <a:sp3d contourW="9525">
              <a:contourClr>
                <a:schemeClr val="accent3">
                  <a:shade val="70000"/>
                  <a:lumMod val="75000"/>
                </a:schemeClr>
              </a:contourClr>
            </a:sp3d>
          </c:spPr>
          <c:invertIfNegative val="0"/>
          <c:dLbls>
            <c:dLbl>
              <c:idx val="0"/>
              <c:layout>
                <c:manualLayout>
                  <c:x val="-4.428290228876519E-17"/>
                  <c:y val="-1.538707271845756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BFA-4837-81A9-0C9AFC415522}"/>
                </c:ext>
              </c:extLst>
            </c:dLbl>
            <c:dLbl>
              <c:idx val="2"/>
              <c:layout>
                <c:manualLayout>
                  <c:x val="-9.6618357487922701E-3"/>
                  <c:y val="-2.05160969579434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BFA-4837-81A9-0C9AFC415522}"/>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u-H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'2025_2026'!$A$2:$A$4</c:f>
              <c:strCache>
                <c:ptCount val="3"/>
                <c:pt idx="0">
                  <c:v>közművelődés</c:v>
                </c:pt>
                <c:pt idx="1">
                  <c:v>művészet</c:v>
                </c:pt>
                <c:pt idx="2">
                  <c:v>pedagógia</c:v>
                </c:pt>
              </c:strCache>
            </c:strRef>
          </c:cat>
          <c:val>
            <c:numRef>
              <c:f>'2025_2026'!$F$2:$F$4</c:f>
              <c:numCache>
                <c:formatCode>General</c:formatCode>
                <c:ptCount val="3"/>
                <c:pt idx="0">
                  <c:v>2</c:v>
                </c:pt>
                <c:pt idx="1">
                  <c:v>1546</c:v>
                </c:pt>
                <c:pt idx="2">
                  <c:v>53</c:v>
                </c:pt>
              </c:numCache>
            </c:numRef>
          </c:val>
          <c:extLst>
            <c:ext xmlns:c16="http://schemas.microsoft.com/office/drawing/2014/chart" uri="{C3380CC4-5D6E-409C-BE32-E72D297353CC}">
              <c16:uniqueId val="{00000001-EBFA-4837-81A9-0C9AFC415522}"/>
            </c:ext>
          </c:extLst>
        </c:ser>
        <c:ser>
          <c:idx val="5"/>
          <c:order val="5"/>
          <c:tx>
            <c:strRef>
              <c:f>'2025_2026'!$G$1</c:f>
              <c:strCache>
                <c:ptCount val="1"/>
                <c:pt idx="0">
                  <c:v>2025/2026</c:v>
                </c:pt>
              </c:strCache>
            </c:strRef>
          </c:tx>
          <c:spPr>
            <a:solidFill>
              <a:schemeClr val="accent3">
                <a:shade val="50000"/>
                <a:alpha val="85000"/>
              </a:schemeClr>
            </a:solidFill>
            <a:ln w="9525" cap="flat" cmpd="sng" algn="ctr">
              <a:solidFill>
                <a:schemeClr val="accent3">
                  <a:shade val="50000"/>
                  <a:lumMod val="75000"/>
                </a:schemeClr>
              </a:solidFill>
              <a:round/>
            </a:ln>
            <a:effectLst/>
            <a:sp3d contourW="9525">
              <a:contourClr>
                <a:schemeClr val="accent3">
                  <a:shade val="50000"/>
                  <a:lumMod val="75000"/>
                </a:schemeClr>
              </a:contourClr>
            </a:sp3d>
          </c:spPr>
          <c:invertIfNegative val="0"/>
          <c:dLbls>
            <c:dLbl>
              <c:idx val="0"/>
              <c:layout>
                <c:manualLayout>
                  <c:x val="0"/>
                  <c:y val="-1.28225605987147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F8D-4E89-8F39-3743DA2255B0}"/>
                </c:ext>
              </c:extLst>
            </c:dLbl>
            <c:dLbl>
              <c:idx val="2"/>
              <c:layout>
                <c:manualLayout>
                  <c:x val="-2.41545418235764E-2"/>
                  <c:y val="-1.5387072718457561E-2"/>
                </c:manualLayout>
              </c:layout>
              <c:showLegendKey val="0"/>
              <c:showVal val="1"/>
              <c:showCatName val="0"/>
              <c:showSerName val="0"/>
              <c:showPercent val="0"/>
              <c:showBubbleSize val="0"/>
              <c:extLst>
                <c:ext xmlns:c15="http://schemas.microsoft.com/office/drawing/2012/chart" uri="{CE6537A1-D6FC-4f65-9D91-7224C49458BB}">
                  <c15:layout>
                    <c:manualLayout>
                      <c:w val="3.0458937198067627E-2"/>
                      <c:h val="4.5007187701488371E-2"/>
                    </c:manualLayout>
                  </c15:layout>
                </c:ext>
                <c:ext xmlns:c16="http://schemas.microsoft.com/office/drawing/2014/chart" uri="{C3380CC4-5D6E-409C-BE32-E72D297353CC}">
                  <c16:uniqueId val="{00000003-CF8D-4E89-8F39-3743DA2255B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hu-HU"/>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'2025_2026'!$A$2:$A$4</c:f>
              <c:strCache>
                <c:ptCount val="3"/>
                <c:pt idx="0">
                  <c:v>közművelődés</c:v>
                </c:pt>
                <c:pt idx="1">
                  <c:v>művészet</c:v>
                </c:pt>
                <c:pt idx="2">
                  <c:v>pedagógia</c:v>
                </c:pt>
              </c:strCache>
            </c:strRef>
          </c:cat>
          <c:val>
            <c:numRef>
              <c:f>'2025_2026'!$G$2:$G$4</c:f>
              <c:numCache>
                <c:formatCode>General</c:formatCode>
                <c:ptCount val="3"/>
                <c:pt idx="0">
                  <c:v>10</c:v>
                </c:pt>
                <c:pt idx="1">
                  <c:v>1549</c:v>
                </c:pt>
                <c:pt idx="2">
                  <c:v>75</c:v>
                </c:pt>
              </c:numCache>
            </c:numRef>
          </c:val>
          <c:extLst>
            <c:ext xmlns:c16="http://schemas.microsoft.com/office/drawing/2014/chart" uri="{C3380CC4-5D6E-409C-BE32-E72D297353CC}">
              <c16:uniqueId val="{00000001-CF8D-4E89-8F39-3743DA2255B0}"/>
            </c:ext>
          </c:extLst>
        </c:ser>
        <c:dLbls>
          <c:showLegendKey val="0"/>
          <c:showVal val="0"/>
          <c:showCatName val="0"/>
          <c:showSerName val="0"/>
          <c:showPercent val="0"/>
          <c:showBubbleSize val="0"/>
        </c:dLbls>
        <c:gapWidth val="93"/>
        <c:gapDepth val="114"/>
        <c:shape val="box"/>
        <c:axId val="598005896"/>
        <c:axId val="598007536"/>
        <c:axId val="0"/>
      </c:bar3DChart>
      <c:catAx>
        <c:axId val="598005896"/>
        <c:scaling>
          <c:orientation val="minMax"/>
        </c:scaling>
        <c:delete val="0"/>
        <c:axPos val="b"/>
        <c:numFmt formatCode="General" sourceLinked="1"/>
        <c:majorTickMark val="none"/>
        <c:minorTickMark val="none"/>
        <c:tickLblPos val="low"/>
        <c:spPr>
          <a:noFill/>
          <a:ln w="19050" cap="flat" cmpd="sng" algn="ctr">
            <a:solidFill>
              <a:schemeClr val="dk1">
                <a:lumMod val="75000"/>
                <a:lumOff val="25000"/>
              </a:schemeClr>
            </a:solidFill>
            <a:round/>
          </a:ln>
          <a:effectLst/>
        </c:spPr>
        <c:txPr>
          <a:bodyPr rot="0" spcFirstLastPara="1" vertOverflow="ellipsis"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hu-HU"/>
          </a:p>
        </c:txPr>
        <c:crossAx val="598007536"/>
        <c:crosses val="autoZero"/>
        <c:auto val="1"/>
        <c:lblAlgn val="ctr"/>
        <c:lblOffset val="100"/>
        <c:noMultiLvlLbl val="0"/>
      </c:catAx>
      <c:valAx>
        <c:axId val="598007536"/>
        <c:scaling>
          <c:orientation val="minMax"/>
          <c:max val="1800"/>
          <c:min val="0"/>
        </c:scaling>
        <c:delete val="0"/>
        <c:axPos val="l"/>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hu-HU"/>
          </a:p>
        </c:txPr>
        <c:crossAx val="598005896"/>
        <c:crosses val="autoZero"/>
        <c:crossBetween val="between"/>
        <c:minorUnit val="20"/>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hu-HU"/>
        </a:p>
      </c:txPr>
    </c:legend>
    <c:plotVisOnly val="1"/>
    <c:dispBlanksAs val="gap"/>
    <c:showDLblsOverMax val="0"/>
    <c:extLst>
      <c:ext uri="{0b15fc19-7d7d-44ad-8c2d-2c3a37ce22c3}">
        <chartProps xmlns="https://web.wps.cn/et/2018/main" chartId="{6b2aff6f-b9b9-4951-8c37-6b782b32e070}"/>
      </c:ext>
    </c:extLst>
  </c:chart>
  <c:spPr>
    <a:noFill/>
    <a:ln w="9525" cap="flat" cmpd="sng" algn="ctr">
      <a:solidFill>
        <a:schemeClr val="dk1">
          <a:lumMod val="25000"/>
          <a:lumOff val="75000"/>
        </a:schemeClr>
      </a:solidFill>
      <a:round/>
    </a:ln>
    <a:effectLst/>
  </c:spPr>
  <c:txPr>
    <a:bodyPr/>
    <a:lstStyle/>
    <a:p>
      <a:pPr>
        <a:defRPr/>
      </a:pPr>
      <a:endParaRPr lang="hu-H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9.xml><?xml version="1.0" encoding="utf-8"?>
<cs:colorStyle xmlns:cs="http://schemas.microsoft.com/office/drawing/2012/chartStyle" xmlns:a="http://schemas.openxmlformats.org/drawingml/2006/main" meth="withinLinearReversed" id="23">
  <a:schemeClr val="accent3"/>
</cs:colorStyle>
</file>

<file path=ppt/charts/colors10.xml><?xml version="1.0" encoding="utf-8"?>
<cs:colorStyle xmlns:cs="http://schemas.microsoft.com/office/drawing/2012/chartStyle" xmlns:a="http://schemas.openxmlformats.org/drawingml/2006/main" meth="withinLinearReversed" id="23">
  <a:schemeClr val="accent3"/>
</cs:colorStyle>
</file>

<file path=ppt/charts/colors11.xml><?xml version="1.0" encoding="utf-8"?>
<cs:colorStyle xmlns:cs="http://schemas.microsoft.com/office/drawing/2012/chartStyle" xmlns:a="http://schemas.openxmlformats.org/drawingml/2006/main" meth="withinLinearReversed" id="23">
  <a:schemeClr val="accent3"/>
</cs:colorStyle>
</file>

<file path=ppt/charts/colors12.xml><?xml version="1.0" encoding="utf-8"?>
<cs:colorStyle xmlns:cs="http://schemas.microsoft.com/office/drawing/2012/chartStyle" xmlns:a="http://schemas.openxmlformats.org/drawingml/2006/main" meth="withinLinear" id="16">
  <a:schemeClr val="accent3"/>
</cs:colorStyle>
</file>

<file path=ppt/charts/colors13.xml><?xml version="1.0" encoding="utf-8"?>
<cs:colorStyle xmlns:cs="http://schemas.microsoft.com/office/drawing/2012/chartStyle" xmlns:a="http://schemas.openxmlformats.org/drawingml/2006/main" meth="withinLinear" id="16">
  <a:schemeClr val="accent3"/>
</cs:colorStyle>
</file>

<file path=ppt/charts/colors14.xml><?xml version="1.0" encoding="utf-8"?>
<cs:colorStyle xmlns:cs="http://schemas.microsoft.com/office/drawing/2012/chartStyle" xmlns:a="http://schemas.openxmlformats.org/drawingml/2006/main" meth="withinLinearReversed" id="23">
  <a:schemeClr val="accent3"/>
</cs:colorStyle>
</file>

<file path=ppt/charts/colors15.xml><?xml version="1.0" encoding="utf-8"?>
<cs:colorStyle xmlns:cs="http://schemas.microsoft.com/office/drawing/2012/chartStyle" xmlns:a="http://schemas.openxmlformats.org/drawingml/2006/main" meth="withinLinear" id="16">
  <a:schemeClr val="accent3"/>
</cs:colorStyle>
</file>

<file path=ppt/charts/colors16.xml><?xml version="1.0" encoding="utf-8"?>
<cs:colorStyle xmlns:cs="http://schemas.microsoft.com/office/drawing/2012/chartStyle" xmlns:a="http://schemas.openxmlformats.org/drawingml/2006/main" meth="withinLinearReversed" id="23">
  <a:schemeClr val="accent3"/>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02">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13.xml><?xml version="1.0" encoding="utf-8"?>
<cs:chartStyle xmlns:cs="http://schemas.microsoft.com/office/drawing/2012/chartStyle" xmlns:a="http://schemas.openxmlformats.org/drawingml/2006/main" id="105">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mods="ignoreCSTransforms">
      <cs:styleClr val="0">
        <a:shade val="25000"/>
      </cs:styl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mods="ignoreCSTransforms">
      <cs:styleClr val="0">
        <a:tint val="25000"/>
      </cs:styl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8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solidFill>
        <a:schemeClr val="phClr">
          <a:alpha val="85000"/>
        </a:schemeClr>
      </a:solidFill>
      <a:ln w="9525" cap="flat" cmpd="sng" algn="ctr">
        <a:solidFill>
          <a:schemeClr val="phClr">
            <a:lumMod val="75000"/>
          </a:schemeClr>
        </a:solidFill>
        <a:round/>
      </a:ln>
    </cs:spPr>
  </cs:dataPoint>
  <cs:dataPoint3D>
    <cs:lnRef idx="0">
      <cs:styleClr val="auto"/>
    </cs:lnRef>
    <cs:fillRef idx="0">
      <cs:styleClr val="auto"/>
    </cs:fillRef>
    <cs:effectRef idx="0">
      <cs:styleClr val="auto"/>
    </cs:effectRef>
    <cs:fontRef idx="minor">
      <a:schemeClr val="dk1"/>
    </cs:fontRef>
    <cs:spPr>
      <a:solidFill>
        <a:schemeClr val="phClr">
          <a:alpha val="85000"/>
        </a:schemeClr>
      </a:solidFill>
      <a:ln w="9525" cap="flat" cmpd="sng" algn="ctr">
        <a:solidFill>
          <a:schemeClr val="phClr">
            <a:lumMod val="75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spPr>
      <a:solidFill>
        <a:schemeClr val="lt1">
          <a:lumMod val="95000"/>
        </a:schemeClr>
      </a:solidFill>
      <a:sp3d/>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0.80625</cdr:x>
      <cdr:y>0.08644</cdr:y>
    </cdr:from>
    <cdr:to>
      <cdr:x>0.96981</cdr:x>
      <cdr:y>0.3106</cdr:y>
    </cdr:to>
    <cdr:sp macro="" textlink="">
      <cdr:nvSpPr>
        <cdr:cNvPr id="2" name="Rectangles 1"/>
        <cdr:cNvSpPr/>
      </cdr:nvSpPr>
      <cdr:spPr>
        <a:xfrm xmlns:a="http://schemas.openxmlformats.org/drawingml/2006/main">
          <a:off x="8160846" y="182705"/>
          <a:ext cx="1655551" cy="473825"/>
        </a:xfrm>
        <a:prstGeom xmlns:a="http://schemas.openxmlformats.org/drawingml/2006/main" prst="rect">
          <a:avLst/>
        </a:prstGeom>
        <a:noFill xmlns:a="http://schemas.openxmlformats.org/drawingml/2006/main"/>
        <a:ln xmlns:a="http://schemas.openxmlformats.org/drawingml/2006/main" w="9525">
          <a:solidFill>
            <a:srgbClr val="000000"/>
          </a:solidFill>
          <a:miter lim="800000"/>
        </a:ln>
      </cdr:spPr>
      <cdr:txBody>
        <a:bodyPr xmlns:a="http://schemas.openxmlformats.org/drawingml/2006/main" rot="0" vert="horz" wrap="square" lIns="91440" tIns="45720" rIns="91440" bIns="45720" anchor="t" anchorCtr="0">
          <a:noAutofit/>
        </a:bodyPr>
        <a:lstStyle xmlns:a="http://schemas.openxmlformats.org/drawingml/2006/main">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nSpc>
              <a:spcPct val="115000"/>
            </a:lnSpc>
            <a:spcAft>
              <a:spcPts val="0"/>
            </a:spcAft>
          </a:pPr>
          <a:r>
            <a:rPr lang="hu-HU" sz="1000" b="1" dirty="0">
              <a:effectLst/>
              <a:latin typeface="Times New Roman" panose="02020603050405020304" pitchFamily="18" charset="0"/>
              <a:ea typeface="Times New Roman" panose="02020603050405020304" pitchFamily="18" charset="0"/>
              <a:cs typeface="Times New Roman" panose="02020603050405020304" pitchFamily="18" charset="0"/>
            </a:rPr>
            <a:t>Összes dolgozat:	44 419</a:t>
          </a:r>
          <a:endParaRPr lang="hu-HU" sz="1100" b="1" dirty="0">
            <a:effectLst/>
            <a:latin typeface="Calibri" panose="020F0502020204030204" charset="0"/>
            <a:ea typeface="Times New Roman" panose="02020603050405020304" pitchFamily="18" charset="0"/>
            <a:cs typeface="Times New Roman" panose="02020603050405020304" pitchFamily="18" charset="0"/>
          </a:endParaRPr>
        </a:p>
        <a:p xmlns:a="http://schemas.openxmlformats.org/drawingml/2006/main">
          <a:pPr>
            <a:lnSpc>
              <a:spcPct val="115000"/>
            </a:lnSpc>
            <a:spcAft>
              <a:spcPts val="0"/>
            </a:spcAft>
          </a:pPr>
          <a:r>
            <a:rPr lang="hu-HU" sz="1000" b="1" dirty="0">
              <a:effectLst/>
              <a:latin typeface="Times New Roman" panose="02020603050405020304" pitchFamily="18" charset="0"/>
              <a:ea typeface="Times New Roman" panose="02020603050405020304" pitchFamily="18" charset="0"/>
              <a:cs typeface="Times New Roman" panose="02020603050405020304" pitchFamily="18" charset="0"/>
            </a:rPr>
            <a:t>Átlagpontszám:	53,1</a:t>
          </a:r>
          <a:endParaRPr lang="hu-HU" sz="1100" b="1" dirty="0">
            <a:effectLst/>
            <a:latin typeface="Calibri" panose="020F0502020204030204" charset="0"/>
            <a:ea typeface="Times New Roman" panose="02020603050405020304" pitchFamily="18" charset="0"/>
            <a:cs typeface="Times New Roman" panose="02020603050405020304" pitchFamily="18" charset="0"/>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0.1103</cdr:x>
      <cdr:y>0.1531</cdr:y>
    </cdr:from>
    <cdr:to>
      <cdr:x>0.45648</cdr:x>
      <cdr:y>0.30533</cdr:y>
    </cdr:to>
    <cdr:sp macro="" textlink="">
      <cdr:nvSpPr>
        <cdr:cNvPr id="2" name="Rectangles 1"/>
        <cdr:cNvSpPr/>
      </cdr:nvSpPr>
      <cdr:spPr>
        <a:xfrm xmlns:a="http://schemas.openxmlformats.org/drawingml/2006/main">
          <a:off x="522825" y="347017"/>
          <a:ext cx="1640886" cy="345046"/>
        </a:xfrm>
        <a:prstGeom xmlns:a="http://schemas.openxmlformats.org/drawingml/2006/main" prst="rect">
          <a:avLst/>
        </a:prstGeom>
        <a:noFill xmlns:a="http://schemas.openxmlformats.org/drawingml/2006/main"/>
        <a:ln xmlns:a="http://schemas.openxmlformats.org/drawingml/2006/main" w="9525">
          <a:solidFill>
            <a:srgbClr val="000000"/>
          </a:solidFill>
          <a:miter lim="800000"/>
        </a:ln>
      </cdr:spPr>
      <cdr:txBody>
        <a:bodyPr xmlns:a="http://schemas.openxmlformats.org/drawingml/2006/main" rot="0" vert="horz" wrap="square" lIns="91440" tIns="45720" rIns="91440" bIns="45720" anchor="t" anchorCtr="0">
          <a:noAutofit/>
        </a:bodyPr>
        <a:lstStyle xmlns:a="http://schemas.openxmlformats.org/drawingml/2006/main">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nSpc>
              <a:spcPct val="115000"/>
            </a:lnSpc>
            <a:spcAft>
              <a:spcPts val="0"/>
            </a:spcAft>
          </a:pPr>
          <a:r>
            <a:rPr lang="hu-HU" sz="800" b="1" dirty="0">
              <a:effectLst/>
              <a:ea typeface="Times New Roman" panose="02020603050405020304" pitchFamily="18" charset="0"/>
              <a:cs typeface="Times New Roman" panose="02020603050405020304" pitchFamily="18" charset="0"/>
            </a:rPr>
            <a:t>Összes dolgozat: </a:t>
          </a:r>
          <a:r>
            <a:rPr lang="hu-HU" sz="800" b="1" dirty="0">
              <a:ea typeface="Times New Roman" panose="02020603050405020304" pitchFamily="18" charset="0"/>
              <a:cs typeface="Times New Roman" panose="02020603050405020304" pitchFamily="18" charset="0"/>
            </a:rPr>
            <a:t>10 060</a:t>
          </a:r>
          <a:endParaRPr lang="hu-HU" sz="800" b="1" dirty="0">
            <a:effectLst/>
            <a:ea typeface="Times New Roman" panose="02020603050405020304" pitchFamily="18" charset="0"/>
            <a:cs typeface="Times New Roman" panose="02020603050405020304" pitchFamily="18" charset="0"/>
          </a:endParaRPr>
        </a:p>
        <a:p xmlns:a="http://schemas.openxmlformats.org/drawingml/2006/main">
          <a:pPr>
            <a:lnSpc>
              <a:spcPct val="115000"/>
            </a:lnSpc>
            <a:spcAft>
              <a:spcPts val="0"/>
            </a:spcAft>
          </a:pPr>
          <a:r>
            <a:rPr lang="hu-HU" sz="800" b="1" dirty="0">
              <a:effectLst/>
              <a:ea typeface="Times New Roman" panose="02020603050405020304" pitchFamily="18" charset="0"/>
              <a:cs typeface="Times New Roman" panose="02020603050405020304" pitchFamily="18" charset="0"/>
            </a:rPr>
            <a:t>Átlagpontszám:</a:t>
          </a:r>
          <a:r>
            <a:rPr lang="hu-HU" sz="800" b="1" dirty="0">
              <a:ea typeface="Times New Roman" panose="02020603050405020304" pitchFamily="18" charset="0"/>
              <a:cs typeface="Times New Roman" panose="02020603050405020304" pitchFamily="18" charset="0"/>
            </a:rPr>
            <a:t> 58,7</a:t>
          </a:r>
          <a:endParaRPr lang="hu-HU" sz="800" b="1" dirty="0">
            <a:effectLst/>
            <a:ea typeface="Times New Roman" panose="02020603050405020304" pitchFamily="18" charset="0"/>
            <a:cs typeface="Times New Roman" panose="02020603050405020304" pitchFamily="18" charset="0"/>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0.16319</cdr:x>
      <cdr:y>0.11011</cdr:y>
    </cdr:from>
    <cdr:to>
      <cdr:x>0.4879</cdr:x>
      <cdr:y>0.28816</cdr:y>
    </cdr:to>
    <cdr:sp macro="" textlink="">
      <cdr:nvSpPr>
        <cdr:cNvPr id="2" name="Rectangles 1"/>
        <cdr:cNvSpPr/>
      </cdr:nvSpPr>
      <cdr:spPr>
        <a:xfrm xmlns:a="http://schemas.openxmlformats.org/drawingml/2006/main">
          <a:off x="820262" y="221252"/>
          <a:ext cx="1632121" cy="357768"/>
        </a:xfrm>
        <a:prstGeom xmlns:a="http://schemas.openxmlformats.org/drawingml/2006/main" prst="rect">
          <a:avLst/>
        </a:prstGeom>
        <a:noFill xmlns:a="http://schemas.openxmlformats.org/drawingml/2006/main"/>
        <a:ln xmlns:a="http://schemas.openxmlformats.org/drawingml/2006/main" w="9525">
          <a:solidFill>
            <a:srgbClr val="000000"/>
          </a:solidFill>
          <a:miter lim="800000"/>
        </a:ln>
      </cdr:spPr>
      <cdr:txBody>
        <a:bodyPr xmlns:a="http://schemas.openxmlformats.org/drawingml/2006/main" rot="0" vert="horz" wrap="square" lIns="91440" tIns="45720" rIns="91440" bIns="45720" anchor="t" anchorCtr="0">
          <a:noAutofit/>
        </a:bodyPr>
        <a:lstStyle xmlns:a="http://schemas.openxmlformats.org/drawingml/2006/main">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nSpc>
              <a:spcPct val="115000"/>
            </a:lnSpc>
            <a:spcAft>
              <a:spcPts val="0"/>
            </a:spcAft>
          </a:pPr>
          <a:r>
            <a:rPr lang="hu-HU" sz="800" b="1" dirty="0">
              <a:effectLst/>
              <a:ea typeface="Times New Roman" panose="02020603050405020304" pitchFamily="18" charset="0"/>
              <a:cs typeface="Times New Roman" panose="02020603050405020304" pitchFamily="18" charset="0"/>
            </a:rPr>
            <a:t>Összes dolgozat: </a:t>
          </a:r>
          <a:r>
            <a:rPr lang="hu-HU" sz="800" b="1" dirty="0">
              <a:ea typeface="Times New Roman" panose="02020603050405020304" pitchFamily="18" charset="0"/>
              <a:cs typeface="Times New Roman" panose="02020603050405020304" pitchFamily="18" charset="0"/>
            </a:rPr>
            <a:t>5 967 </a:t>
          </a:r>
          <a:r>
            <a:rPr lang="hu-HU" sz="800" b="1" dirty="0">
              <a:effectLst/>
              <a:ea typeface="Times New Roman" panose="02020603050405020304" pitchFamily="18" charset="0"/>
              <a:cs typeface="Times New Roman" panose="02020603050405020304" pitchFamily="18" charset="0"/>
            </a:rPr>
            <a:t>Átlagpontszám:	64,2</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ím 1"/>
          <p:cNvSpPr>
            <a:spLocks noGrp="1"/>
          </p:cNvSpPr>
          <p:nvPr>
            <p:ph type="ctrTitle" hasCustomPrompt="1"/>
          </p:nvPr>
        </p:nvSpPr>
        <p:spPr>
          <a:xfrm>
            <a:off x="625475" y="745068"/>
            <a:ext cx="8399653" cy="1607538"/>
          </a:xfrm>
        </p:spPr>
        <p:txBody>
          <a:bodyPr anchor="b" anchorCtr="0">
            <a:noAutofit/>
          </a:bodyPr>
          <a:lstStyle>
            <a:lvl1pPr algn="l">
              <a:lnSpc>
                <a:spcPct val="110000"/>
              </a:lnSpc>
              <a:defRPr sz="3800" b="1"/>
            </a:lvl1pPr>
          </a:lstStyle>
          <a:p>
            <a:r>
              <a:rPr lang="hu-HU"/>
              <a:t>Az előadás címe…</a:t>
            </a:r>
            <a:endParaRPr lang="hu-HU" dirty="0"/>
          </a:p>
        </p:txBody>
      </p:sp>
      <p:sp>
        <p:nvSpPr>
          <p:cNvPr id="3" name="Alcím 2"/>
          <p:cNvSpPr>
            <a:spLocks noGrp="1"/>
          </p:cNvSpPr>
          <p:nvPr>
            <p:ph type="subTitle" idx="1" hasCustomPrompt="1"/>
          </p:nvPr>
        </p:nvSpPr>
        <p:spPr>
          <a:xfrm>
            <a:off x="625476" y="2803783"/>
            <a:ext cx="7288036" cy="854129"/>
          </a:xfrm>
        </p:spPr>
        <p:txBody>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KOLLÉGA NEVE</a:t>
            </a:r>
            <a:endParaRPr lang="hu-H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folyó szöveg)">
    <p:spTree>
      <p:nvGrpSpPr>
        <p:cNvPr id="1" name=""/>
        <p:cNvGrpSpPr/>
        <p:nvPr/>
      </p:nvGrpSpPr>
      <p:grpSpPr>
        <a:xfrm>
          <a:off x="0" y="0"/>
          <a:ext cx="0" cy="0"/>
          <a:chOff x="0" y="0"/>
          <a:chExt cx="0" cy="0"/>
        </a:xfrm>
      </p:grpSpPr>
      <p:sp>
        <p:nvSpPr>
          <p:cNvPr id="2" name="Cím 1"/>
          <p:cNvSpPr>
            <a:spLocks noGrp="1"/>
          </p:cNvSpPr>
          <p:nvPr>
            <p:ph type="title" hasCustomPrompt="1"/>
          </p:nvPr>
        </p:nvSpPr>
        <p:spPr/>
        <p:txBody>
          <a:bodyPr/>
          <a:lstStyle>
            <a:lvl1pPr>
              <a:defRPr/>
            </a:lvl1pPr>
          </a:lstStyle>
          <a:p>
            <a:r>
              <a:rPr lang="hu-HU" dirty="0"/>
              <a:t>Fejléc…</a:t>
            </a:r>
          </a:p>
        </p:txBody>
      </p:sp>
      <p:sp>
        <p:nvSpPr>
          <p:cNvPr id="3" name="Tartalom helye 2"/>
          <p:cNvSpPr>
            <a:spLocks noGrp="1"/>
          </p:cNvSpPr>
          <p:nvPr>
            <p:ph idx="1" hasCustomPrompt="1"/>
          </p:nvPr>
        </p:nvSpPr>
        <p:spPr>
          <a:xfrm>
            <a:off x="838200" y="1385999"/>
            <a:ext cx="10515600" cy="4784400"/>
          </a:xfrm>
        </p:spPr>
        <p:txBody>
          <a:bodyPr/>
          <a:lstStyle>
            <a:lvl1pPr marL="0" indent="0">
              <a:buNone/>
              <a:defRPr/>
            </a:lvl1pPr>
          </a:lstStyle>
          <a:p>
            <a:pPr lvl="0"/>
            <a:r>
              <a:rPr lang="hu-HU" dirty="0"/>
              <a:t>Szöveg…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ím és tartalom (felsorolás)">
    <p:spTree>
      <p:nvGrpSpPr>
        <p:cNvPr id="1" name=""/>
        <p:cNvGrpSpPr/>
        <p:nvPr/>
      </p:nvGrpSpPr>
      <p:grpSpPr>
        <a:xfrm>
          <a:off x="0" y="0"/>
          <a:ext cx="0" cy="0"/>
          <a:chOff x="0" y="0"/>
          <a:chExt cx="0" cy="0"/>
        </a:xfrm>
      </p:grpSpPr>
      <p:sp>
        <p:nvSpPr>
          <p:cNvPr id="2" name="Cím 1"/>
          <p:cNvSpPr>
            <a:spLocks noGrp="1"/>
          </p:cNvSpPr>
          <p:nvPr>
            <p:ph type="title" hasCustomPrompt="1"/>
          </p:nvPr>
        </p:nvSpPr>
        <p:spPr/>
        <p:txBody>
          <a:bodyPr/>
          <a:lstStyle>
            <a:lvl1pPr>
              <a:defRPr/>
            </a:lvl1pPr>
          </a:lstStyle>
          <a:p>
            <a:r>
              <a:rPr lang="hu-HU" dirty="0"/>
              <a:t>Fejléc…</a:t>
            </a:r>
          </a:p>
        </p:txBody>
      </p:sp>
      <p:sp>
        <p:nvSpPr>
          <p:cNvPr id="3" name="Tartalom helye 2"/>
          <p:cNvSpPr>
            <a:spLocks noGrp="1"/>
          </p:cNvSpPr>
          <p:nvPr>
            <p:ph idx="1" hasCustomPrompt="1"/>
          </p:nvPr>
        </p:nvSpPr>
        <p:spPr>
          <a:xfrm>
            <a:off x="838200" y="1386000"/>
            <a:ext cx="10515600" cy="4784400"/>
          </a:xfrm>
        </p:spPr>
        <p:txBody>
          <a:bodyPr/>
          <a:lstStyle>
            <a:lvl1pPr marL="532130" indent="-228600">
              <a:spcAft>
                <a:spcPts val="300"/>
              </a:spcAft>
              <a:defRPr/>
            </a:lvl1pPr>
            <a:lvl2pPr marL="809625" indent="-228600">
              <a:spcAft>
                <a:spcPts val="300"/>
              </a:spcAft>
              <a:defRPr/>
            </a:lvl2pPr>
            <a:lvl3pPr marL="1076325" indent="-228600">
              <a:spcAft>
                <a:spcPts val="300"/>
              </a:spcAft>
              <a:defRPr/>
            </a:lvl3pPr>
            <a:lvl4pPr marL="1343025" indent="-228600">
              <a:spcAft>
                <a:spcPts val="300"/>
              </a:spcAft>
              <a:defRPr/>
            </a:lvl4pPr>
            <a:lvl5pPr marL="1701800" indent="-228600">
              <a:spcAft>
                <a:spcPts val="300"/>
              </a:spcAft>
              <a:defRPr/>
            </a:lvl5pPr>
          </a:lstStyle>
          <a:p>
            <a:pPr lvl="0"/>
            <a:r>
              <a:rPr lang="hu-HU" dirty="0"/>
              <a:t>Szöveg…</a:t>
            </a:r>
          </a:p>
          <a:p>
            <a:pPr lvl="1"/>
            <a:r>
              <a:rPr lang="hu-HU" dirty="0"/>
              <a:t>Második szint</a:t>
            </a:r>
          </a:p>
          <a:p>
            <a:pPr lvl="2"/>
            <a:r>
              <a:rPr lang="hu-HU" dirty="0"/>
              <a:t>Harmadik szint</a:t>
            </a:r>
          </a:p>
          <a:p>
            <a:pPr lvl="3"/>
            <a:r>
              <a:rPr lang="hu-HU" dirty="0"/>
              <a:t>Negyedik szint</a:t>
            </a:r>
          </a:p>
          <a:p>
            <a:pPr lvl="4"/>
            <a:r>
              <a:rPr lang="hu-HU" dirty="0"/>
              <a:t>Ötödik szint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 name="Cím 1"/>
          <p:cNvSpPr>
            <a:spLocks noGrp="1"/>
          </p:cNvSpPr>
          <p:nvPr>
            <p:ph type="title" hasCustomPrompt="1"/>
          </p:nvPr>
        </p:nvSpPr>
        <p:spPr>
          <a:xfrm>
            <a:off x="831850" y="1150939"/>
            <a:ext cx="10515600" cy="2470376"/>
          </a:xfrm>
        </p:spPr>
        <p:txBody>
          <a:bodyPr anchor="b">
            <a:normAutofit/>
          </a:bodyPr>
          <a:lstStyle>
            <a:lvl1pPr>
              <a:defRPr sz="3000"/>
            </a:lvl1pPr>
          </a:lstStyle>
          <a:p>
            <a:r>
              <a:rPr lang="hu-HU"/>
              <a:t>Szakaszcím szerkesztése</a:t>
            </a:r>
            <a:endParaRPr lang="hu-HU" dirty="0"/>
          </a:p>
        </p:txBody>
      </p:sp>
      <p:sp>
        <p:nvSpPr>
          <p:cNvPr id="3" name="Szöveg helye 2"/>
          <p:cNvSpPr>
            <a:spLocks noGrp="1"/>
          </p:cNvSpPr>
          <p:nvPr>
            <p:ph type="body" idx="1" hasCustomPrompt="1"/>
          </p:nvPr>
        </p:nvSpPr>
        <p:spPr>
          <a:xfrm>
            <a:off x="831850" y="3621315"/>
            <a:ext cx="10515600" cy="155566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a:t>Mintaszöveg szerkesztése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 name="Cím 1"/>
          <p:cNvSpPr>
            <a:spLocks noGrp="1"/>
          </p:cNvSpPr>
          <p:nvPr>
            <p:ph type="title" hasCustomPrompt="1"/>
          </p:nvPr>
        </p:nvSpPr>
        <p:spPr/>
        <p:txBody>
          <a:bodyPr/>
          <a:lstStyle/>
          <a:p>
            <a:r>
              <a:rPr lang="hu-HU"/>
              <a:t>Mintacím szerkesztése</a:t>
            </a:r>
            <a:endParaRPr lang="hu-HU" dirty="0"/>
          </a:p>
        </p:txBody>
      </p:sp>
      <p:sp>
        <p:nvSpPr>
          <p:cNvPr id="3" name="Tartalom helye 2"/>
          <p:cNvSpPr>
            <a:spLocks noGrp="1"/>
          </p:cNvSpPr>
          <p:nvPr>
            <p:ph sz="half" idx="1" hasCustomPrompt="1"/>
          </p:nvPr>
        </p:nvSpPr>
        <p:spPr>
          <a:xfrm>
            <a:off x="838200" y="1825625"/>
            <a:ext cx="5181600" cy="3343275"/>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hu-HU" dirty="0"/>
          </a:p>
        </p:txBody>
      </p:sp>
      <p:sp>
        <p:nvSpPr>
          <p:cNvPr id="4" name="Tartalom helye 3"/>
          <p:cNvSpPr>
            <a:spLocks noGrp="1"/>
          </p:cNvSpPr>
          <p:nvPr>
            <p:ph sz="half" idx="2" hasCustomPrompt="1"/>
          </p:nvPr>
        </p:nvSpPr>
        <p:spPr>
          <a:xfrm>
            <a:off x="6172200" y="1825625"/>
            <a:ext cx="5181600" cy="3343275"/>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 name="Cím 1"/>
          <p:cNvSpPr>
            <a:spLocks noGrp="1"/>
          </p:cNvSpPr>
          <p:nvPr>
            <p:ph type="title" hasCustomPrompt="1"/>
          </p:nvPr>
        </p:nvSpPr>
        <p:spPr>
          <a:xfrm>
            <a:off x="421200" y="0"/>
            <a:ext cx="10515600" cy="936000"/>
          </a:xfrm>
        </p:spPr>
        <p:txBody>
          <a:bodyPr/>
          <a:lstStyle/>
          <a:p>
            <a:r>
              <a:rPr lang="hu-HU"/>
              <a:t>Mintacím szerkesztése</a:t>
            </a:r>
            <a:endParaRPr lang="hu-HU" dirty="0"/>
          </a:p>
        </p:txBody>
      </p:sp>
      <p:sp>
        <p:nvSpPr>
          <p:cNvPr id="3" name="Szöveg helye 2"/>
          <p:cNvSpPr>
            <a:spLocks noGrp="1"/>
          </p:cNvSpPr>
          <p:nvPr>
            <p:ph type="body" idx="1" hasCustomPrompt="1"/>
          </p:nvPr>
        </p:nvSpPr>
        <p:spPr>
          <a:xfrm>
            <a:off x="527269" y="1438088"/>
            <a:ext cx="4970703" cy="82391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Tartalom helye 3"/>
          <p:cNvSpPr>
            <a:spLocks noGrp="1"/>
          </p:cNvSpPr>
          <p:nvPr>
            <p:ph sz="half" idx="2" hasCustomPrompt="1"/>
          </p:nvPr>
        </p:nvSpPr>
        <p:spPr>
          <a:xfrm>
            <a:off x="839788" y="2505075"/>
            <a:ext cx="4970703" cy="2752725"/>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hu-HU" dirty="0"/>
          </a:p>
        </p:txBody>
      </p:sp>
      <p:sp>
        <p:nvSpPr>
          <p:cNvPr id="5" name="Szöveg helye 4"/>
          <p:cNvSpPr>
            <a:spLocks noGrp="1"/>
          </p:cNvSpPr>
          <p:nvPr>
            <p:ph type="body" sz="quarter" idx="3" hasCustomPrompt="1"/>
          </p:nvPr>
        </p:nvSpPr>
        <p:spPr>
          <a:xfrm>
            <a:off x="6183774" y="1438088"/>
            <a:ext cx="5183188" cy="82391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Tartalom helye 5"/>
          <p:cNvSpPr>
            <a:spLocks noGrp="1"/>
          </p:cNvSpPr>
          <p:nvPr>
            <p:ph sz="quarter" idx="4" hasCustomPrompt="1"/>
          </p:nvPr>
        </p:nvSpPr>
        <p:spPr>
          <a:xfrm>
            <a:off x="6496293" y="2505075"/>
            <a:ext cx="5183188" cy="2752725"/>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hu-H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2" name="Cím 1"/>
          <p:cNvSpPr>
            <a:spLocks noGrp="1"/>
          </p:cNvSpPr>
          <p:nvPr>
            <p:ph type="title" hasCustomPrompt="1"/>
          </p:nvPr>
        </p:nvSpPr>
        <p:spPr/>
        <p:txBody>
          <a:bodyPr/>
          <a:lstStyle/>
          <a:p>
            <a:r>
              <a:rPr lang="hu-HU"/>
              <a:t>Mintacím szerkesztése</a:t>
            </a:r>
            <a:endParaRPr lang="hu-H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ljesen üres">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ép képaláírással">
    <p:spTree>
      <p:nvGrpSpPr>
        <p:cNvPr id="1" name=""/>
        <p:cNvGrpSpPr/>
        <p:nvPr/>
      </p:nvGrpSpPr>
      <p:grpSpPr>
        <a:xfrm>
          <a:off x="0" y="0"/>
          <a:ext cx="0" cy="0"/>
          <a:chOff x="0" y="0"/>
          <a:chExt cx="0" cy="0"/>
        </a:xfrm>
      </p:grpSpPr>
      <p:sp>
        <p:nvSpPr>
          <p:cNvPr id="4" name="Szöveg helye 3"/>
          <p:cNvSpPr>
            <a:spLocks noGrp="1"/>
          </p:cNvSpPr>
          <p:nvPr>
            <p:ph type="body" sz="half" idx="2" hasCustomPrompt="1"/>
          </p:nvPr>
        </p:nvSpPr>
        <p:spPr>
          <a:xfrm>
            <a:off x="7001337" y="5032918"/>
            <a:ext cx="3934488" cy="452478"/>
          </a:xfrm>
          <a:solidFill>
            <a:srgbClr val="B9DCD2"/>
          </a:solidFill>
        </p:spPr>
        <p:txBody>
          <a:bodyPr lIns="396000" tIns="72000" bIns="72000">
            <a:sp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Kép/ábra címe</a:t>
            </a:r>
          </a:p>
        </p:txBody>
      </p:sp>
      <p:sp>
        <p:nvSpPr>
          <p:cNvPr id="3" name="Kép helye 2"/>
          <p:cNvSpPr>
            <a:spLocks noGrp="1"/>
          </p:cNvSpPr>
          <p:nvPr>
            <p:ph type="pic" idx="1" hasCustomPrompt="1"/>
          </p:nvPr>
        </p:nvSpPr>
        <p:spPr>
          <a:xfrm>
            <a:off x="943679" y="1625379"/>
            <a:ext cx="6172200" cy="42322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a:t>Kép beszúrásához kattintson az ikonra</a:t>
            </a:r>
          </a:p>
        </p:txBody>
      </p:sp>
      <p:sp>
        <p:nvSpPr>
          <p:cNvPr id="5" name="Cím 1"/>
          <p:cNvSpPr>
            <a:spLocks noGrp="1"/>
          </p:cNvSpPr>
          <p:nvPr>
            <p:ph type="title" hasCustomPrompt="1"/>
          </p:nvPr>
        </p:nvSpPr>
        <p:spPr>
          <a:xfrm>
            <a:off x="420225" y="0"/>
            <a:ext cx="10515600" cy="937549"/>
          </a:xfrm>
        </p:spPr>
        <p:txBody>
          <a:bodyPr/>
          <a:lstStyle/>
          <a:p>
            <a:r>
              <a:rPr lang="hu-HU"/>
              <a:t>Mintacím szerkesztése</a:t>
            </a:r>
            <a:endParaRPr lang="hu-H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Záró">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ím 1"/>
          <p:cNvSpPr>
            <a:spLocks noGrp="1"/>
          </p:cNvSpPr>
          <p:nvPr>
            <p:ph type="title" hasCustomPrompt="1"/>
          </p:nvPr>
        </p:nvSpPr>
        <p:spPr>
          <a:xfrm>
            <a:off x="708660" y="2323195"/>
            <a:ext cx="10515600" cy="905378"/>
          </a:xfrm>
        </p:spPr>
        <p:txBody>
          <a:bodyPr/>
          <a:lstStyle>
            <a:lvl1pPr algn="l">
              <a:defRPr sz="2600"/>
            </a:lvl1pPr>
          </a:lstStyle>
          <a:p>
            <a:r>
              <a:rPr lang="hu-HU" dirty="0"/>
              <a:t>Köszönöm a figyelmet!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Cím helye 1"/>
          <p:cNvSpPr>
            <a:spLocks noGrp="1"/>
          </p:cNvSpPr>
          <p:nvPr>
            <p:ph type="title"/>
          </p:nvPr>
        </p:nvSpPr>
        <p:spPr>
          <a:xfrm>
            <a:off x="420225" y="0"/>
            <a:ext cx="10515600" cy="937549"/>
          </a:xfrm>
          <a:prstGeom prst="rect">
            <a:avLst/>
          </a:prstGeom>
        </p:spPr>
        <p:txBody>
          <a:bodyPr vert="horz" lIns="91440" tIns="72000" rIns="91440" bIns="45720" rtlCol="0" anchor="ctr">
            <a:noAutofit/>
          </a:bodyPr>
          <a:lstStyle/>
          <a:p>
            <a:r>
              <a:rPr lang="hu-HU"/>
              <a:t>Fejléc…</a:t>
            </a:r>
            <a:endParaRPr lang="hu-HU" dirty="0"/>
          </a:p>
        </p:txBody>
      </p:sp>
      <p:sp>
        <p:nvSpPr>
          <p:cNvPr id="3" name="Szöveg helye 2"/>
          <p:cNvSpPr>
            <a:spLocks noGrp="1"/>
          </p:cNvSpPr>
          <p:nvPr>
            <p:ph type="body" idx="1"/>
          </p:nvPr>
        </p:nvSpPr>
        <p:spPr>
          <a:xfrm>
            <a:off x="838200" y="1385786"/>
            <a:ext cx="10515600" cy="4783519"/>
          </a:xfrm>
          <a:prstGeom prst="rect">
            <a:avLst/>
          </a:prstGeom>
        </p:spPr>
        <p:txBody>
          <a:bodyPr vert="horz" lIns="91440" tIns="45720" rIns="91440" bIns="45720" rtlCol="0">
            <a:noAutofit/>
          </a:bodyPr>
          <a:lstStyle/>
          <a:p>
            <a:pPr lvl="0"/>
            <a:r>
              <a:rPr lang="hu-HU" dirty="0"/>
              <a:t>Szöveg…</a:t>
            </a:r>
          </a:p>
          <a:p>
            <a:pPr lvl="1"/>
            <a:r>
              <a:rPr lang="hu-HU" dirty="0"/>
              <a:t>Második szint</a:t>
            </a:r>
          </a:p>
          <a:p>
            <a:pPr lvl="2"/>
            <a:r>
              <a:rPr lang="hu-HU" dirty="0"/>
              <a:t>Harmadik szint</a:t>
            </a:r>
          </a:p>
          <a:p>
            <a:pPr lvl="3"/>
            <a:r>
              <a:rPr lang="hu-HU" dirty="0"/>
              <a:t>Negyedik szint</a:t>
            </a:r>
          </a:p>
          <a:p>
            <a:pPr lvl="4"/>
            <a:r>
              <a:rPr lang="hu-HU" dirty="0"/>
              <a:t>Ötödik szint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600"/>
        </a:spcAft>
        <a:buClr>
          <a:srgbClr val="B9DCD2"/>
        </a:buClr>
        <a:buFont typeface="Arial" panose="020B0604020202020204" pitchFamily="34" charset="0"/>
        <a:buChar char="•"/>
        <a:defRPr sz="2000" kern="1200">
          <a:solidFill>
            <a:schemeClr val="tx1"/>
          </a:solidFill>
          <a:latin typeface="+mn-lt"/>
          <a:ea typeface="+mn-ea"/>
          <a:cs typeface="+mn-cs"/>
        </a:defRPr>
      </a:lvl1pPr>
      <a:lvl2pPr marL="575945" indent="-228600" algn="l" defTabSz="914400" rtl="0" eaLnBrk="1" latinLnBrk="0" hangingPunct="1">
        <a:lnSpc>
          <a:spcPct val="110000"/>
        </a:lnSpc>
        <a:spcBef>
          <a:spcPts val="500"/>
        </a:spcBef>
        <a:spcAft>
          <a:spcPts val="600"/>
        </a:spcAft>
        <a:buClr>
          <a:srgbClr val="B9DCD2"/>
        </a:buClr>
        <a:buFont typeface="Lato" panose="020F0502020204030203" pitchFamily="34" charset="0"/>
        <a:buChar char="̶"/>
        <a:defRPr sz="1800" kern="1200">
          <a:solidFill>
            <a:schemeClr val="tx1"/>
          </a:solidFill>
          <a:latin typeface="+mn-lt"/>
          <a:ea typeface="+mn-ea"/>
          <a:cs typeface="+mn-cs"/>
        </a:defRPr>
      </a:lvl2pPr>
      <a:lvl3pPr marL="864235" indent="-228600" algn="l" defTabSz="914400" rtl="0" eaLnBrk="1" latinLnBrk="0" hangingPunct="1">
        <a:lnSpc>
          <a:spcPct val="110000"/>
        </a:lnSpc>
        <a:spcBef>
          <a:spcPts val="500"/>
        </a:spcBef>
        <a:spcAft>
          <a:spcPts val="600"/>
        </a:spcAft>
        <a:buClr>
          <a:srgbClr val="B9DCD2"/>
        </a:buClr>
        <a:buFont typeface="Arial" panose="020B0604020202020204" pitchFamily="34" charset="0"/>
        <a:buChar char="•"/>
        <a:defRPr sz="1600" kern="1200">
          <a:solidFill>
            <a:schemeClr val="tx1"/>
          </a:solidFill>
          <a:latin typeface="+mn-lt"/>
          <a:ea typeface="+mn-ea"/>
          <a:cs typeface="+mn-cs"/>
        </a:defRPr>
      </a:lvl3pPr>
      <a:lvl4pPr marL="1162050" indent="-228600" algn="l" defTabSz="914400" rtl="0" eaLnBrk="1" latinLnBrk="0" hangingPunct="1">
        <a:lnSpc>
          <a:spcPct val="110000"/>
        </a:lnSpc>
        <a:spcBef>
          <a:spcPts val="500"/>
        </a:spcBef>
        <a:spcAft>
          <a:spcPts val="600"/>
        </a:spcAft>
        <a:buClr>
          <a:srgbClr val="B9DCD2"/>
        </a:buClr>
        <a:buFont typeface="Arial" panose="020B0604020202020204" pitchFamily="34" charset="0"/>
        <a:buChar char="•"/>
        <a:defRPr sz="1400" kern="1200">
          <a:solidFill>
            <a:schemeClr val="tx1"/>
          </a:solidFill>
          <a:latin typeface="+mn-lt"/>
          <a:ea typeface="+mn-ea"/>
          <a:cs typeface="+mn-cs"/>
        </a:defRPr>
      </a:lvl4pPr>
      <a:lvl5pPr marL="1438275" indent="-228600" algn="l" defTabSz="914400" rtl="0" eaLnBrk="1" latinLnBrk="0" hangingPunct="1">
        <a:lnSpc>
          <a:spcPct val="110000"/>
        </a:lnSpc>
        <a:spcBef>
          <a:spcPts val="500"/>
        </a:spcBef>
        <a:spcAft>
          <a:spcPts val="600"/>
        </a:spcAft>
        <a:buClr>
          <a:srgbClr val="B9DCD2"/>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2.xml"/><Relationship Id="rId4" Type="http://schemas.openxmlformats.org/officeDocument/2006/relationships/chart" Target="../charts/chart18.xml"/></Relationships>
</file>

<file path=ppt/slides/_rels/slide22.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ctrTitle"/>
          </p:nvPr>
        </p:nvSpPr>
        <p:spPr>
          <a:xfrm>
            <a:off x="625475" y="745068"/>
            <a:ext cx="8845696" cy="1607538"/>
          </a:xfrm>
        </p:spPr>
        <p:txBody>
          <a:bodyPr/>
          <a:lstStyle/>
          <a:p>
            <a:r>
              <a:rPr lang="hu-HU" sz="3600" b="1" cap="all" dirty="0">
                <a:solidFill>
                  <a:schemeClr val="tx1">
                    <a:lumMod val="95000"/>
                    <a:lumOff val="5000"/>
                  </a:schemeClr>
                </a:solidFill>
                <a:effectLst>
                  <a:outerShdw blurRad="38100" dist="38100" dir="2700000" algn="tl">
                    <a:srgbClr val="C0C0C0"/>
                  </a:outerShdw>
                </a:effectLst>
                <a:latin typeface="+mn-lt"/>
                <a:ea typeface="Verdana" panose="020B0604030504040204" pitchFamily="34" charset="0"/>
                <a:cs typeface="Verdana" panose="020B0604030504040204" pitchFamily="34" charset="0"/>
              </a:rPr>
              <a:t>Középfokú felvételi eljárás a </a:t>
            </a:r>
            <a:r>
              <a:rPr lang="hu-HU" sz="3600" b="1" cap="all" dirty="0">
                <a:effectLst>
                  <a:outerShdw blurRad="38100" dist="38100" dir="2700000" algn="tl">
                    <a:srgbClr val="C0C0C0"/>
                  </a:outerShdw>
                </a:effectLst>
                <a:latin typeface="+mn-lt"/>
                <a:ea typeface="Verdana" panose="020B0604030504040204" pitchFamily="34" charset="0"/>
                <a:cs typeface="Verdana" panose="020B0604030504040204" pitchFamily="34" charset="0"/>
              </a:rPr>
              <a:t>2025/2026. </a:t>
            </a:r>
            <a:r>
              <a:rPr lang="hu-HU" sz="3600" b="1" cap="all" dirty="0">
                <a:solidFill>
                  <a:schemeClr val="tx1">
                    <a:lumMod val="95000"/>
                    <a:lumOff val="5000"/>
                  </a:schemeClr>
                </a:solidFill>
                <a:effectLst>
                  <a:outerShdw blurRad="38100" dist="38100" dir="2700000" algn="tl">
                    <a:srgbClr val="C0C0C0"/>
                  </a:outerShdw>
                </a:effectLst>
                <a:latin typeface="+mn-lt"/>
                <a:ea typeface="Verdana" panose="020B0604030504040204" pitchFamily="34" charset="0"/>
                <a:cs typeface="Verdana" panose="020B0604030504040204" pitchFamily="34" charset="0"/>
              </a:rPr>
              <a:t>tanévben</a:t>
            </a:r>
            <a:endParaRPr lang="hu-HU"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r>
              <a:rPr lang="hu-HU" altLang="hu-HU" sz="2600" b="1" dirty="0"/>
              <a:t>A felvételi eljárás alapelvei</a:t>
            </a:r>
            <a:endParaRPr lang="hu-HU" dirty="0"/>
          </a:p>
        </p:txBody>
      </p:sp>
      <p:sp>
        <p:nvSpPr>
          <p:cNvPr id="3" name="Tartalom helye 2"/>
          <p:cNvSpPr>
            <a:spLocks noGrp="1"/>
          </p:cNvSpPr>
          <p:nvPr>
            <p:ph idx="1"/>
          </p:nvPr>
        </p:nvSpPr>
        <p:spPr/>
        <p:txBody>
          <a:bodyPr/>
          <a:lstStyle/>
          <a:p>
            <a:pPr marL="342900" indent="-342900">
              <a:spcBef>
                <a:spcPts val="0"/>
              </a:spcBef>
              <a:spcAft>
                <a:spcPts val="0"/>
              </a:spcAft>
              <a:buFont typeface="Courier New" panose="02070309020205020404" pitchFamily="49" charset="0"/>
              <a:buChar char="o"/>
            </a:pPr>
            <a:r>
              <a:rPr lang="hu-HU" altLang="hu-HU" sz="1200" dirty="0"/>
              <a:t>Szabad iskolaválasztás a tanuló részéről</a:t>
            </a:r>
          </a:p>
          <a:p>
            <a:pPr marL="800100" lvl="1" indent="-342900">
              <a:spcBef>
                <a:spcPts val="0"/>
              </a:spcBef>
              <a:buFontTx/>
              <a:buChar char="•"/>
            </a:pPr>
            <a:r>
              <a:rPr lang="hu-HU" altLang="hu-HU" sz="1200" dirty="0"/>
              <a:t>Tetszőleges számú jelentkezés</a:t>
            </a:r>
          </a:p>
          <a:p>
            <a:pPr marL="800100" lvl="1" indent="-342900">
              <a:spcBef>
                <a:spcPts val="0"/>
              </a:spcBef>
              <a:buFontTx/>
              <a:buChar char="•"/>
            </a:pPr>
            <a:r>
              <a:rPr lang="hu-HU" altLang="hu-HU" sz="1200" dirty="0"/>
              <a:t>A jelentkezések sorrendjének meghatározása</a:t>
            </a:r>
          </a:p>
          <a:p>
            <a:pPr marL="800100" lvl="1" indent="-342900">
              <a:spcBef>
                <a:spcPts val="0"/>
              </a:spcBef>
              <a:buFontTx/>
              <a:buChar char="•"/>
            </a:pPr>
            <a:r>
              <a:rPr lang="hu-HU" altLang="hu-HU" sz="1200" dirty="0"/>
              <a:t>A tanulói szándékok, a tanulmányi területek egyéni sorrendjének titkossága</a:t>
            </a:r>
          </a:p>
          <a:p>
            <a:pPr marL="800100" lvl="1" indent="-342900">
              <a:spcBef>
                <a:spcPts val="0"/>
              </a:spcBef>
              <a:buFontTx/>
              <a:buChar char="•"/>
            </a:pPr>
            <a:r>
              <a:rPr lang="hu-HU" altLang="hu-HU" sz="1200" dirty="0"/>
              <a:t>Minden felvételi kérelem egymástól független, érdemi elbírálása az általános felvételi eljárásban</a:t>
            </a:r>
          </a:p>
          <a:p>
            <a:pPr marL="800100" lvl="1" indent="-342900">
              <a:spcBef>
                <a:spcPts val="0"/>
              </a:spcBef>
              <a:spcAft>
                <a:spcPts val="600"/>
              </a:spcAft>
              <a:buFontTx/>
              <a:buChar char="•"/>
            </a:pPr>
            <a:r>
              <a:rPr lang="hu-HU" altLang="hu-HU" sz="1200" dirty="0"/>
              <a:t>A tanuló a felvételi vizsgák után módosíthatja eredeti jelentkezési szándékait</a:t>
            </a:r>
          </a:p>
          <a:p>
            <a:pPr marL="342900" indent="-342900">
              <a:spcBef>
                <a:spcPts val="0"/>
              </a:spcBef>
              <a:spcAft>
                <a:spcPts val="0"/>
              </a:spcAft>
              <a:buFont typeface="Courier New" panose="02070309020205020404" pitchFamily="49" charset="0"/>
              <a:buChar char="o"/>
            </a:pPr>
            <a:r>
              <a:rPr lang="hu-HU" altLang="hu-HU" sz="1200" dirty="0"/>
              <a:t>A középfokú iskolák igazgatóinak a törvényben biztosított döntési jogkörének érvényesülése</a:t>
            </a:r>
          </a:p>
          <a:p>
            <a:pPr marL="800100" lvl="1" indent="-342900">
              <a:spcBef>
                <a:spcPts val="0"/>
              </a:spcBef>
              <a:buFontTx/>
              <a:buChar char="•"/>
            </a:pPr>
            <a:r>
              <a:rPr lang="hu-HU" altLang="hu-HU" sz="1200" dirty="0"/>
              <a:t>Saját hatáskörben döntenek a jelentkezők felvételéről</a:t>
            </a:r>
          </a:p>
          <a:p>
            <a:pPr marL="800100" lvl="1" indent="-342900">
              <a:spcBef>
                <a:spcPts val="0"/>
              </a:spcBef>
              <a:buFontTx/>
              <a:buChar char="•"/>
            </a:pPr>
            <a:r>
              <a:rPr lang="hu-HU" altLang="hu-HU" sz="1200" dirty="0"/>
              <a:t>E jogkörük gyakorlásának módja: a tanulói rangsorok kialakítása tanulmányi területenként </a:t>
            </a:r>
          </a:p>
          <a:p>
            <a:pPr marL="800100" lvl="1" indent="-342900">
              <a:spcBef>
                <a:spcPts val="0"/>
              </a:spcBef>
              <a:spcAft>
                <a:spcPts val="600"/>
              </a:spcAft>
              <a:buFontTx/>
              <a:buChar char="•"/>
            </a:pPr>
            <a:r>
              <a:rPr lang="hu-HU" altLang="hu-HU" sz="1200" dirty="0"/>
              <a:t>A középfokú iskola igazgatója felajánlhatja a felvételizőnek az „átirányítást” egyik tanulmányi területről a másikra</a:t>
            </a:r>
          </a:p>
          <a:p>
            <a:pPr marL="342900" indent="-342900">
              <a:spcBef>
                <a:spcPts val="0"/>
              </a:spcBef>
              <a:spcAft>
                <a:spcPts val="0"/>
              </a:spcAft>
              <a:buFont typeface="Courier New" panose="02070309020205020404" pitchFamily="49" charset="0"/>
              <a:buChar char="o"/>
            </a:pPr>
            <a:r>
              <a:rPr lang="hu-HU" altLang="hu-HU" sz="1200" dirty="0"/>
              <a:t>Informatikai támogatás a felvételi eljáráshoz (KIFIR) és a központi írásbeli vizsgákhoz (Közfelvir)</a:t>
            </a:r>
          </a:p>
          <a:p>
            <a:pPr marL="800100" lvl="1" indent="-342900">
              <a:spcBef>
                <a:spcPts val="0"/>
              </a:spcBef>
              <a:buFontTx/>
              <a:buChar char="•"/>
            </a:pPr>
            <a:r>
              <a:rPr lang="hu-HU" altLang="hu-HU" sz="1200" dirty="0"/>
              <a:t>A tanulói elhatározások, választások és a középfokú iskolák felvételi szándékainak a lehető legnagyobb mértékű összhangba hozása</a:t>
            </a:r>
          </a:p>
          <a:p>
            <a:pPr marL="800100" lvl="1" indent="-342900">
              <a:spcBef>
                <a:spcPts val="0"/>
              </a:spcBef>
              <a:buFontTx/>
              <a:buChar char="•"/>
            </a:pPr>
            <a:r>
              <a:rPr lang="hu-HU" altLang="hu-HU" sz="1200" dirty="0"/>
              <a:t>Egységes tanulmányi terület kódrendszer</a:t>
            </a:r>
          </a:p>
          <a:p>
            <a:pPr marL="800100" lvl="1" indent="-342900">
              <a:spcBef>
                <a:spcPts val="0"/>
              </a:spcBef>
              <a:buFontTx/>
              <a:buChar char="•"/>
            </a:pPr>
            <a:r>
              <a:rPr lang="hu-HU" altLang="hu-HU" sz="1200" dirty="0"/>
              <a:t>Az általános iskola a KIFIR elektronikus adatlapkitöltő rendszerben rögzíti a tanulók jelentkezési szándékát</a:t>
            </a:r>
          </a:p>
          <a:p>
            <a:pPr marL="800100" lvl="1" indent="-342900">
              <a:spcBef>
                <a:spcPts val="0"/>
              </a:spcBef>
              <a:buFontTx/>
              <a:buChar char="•"/>
            </a:pPr>
            <a:r>
              <a:rPr lang="hu-HU" altLang="hu-HU" sz="1200" dirty="0"/>
              <a:t>A tanulói adatlapok alapján adatbázis készül a felvételi jelentkezésekről</a:t>
            </a:r>
          </a:p>
          <a:p>
            <a:pPr marL="800100" lvl="1" indent="-342900">
              <a:spcBef>
                <a:spcPts val="0"/>
              </a:spcBef>
              <a:buFontTx/>
              <a:buChar char="•"/>
            </a:pPr>
            <a:r>
              <a:rPr lang="hu-HU" altLang="hu-HU" sz="1200" dirty="0"/>
              <a:t>A középfokú iskolák igazgatói készen kapják a hozzájuk jelentkezett tanulók névsorát</a:t>
            </a:r>
            <a:endParaRPr lang="hu-HU" sz="1200" dirty="0"/>
          </a:p>
          <a:p>
            <a:endParaRPr lang="hu-HU" dirty="0"/>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2</a:t>
            </a:fld>
            <a:endParaRPr lang="hu-HU"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a:xfrm>
            <a:off x="420225" y="0"/>
            <a:ext cx="10515600" cy="1023457"/>
          </a:xfrm>
        </p:spPr>
        <p:txBody>
          <a:bodyPr/>
          <a:lstStyle/>
          <a:p>
            <a:r>
              <a:rPr lang="hu-HU" altLang="hu-HU" sz="2600" b="1" dirty="0">
                <a:solidFill>
                  <a:schemeClr val="tx1">
                    <a:lumMod val="95000"/>
                    <a:lumOff val="5000"/>
                  </a:schemeClr>
                </a:solidFill>
              </a:rPr>
              <a:t>A középfokú felvételi eljárás során használt legfontosabb fogalmak</a:t>
            </a:r>
            <a:endParaRPr lang="hu-HU" dirty="0"/>
          </a:p>
        </p:txBody>
      </p:sp>
      <p:sp>
        <p:nvSpPr>
          <p:cNvPr id="3" name="Tartalom helye 2"/>
          <p:cNvSpPr>
            <a:spLocks noGrp="1"/>
          </p:cNvSpPr>
          <p:nvPr>
            <p:ph idx="1"/>
          </p:nvPr>
        </p:nvSpPr>
        <p:spPr>
          <a:xfrm>
            <a:off x="838200" y="1442905"/>
            <a:ext cx="10515600" cy="4915950"/>
          </a:xfrm>
        </p:spPr>
        <p:txBody>
          <a:bodyPr/>
          <a:lstStyle/>
          <a:p>
            <a:pPr marL="342900" indent="-342900" algn="just">
              <a:spcAft>
                <a:spcPts val="600"/>
              </a:spcAft>
              <a:buFontTx/>
              <a:buChar char="•"/>
            </a:pPr>
            <a:r>
              <a:rPr lang="hu-HU" altLang="hu-HU" sz="1700" b="1" dirty="0">
                <a:solidFill>
                  <a:schemeClr val="tx1">
                    <a:lumMod val="95000"/>
                    <a:lumOff val="5000"/>
                  </a:schemeClr>
                </a:solidFill>
              </a:rPr>
              <a:t>Középfokú iskola</a:t>
            </a:r>
            <a:r>
              <a:rPr lang="hu-HU" altLang="hu-HU" sz="1700" dirty="0">
                <a:solidFill>
                  <a:schemeClr val="tx1">
                    <a:lumMod val="95000"/>
                    <a:lumOff val="5000"/>
                  </a:schemeClr>
                </a:solidFill>
              </a:rPr>
              <a:t>: </a:t>
            </a:r>
            <a:r>
              <a:rPr lang="hu-HU" altLang="hu-HU" sz="1700" dirty="0"/>
              <a:t>köznevelési vagy szakképző intézmény, amely ellát gimnáziumi, szakgimnáziumi, technikumi, szakképző iskolai, szakiskolai vagy készségfejlesztő iskolai alapfeladatot. </a:t>
            </a:r>
          </a:p>
          <a:p>
            <a:pPr marL="342900" indent="-342900" algn="just">
              <a:spcAft>
                <a:spcPts val="600"/>
              </a:spcAft>
              <a:buFontTx/>
              <a:buChar char="•"/>
            </a:pPr>
            <a:r>
              <a:rPr lang="hu-HU" altLang="hu-HU" sz="1700" b="1" dirty="0"/>
              <a:t>Feladatellátási hely</a:t>
            </a:r>
            <a:r>
              <a:rPr lang="hu-HU" altLang="hu-HU" sz="1700" dirty="0"/>
              <a:t>: gyűjtőfogalom, amely magában foglalja az intézmény székhelyét, tagintézményeit, valamint az önálló ügyvitellel nem rendelkező telephelyeit is. A középfokú felvételi eljárás során az intézmények bármely feladatellátási helyükön hirdethetnek meg tanulmányi területeket, ahol középfokú iskolai feladatot látnak el.</a:t>
            </a:r>
          </a:p>
          <a:p>
            <a:pPr marL="342900" indent="-342900" algn="just">
              <a:spcBef>
                <a:spcPts val="600"/>
              </a:spcBef>
              <a:spcAft>
                <a:spcPts val="600"/>
              </a:spcAft>
              <a:buFontTx/>
              <a:buChar char="•"/>
            </a:pPr>
            <a:r>
              <a:rPr lang="hu-HU" altLang="hu-HU" sz="1700" b="1" dirty="0">
                <a:solidFill>
                  <a:schemeClr val="tx1">
                    <a:lumMod val="95000"/>
                    <a:lumOff val="5000"/>
                  </a:schemeClr>
                </a:solidFill>
              </a:rPr>
              <a:t>Tanulmányi terület</a:t>
            </a:r>
            <a:r>
              <a:rPr lang="hu-HU" altLang="hu-HU" sz="1700" dirty="0">
                <a:solidFill>
                  <a:schemeClr val="tx1">
                    <a:lumMod val="95000"/>
                    <a:lumOff val="5000"/>
                  </a:schemeClr>
                </a:solidFill>
              </a:rPr>
              <a:t>: a tanulmányi terület a középfokú iskola által a középfokú felvételi eljárás során meghatározott alapegység, amely a képzés jellemzői és a jelentkezések elbírálásának szempontjai szerint teszi lehetővé a jelentkezők számára a jelentkezések benyújtását. A tanulmányi terület nem egyezik meg az osztállyal, kizárólag a felvételi eljárás során van szerepe, ugyanis az egy tanulmányi területre felvételt nyerő jelentkezőkből több osztály is kialakítható, de lehetséges az is, hogy az iskola több tanulmányi területre felvételt nyert tanulókból szervez a későbbiek során egy osztályt.</a:t>
            </a:r>
            <a:endParaRPr lang="hu-HU" sz="1700" dirty="0">
              <a:solidFill>
                <a:schemeClr val="tx1">
                  <a:lumMod val="95000"/>
                  <a:lumOff val="5000"/>
                </a:schemeClr>
              </a:solidFill>
            </a:endParaRPr>
          </a:p>
          <a:p>
            <a:endParaRPr lang="hu-HU" dirty="0"/>
          </a:p>
        </p:txBody>
      </p:sp>
      <p:sp>
        <p:nvSpPr>
          <p:cNvPr id="4"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3</a:t>
            </a:fld>
            <a:endParaRPr lang="hu-HU" sz="800" dirty="0"/>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altLang="hu-HU" sz="2800" b="1" dirty="0"/>
              <a:t>A tanulmányi területek, és az azokat meghirdető intézmények számadatai</a:t>
            </a:r>
            <a:endParaRPr lang="hu-HU" dirty="0"/>
          </a:p>
        </p:txBody>
      </p:sp>
      <p:sp>
        <p:nvSpPr>
          <p:cNvPr id="7" name="Téglalap 6"/>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8"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4</a:t>
            </a:fld>
            <a:endParaRPr lang="hu-HU" sz="800" dirty="0"/>
          </a:p>
        </p:txBody>
      </p:sp>
      <p:graphicFrame>
        <p:nvGraphicFramePr>
          <p:cNvPr id="12" name="Tartalom helye 3"/>
          <p:cNvGraphicFramePr/>
          <p:nvPr>
            <p:extLst>
              <p:ext uri="{D42A27DB-BD31-4B8C-83A1-F6EECF244321}">
                <p14:modId xmlns:p14="http://schemas.microsoft.com/office/powerpoint/2010/main" val="2111496767"/>
              </p:ext>
            </p:extLst>
          </p:nvPr>
        </p:nvGraphicFramePr>
        <p:xfrm>
          <a:off x="843094" y="1134225"/>
          <a:ext cx="10515600" cy="5073627"/>
        </p:xfrm>
        <a:graphic>
          <a:graphicData uri="http://schemas.openxmlformats.org/drawingml/2006/table">
            <a:tbl>
              <a:tblPr firstRow="1" firstCol="1" bandRow="1">
                <a:tableStyleId>{F5AB1C69-6EDB-4FF4-983F-18BD219EF322}</a:tableStyleId>
              </a:tblPr>
              <a:tblGrid>
                <a:gridCol w="3406764">
                  <a:extLst>
                    <a:ext uri="{9D8B030D-6E8A-4147-A177-3AD203B41FA5}">
                      <a16:colId xmlns:a16="http://schemas.microsoft.com/office/drawing/2014/main" val="20000"/>
                    </a:ext>
                  </a:extLst>
                </a:gridCol>
                <a:gridCol w="2594035">
                  <a:extLst>
                    <a:ext uri="{9D8B030D-6E8A-4147-A177-3AD203B41FA5}">
                      <a16:colId xmlns:a16="http://schemas.microsoft.com/office/drawing/2014/main" val="20001"/>
                    </a:ext>
                  </a:extLst>
                </a:gridCol>
                <a:gridCol w="2344367">
                  <a:extLst>
                    <a:ext uri="{9D8B030D-6E8A-4147-A177-3AD203B41FA5}">
                      <a16:colId xmlns:a16="http://schemas.microsoft.com/office/drawing/2014/main" val="20002"/>
                    </a:ext>
                  </a:extLst>
                </a:gridCol>
                <a:gridCol w="2170434">
                  <a:extLst>
                    <a:ext uri="{9D8B030D-6E8A-4147-A177-3AD203B41FA5}">
                      <a16:colId xmlns:a16="http://schemas.microsoft.com/office/drawing/2014/main" val="20003"/>
                    </a:ext>
                  </a:extLst>
                </a:gridCol>
              </a:tblGrid>
              <a:tr h="518229">
                <a:tc>
                  <a:txBody>
                    <a:bodyPr/>
                    <a:lstStyle/>
                    <a:p>
                      <a:pPr algn="ctr">
                        <a:lnSpc>
                          <a:spcPct val="107000"/>
                        </a:lnSpc>
                        <a:spcAft>
                          <a:spcPts val="800"/>
                        </a:spcAft>
                      </a:pPr>
                      <a:r>
                        <a:rPr lang="hu-HU" sz="1200" dirty="0">
                          <a:solidFill>
                            <a:schemeClr val="tx1"/>
                          </a:solidFill>
                          <a:effectLst/>
                          <a:latin typeface="+mn-lt"/>
                        </a:rPr>
                        <a:t>Tanulmányi terület típusa</a:t>
                      </a:r>
                      <a:endParaRPr lang="hu-HU" sz="900" dirty="0">
                        <a:solidFill>
                          <a:schemeClr val="tx1"/>
                        </a:solidFill>
                        <a:effectLst/>
                        <a:latin typeface="+mn-lt"/>
                        <a:ea typeface="Calibri" panose="020F0502020204030204" charset="0"/>
                        <a:cs typeface="Times New Roman" panose="02020603050405020304" pitchFamily="18" charset="0"/>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dirty="0">
                          <a:solidFill>
                            <a:schemeClr val="tx1"/>
                          </a:solidFill>
                          <a:effectLst/>
                          <a:latin typeface="+mn-lt"/>
                        </a:rPr>
                        <a:t>Intézmények száma</a:t>
                      </a:r>
                      <a:endParaRPr lang="hu-HU" sz="900" dirty="0">
                        <a:solidFill>
                          <a:schemeClr val="tx1"/>
                        </a:solidFill>
                        <a:effectLst/>
                        <a:latin typeface="+mn-lt"/>
                        <a:ea typeface="Calibri" panose="020F0502020204030204" charset="0"/>
                        <a:cs typeface="Times New Roman" panose="02020603050405020304" pitchFamily="18" charset="0"/>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dirty="0">
                          <a:solidFill>
                            <a:schemeClr val="tx1"/>
                          </a:solidFill>
                          <a:effectLst/>
                          <a:latin typeface="+mn-lt"/>
                        </a:rPr>
                        <a:t>Feladatellátási helyek száma</a:t>
                      </a:r>
                      <a:endParaRPr lang="hu-HU" sz="900" dirty="0">
                        <a:solidFill>
                          <a:schemeClr val="tx1"/>
                        </a:solidFill>
                        <a:effectLst/>
                        <a:latin typeface="+mn-lt"/>
                        <a:ea typeface="Calibri" panose="020F0502020204030204" charset="0"/>
                        <a:cs typeface="Times New Roman" panose="02020603050405020304" pitchFamily="18" charset="0"/>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dirty="0">
                          <a:solidFill>
                            <a:schemeClr val="tx1"/>
                          </a:solidFill>
                          <a:effectLst/>
                          <a:latin typeface="+mn-lt"/>
                        </a:rPr>
                        <a:t>Tanulmányi területek száma</a:t>
                      </a:r>
                      <a:endParaRPr lang="hu-HU" sz="900" dirty="0">
                        <a:solidFill>
                          <a:schemeClr val="tx1"/>
                        </a:solidFill>
                        <a:effectLst/>
                        <a:latin typeface="+mn-lt"/>
                        <a:ea typeface="Calibri" panose="020F0502020204030204" charset="0"/>
                        <a:cs typeface="Times New Roman" panose="02020603050405020304" pitchFamily="18" charset="0"/>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18170">
                <a:tc>
                  <a:txBody>
                    <a:bodyPr/>
                    <a:lstStyle/>
                    <a:p>
                      <a:pPr>
                        <a:lnSpc>
                          <a:spcPct val="107000"/>
                        </a:lnSpc>
                        <a:spcAft>
                          <a:spcPts val="800"/>
                        </a:spcAft>
                      </a:pPr>
                      <a:r>
                        <a:rPr lang="hu-HU" sz="1200" dirty="0">
                          <a:solidFill>
                            <a:schemeClr val="tx1"/>
                          </a:solidFill>
                          <a:effectLst/>
                          <a:latin typeface="+mn-lt"/>
                        </a:rPr>
                        <a:t>4 (vagy 5) évfolyamos gimnázium</a:t>
                      </a:r>
                      <a:endParaRPr lang="hu-HU" sz="900" dirty="0">
                        <a:solidFill>
                          <a:schemeClr val="tx1"/>
                        </a:solidFill>
                        <a:effectLst/>
                        <a:latin typeface="+mn-lt"/>
                        <a:ea typeface="Calibri" panose="020F0502020204030204" charset="0"/>
                        <a:cs typeface="Times New Roman" panose="02020603050405020304" pitchFamily="18" charset="0"/>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b="0" strike="noStrike" kern="1200" dirty="0">
                          <a:solidFill>
                            <a:schemeClr val="tx1"/>
                          </a:solidFill>
                          <a:effectLst/>
                          <a:latin typeface="+mn-lt"/>
                          <a:ea typeface="+mn-ea"/>
                          <a:cs typeface="+mn-cs"/>
                        </a:rPr>
                        <a:t>540</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552</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1720</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95375">
                <a:tc>
                  <a:txBody>
                    <a:bodyPr/>
                    <a:lstStyle/>
                    <a:p>
                      <a:pPr>
                        <a:lnSpc>
                          <a:spcPct val="107000"/>
                        </a:lnSpc>
                        <a:spcAft>
                          <a:spcPts val="800"/>
                        </a:spcAft>
                      </a:pPr>
                      <a:r>
                        <a:rPr lang="hu-HU" sz="1200" dirty="0">
                          <a:solidFill>
                            <a:schemeClr val="tx1"/>
                          </a:solidFill>
                          <a:effectLst/>
                          <a:latin typeface="+mn-lt"/>
                        </a:rPr>
                        <a:t>6 évfolyamos gimnázium</a:t>
                      </a:r>
                      <a:endParaRPr lang="hu-HU" sz="900" dirty="0">
                        <a:solidFill>
                          <a:schemeClr val="tx1"/>
                        </a:solidFill>
                        <a:effectLst/>
                        <a:latin typeface="+mn-lt"/>
                        <a:ea typeface="Calibri" panose="020F0502020204030204" charset="0"/>
                        <a:cs typeface="Times New Roman" panose="02020603050405020304" pitchFamily="18" charset="0"/>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127</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127</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185</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95375">
                <a:tc>
                  <a:txBody>
                    <a:bodyPr/>
                    <a:lstStyle/>
                    <a:p>
                      <a:pPr>
                        <a:lnSpc>
                          <a:spcPct val="107000"/>
                        </a:lnSpc>
                        <a:spcAft>
                          <a:spcPts val="800"/>
                        </a:spcAft>
                      </a:pPr>
                      <a:r>
                        <a:rPr lang="hu-HU" sz="1200" dirty="0">
                          <a:solidFill>
                            <a:schemeClr val="tx1"/>
                          </a:solidFill>
                          <a:effectLst/>
                          <a:latin typeface="+mn-lt"/>
                        </a:rPr>
                        <a:t>8 évfolyamos gimnázium</a:t>
                      </a:r>
                      <a:endParaRPr lang="hu-HU" sz="900" dirty="0">
                        <a:solidFill>
                          <a:schemeClr val="tx1"/>
                        </a:solidFill>
                        <a:effectLst/>
                        <a:latin typeface="+mn-lt"/>
                        <a:ea typeface="Calibri" panose="020F0502020204030204" charset="0"/>
                        <a:cs typeface="Times New Roman" panose="02020603050405020304" pitchFamily="18" charset="0"/>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85</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85</a:t>
                      </a:r>
                      <a:endParaRPr lang="hu-HU" sz="1200" strike="sngStrike" kern="1200" dirty="0">
                        <a:solidFill>
                          <a:schemeClr val="tx1"/>
                        </a:solidFill>
                        <a:effectLst/>
                        <a:latin typeface="+mn-lt"/>
                        <a:ea typeface="+mn-ea"/>
                        <a:cs typeface="+mn-cs"/>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124</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95375">
                <a:tc>
                  <a:txBody>
                    <a:bodyPr/>
                    <a:lstStyle/>
                    <a:p>
                      <a:pPr>
                        <a:lnSpc>
                          <a:spcPct val="107000"/>
                        </a:lnSpc>
                        <a:spcAft>
                          <a:spcPts val="800"/>
                        </a:spcAft>
                      </a:pPr>
                      <a:r>
                        <a:rPr lang="hu-HU" sz="1200" dirty="0">
                          <a:solidFill>
                            <a:schemeClr val="tx1"/>
                          </a:solidFill>
                          <a:effectLst/>
                          <a:latin typeface="+mn-lt"/>
                        </a:rPr>
                        <a:t>Szakgimnázium</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64</a:t>
                      </a:r>
                      <a:endParaRPr lang="hu-HU" sz="800" strike="noStrike" kern="1200" dirty="0">
                        <a:solidFill>
                          <a:schemeClr val="tx1"/>
                        </a:solidFill>
                        <a:effectLst/>
                        <a:latin typeface="+mn-lt"/>
                        <a:ea typeface="+mn-ea"/>
                        <a:cs typeface="+mn-cs"/>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70</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423</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95375">
                <a:tc>
                  <a:txBody>
                    <a:bodyPr/>
                    <a:lstStyle/>
                    <a:p>
                      <a:pPr>
                        <a:lnSpc>
                          <a:spcPct val="107000"/>
                        </a:lnSpc>
                        <a:spcAft>
                          <a:spcPts val="800"/>
                        </a:spcAft>
                      </a:pPr>
                      <a:r>
                        <a:rPr lang="hu-HU" sz="1200" dirty="0">
                          <a:solidFill>
                            <a:schemeClr val="tx1"/>
                          </a:solidFill>
                          <a:effectLst/>
                          <a:latin typeface="+mn-lt"/>
                        </a:rPr>
                        <a:t>Technikum</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497</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513</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2050</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95375">
                <a:tc>
                  <a:txBody>
                    <a:bodyPr/>
                    <a:lstStyle/>
                    <a:p>
                      <a:pPr>
                        <a:lnSpc>
                          <a:spcPct val="107000"/>
                        </a:lnSpc>
                        <a:spcAft>
                          <a:spcPts val="800"/>
                        </a:spcAft>
                      </a:pPr>
                      <a:r>
                        <a:rPr lang="hu-HU" sz="1200" dirty="0">
                          <a:solidFill>
                            <a:schemeClr val="tx1"/>
                          </a:solidFill>
                          <a:effectLst/>
                          <a:latin typeface="+mn-lt"/>
                        </a:rPr>
                        <a:t>Szakképző iskola</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339</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357</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1537</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46749">
                <a:tc>
                  <a:txBody>
                    <a:bodyPr/>
                    <a:lstStyle/>
                    <a:p>
                      <a:pPr>
                        <a:lnSpc>
                          <a:spcPct val="107000"/>
                        </a:lnSpc>
                        <a:spcAft>
                          <a:spcPts val="800"/>
                        </a:spcAft>
                      </a:pPr>
                      <a:r>
                        <a:rPr lang="hu-HU" sz="1200" dirty="0">
                          <a:solidFill>
                            <a:schemeClr val="tx1"/>
                          </a:solidFill>
                          <a:effectLst/>
                          <a:latin typeface="+mn-lt"/>
                        </a:rPr>
                        <a:t>Szakiskola</a:t>
                      </a:r>
                      <a:endParaRPr lang="hu-HU" sz="900" dirty="0">
                        <a:solidFill>
                          <a:schemeClr val="tx1"/>
                        </a:solidFill>
                        <a:effectLst/>
                        <a:latin typeface="+mn-lt"/>
                        <a:ea typeface="Calibri" panose="020F0502020204030204" charset="0"/>
                        <a:cs typeface="Times New Roman" panose="02020603050405020304" pitchFamily="18" charset="0"/>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90</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98</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solidFill>
                          <a:effectLst/>
                          <a:latin typeface="+mn-lt"/>
                          <a:ea typeface="+mn-ea"/>
                          <a:cs typeface="+mn-cs"/>
                        </a:rPr>
                        <a:t>386</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95375">
                <a:tc>
                  <a:txBody>
                    <a:bodyPr/>
                    <a:lstStyle/>
                    <a:p>
                      <a:pPr>
                        <a:lnSpc>
                          <a:spcPct val="107000"/>
                        </a:lnSpc>
                        <a:spcAft>
                          <a:spcPts val="800"/>
                        </a:spcAft>
                      </a:pPr>
                      <a:r>
                        <a:rPr lang="hu-HU" sz="1200">
                          <a:solidFill>
                            <a:schemeClr val="tx1"/>
                          </a:solidFill>
                          <a:effectLst/>
                          <a:latin typeface="+mn-lt"/>
                        </a:rPr>
                        <a:t>Készségfejlesztő iskola</a:t>
                      </a:r>
                      <a:endParaRPr lang="hu-HU" sz="900">
                        <a:solidFill>
                          <a:schemeClr val="tx1"/>
                        </a:solidFill>
                        <a:effectLst/>
                        <a:latin typeface="+mn-lt"/>
                        <a:ea typeface="Calibri" panose="020F0502020204030204" charset="0"/>
                        <a:cs typeface="Times New Roman" panose="02020603050405020304" pitchFamily="18" charset="0"/>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76</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83</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119</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518229">
                <a:tc>
                  <a:txBody>
                    <a:bodyPr/>
                    <a:lstStyle/>
                    <a:p>
                      <a:pPr>
                        <a:lnSpc>
                          <a:spcPct val="107000"/>
                        </a:lnSpc>
                        <a:spcAft>
                          <a:spcPts val="800"/>
                        </a:spcAft>
                      </a:pPr>
                      <a:r>
                        <a:rPr lang="hu-HU" sz="1200" dirty="0">
                          <a:solidFill>
                            <a:schemeClr val="tx1"/>
                          </a:solidFill>
                          <a:effectLst/>
                          <a:latin typeface="+mn-lt"/>
                        </a:rPr>
                        <a:t>Összesen</a:t>
                      </a:r>
                      <a:endParaRPr lang="hu-HU" sz="900" dirty="0">
                        <a:solidFill>
                          <a:schemeClr val="tx1"/>
                        </a:solidFill>
                        <a:effectLst/>
                        <a:latin typeface="+mn-lt"/>
                        <a:ea typeface="Calibri" panose="020F0502020204030204" charset="0"/>
                        <a:cs typeface="Times New Roman" panose="02020603050405020304" pitchFamily="18" charset="0"/>
                      </a:endParaRP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1131</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1222</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dirty="0">
                          <a:solidFill>
                            <a:schemeClr val="tx1"/>
                          </a:solidFill>
                          <a:effectLst/>
                          <a:latin typeface="+mn-lt"/>
                          <a:ea typeface="+mn-ea"/>
                          <a:cs typeface="+mn-cs"/>
                        </a:rPr>
                        <a:t>6544</a:t>
                      </a:r>
                    </a:p>
                  </a:txBody>
                  <a:tcPr marL="52764" marR="5276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altLang="hu-HU" sz="2800" b="1" dirty="0"/>
              <a:t>A felvételi kérelmek elbírálása a </a:t>
            </a:r>
            <a:br>
              <a:rPr lang="hu-HU" altLang="hu-HU" sz="2800" b="1" dirty="0"/>
            </a:br>
            <a:r>
              <a:rPr lang="hu-HU" altLang="hu-HU" sz="2800" b="1" dirty="0"/>
              <a:t>9. évfolyamra meghirdetett tanulmányi területeken</a:t>
            </a:r>
            <a:endParaRPr lang="hu-HU" dirty="0"/>
          </a:p>
        </p:txBody>
      </p:sp>
      <p:graphicFrame>
        <p:nvGraphicFramePr>
          <p:cNvPr id="4" name="Tartalom helye 4"/>
          <p:cNvGraphicFramePr>
            <a:graphicFrameLocks noGrp="1"/>
          </p:cNvGraphicFramePr>
          <p:nvPr>
            <p:ph idx="1"/>
            <p:extLst>
              <p:ext uri="{D42A27DB-BD31-4B8C-83A1-F6EECF244321}">
                <p14:modId xmlns:p14="http://schemas.microsoft.com/office/powerpoint/2010/main" val="146297488"/>
              </p:ext>
            </p:extLst>
          </p:nvPr>
        </p:nvGraphicFramePr>
        <p:xfrm>
          <a:off x="600891" y="1208015"/>
          <a:ext cx="10990217" cy="4932724"/>
        </p:xfrm>
        <a:graphic>
          <a:graphicData uri="http://schemas.openxmlformats.org/drawingml/2006/table">
            <a:tbl>
              <a:tblPr firstRow="1" firstCol="1" bandRow="1">
                <a:tableStyleId>{F5AB1C69-6EDB-4FF4-983F-18BD219EF322}</a:tableStyleId>
              </a:tblPr>
              <a:tblGrid>
                <a:gridCol w="1322977">
                  <a:extLst>
                    <a:ext uri="{9D8B030D-6E8A-4147-A177-3AD203B41FA5}">
                      <a16:colId xmlns:a16="http://schemas.microsoft.com/office/drawing/2014/main" val="20000"/>
                    </a:ext>
                  </a:extLst>
                </a:gridCol>
                <a:gridCol w="1746676">
                  <a:extLst>
                    <a:ext uri="{9D8B030D-6E8A-4147-A177-3AD203B41FA5}">
                      <a16:colId xmlns:a16="http://schemas.microsoft.com/office/drawing/2014/main" val="20001"/>
                    </a:ext>
                  </a:extLst>
                </a:gridCol>
                <a:gridCol w="994983">
                  <a:extLst>
                    <a:ext uri="{9D8B030D-6E8A-4147-A177-3AD203B41FA5}">
                      <a16:colId xmlns:a16="http://schemas.microsoft.com/office/drawing/2014/main" val="20002"/>
                    </a:ext>
                  </a:extLst>
                </a:gridCol>
                <a:gridCol w="4599565">
                  <a:extLst>
                    <a:ext uri="{9D8B030D-6E8A-4147-A177-3AD203B41FA5}">
                      <a16:colId xmlns:a16="http://schemas.microsoft.com/office/drawing/2014/main" val="20003"/>
                    </a:ext>
                  </a:extLst>
                </a:gridCol>
                <a:gridCol w="942513">
                  <a:extLst>
                    <a:ext uri="{9D8B030D-6E8A-4147-A177-3AD203B41FA5}">
                      <a16:colId xmlns:a16="http://schemas.microsoft.com/office/drawing/2014/main" val="20004"/>
                    </a:ext>
                  </a:extLst>
                </a:gridCol>
                <a:gridCol w="1383503">
                  <a:extLst>
                    <a:ext uri="{9D8B030D-6E8A-4147-A177-3AD203B41FA5}">
                      <a16:colId xmlns:a16="http://schemas.microsoft.com/office/drawing/2014/main" val="20005"/>
                    </a:ext>
                  </a:extLst>
                </a:gridCol>
              </a:tblGrid>
              <a:tr h="910726">
                <a:tc>
                  <a:txBody>
                    <a:bodyPr/>
                    <a:lstStyle/>
                    <a:p>
                      <a:pPr>
                        <a:lnSpc>
                          <a:spcPct val="107000"/>
                        </a:lnSpc>
                        <a:spcAft>
                          <a:spcPts val="800"/>
                        </a:spcAft>
                      </a:pPr>
                      <a:r>
                        <a:rPr lang="hu-HU" sz="1000" dirty="0">
                          <a:solidFill>
                            <a:schemeClr val="tx1"/>
                          </a:solidFill>
                          <a:effectLst/>
                        </a:rPr>
                        <a:t>Tanulmányi terület típusa</a:t>
                      </a:r>
                      <a:endParaRPr lang="hu-HU" sz="100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nSpc>
                          <a:spcPct val="107000"/>
                        </a:lnSpc>
                        <a:spcAft>
                          <a:spcPts val="800"/>
                        </a:spcAft>
                      </a:pPr>
                      <a:r>
                        <a:rPr lang="hu-HU" sz="1000" dirty="0">
                          <a:solidFill>
                            <a:schemeClr val="tx1"/>
                          </a:solidFill>
                          <a:effectLst/>
                        </a:rPr>
                        <a:t>A tanulmányi területet meghirdető intézmények/ feladatellátási helyek száma (db)</a:t>
                      </a:r>
                      <a:endParaRPr lang="hu-HU" sz="100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nSpc>
                          <a:spcPct val="107000"/>
                        </a:lnSpc>
                        <a:spcAft>
                          <a:spcPts val="800"/>
                        </a:spcAft>
                      </a:pPr>
                      <a:r>
                        <a:rPr lang="hu-HU" sz="1000" dirty="0">
                          <a:solidFill>
                            <a:schemeClr val="tx1"/>
                          </a:solidFill>
                          <a:effectLst/>
                        </a:rPr>
                        <a:t>Tanulmányi terület száma (db)</a:t>
                      </a:r>
                      <a:endParaRPr lang="hu-HU" sz="100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nSpc>
                          <a:spcPct val="107000"/>
                        </a:lnSpc>
                        <a:spcAft>
                          <a:spcPts val="800"/>
                        </a:spcAft>
                      </a:pPr>
                      <a:r>
                        <a:rPr lang="hu-HU" sz="1000" dirty="0">
                          <a:solidFill>
                            <a:schemeClr val="tx1"/>
                          </a:solidFill>
                          <a:effectLst/>
                        </a:rPr>
                        <a:t>A felvételi kérelmek elbírálásának szempontja</a:t>
                      </a:r>
                      <a:endParaRPr lang="hu-HU" sz="100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nSpc>
                          <a:spcPct val="107000"/>
                        </a:lnSpc>
                        <a:spcAft>
                          <a:spcPts val="800"/>
                        </a:spcAft>
                      </a:pPr>
                      <a:r>
                        <a:rPr lang="hu-HU" sz="1000" dirty="0">
                          <a:solidFill>
                            <a:schemeClr val="tx1"/>
                          </a:solidFill>
                          <a:effectLst/>
                        </a:rPr>
                        <a:t>Tanulmányi területek száma (db)</a:t>
                      </a:r>
                      <a:endParaRPr lang="hu-HU" sz="100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nSpc>
                          <a:spcPct val="107000"/>
                        </a:lnSpc>
                        <a:spcAft>
                          <a:spcPts val="800"/>
                        </a:spcAft>
                      </a:pPr>
                      <a:r>
                        <a:rPr lang="hu-HU" sz="1000" dirty="0">
                          <a:solidFill>
                            <a:schemeClr val="tx1"/>
                          </a:solidFill>
                          <a:effectLst/>
                        </a:rPr>
                        <a:t>Tanulmányi területek aránya (%)</a:t>
                      </a:r>
                      <a:endParaRPr lang="hu-HU" sz="100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337238">
                <a:tc rowSpan="3">
                  <a:txBody>
                    <a:bodyPr/>
                    <a:lstStyle/>
                    <a:p>
                      <a:pPr algn="l">
                        <a:lnSpc>
                          <a:spcPct val="107000"/>
                        </a:lnSpc>
                        <a:spcAft>
                          <a:spcPts val="0"/>
                        </a:spcAft>
                      </a:pPr>
                      <a:r>
                        <a:rPr lang="hu-HU" sz="1000" dirty="0">
                          <a:solidFill>
                            <a:schemeClr val="tx1"/>
                          </a:solidFill>
                          <a:effectLst/>
                        </a:rPr>
                        <a:t>4 (vagy 5) évfolyamos gimnázium</a:t>
                      </a:r>
                      <a:endParaRPr lang="hu-HU" sz="100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rowSpan="3">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540/552</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1720</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lnSpc>
                          <a:spcPct val="107000"/>
                        </a:lnSpc>
                        <a:spcAft>
                          <a:spcPts val="0"/>
                        </a:spcAft>
                      </a:pPr>
                      <a:r>
                        <a:rPr lang="hu-HU" sz="1000" kern="1200" dirty="0">
                          <a:solidFill>
                            <a:schemeClr val="tx1"/>
                          </a:solidFill>
                          <a:effectLst/>
                          <a:latin typeface="+mn-lt"/>
                          <a:ea typeface="+mn-ea"/>
                          <a:cs typeface="+mn-cs"/>
                        </a:rPr>
                        <a:t>tanulmányi eredmények alapján</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solidFill>
                          <a:effectLst/>
                          <a:latin typeface="+mn-lt"/>
                          <a:ea typeface="+mn-ea"/>
                          <a:cs typeface="+mn-cs"/>
                        </a:rPr>
                        <a:t>319</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solidFill>
                          <a:effectLst/>
                          <a:latin typeface="+mn-lt"/>
                          <a:ea typeface="+mn-ea"/>
                          <a:cs typeface="+mn-cs"/>
                        </a:rPr>
                        <a:t>18,55%</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0291">
                <a:tc vMerge="1">
                  <a:txBody>
                    <a:bodyPr/>
                    <a:lstStyle/>
                    <a:p>
                      <a:endParaRPr lang="hu-HU"/>
                    </a:p>
                  </a:txBody>
                  <a:tcPr/>
                </a:tc>
                <a:tc vMerge="1">
                  <a:txBody>
                    <a:bodyPr/>
                    <a:lstStyle/>
                    <a:p>
                      <a:endParaRPr lang="hu-HU"/>
                    </a:p>
                  </a:txBody>
                  <a:tcPr/>
                </a:tc>
                <a:tc vMerge="1">
                  <a:txBody>
                    <a:bodyPr/>
                    <a:lstStyle/>
                    <a:p>
                      <a:endParaRPr lang="hu-HU"/>
                    </a:p>
                  </a:txBody>
                  <a:tcPr/>
                </a:tc>
                <a:tc>
                  <a:txBody>
                    <a:bodyPr/>
                    <a:lstStyle/>
                    <a:p>
                      <a:pPr>
                        <a:lnSpc>
                          <a:spcPct val="107000"/>
                        </a:lnSpc>
                        <a:spcAft>
                          <a:spcPts val="800"/>
                        </a:spcAft>
                      </a:pPr>
                      <a:r>
                        <a:rPr lang="hu-HU" sz="1000" dirty="0">
                          <a:solidFill>
                            <a:schemeClr val="tx1">
                              <a:lumMod val="95000"/>
                              <a:lumOff val="5000"/>
                            </a:schemeClr>
                          </a:solidFill>
                          <a:effectLst/>
                        </a:rPr>
                        <a:t>tanulmányi eredmények és a központi írásbeli vizsga alapján</a:t>
                      </a:r>
                      <a:endParaRPr lang="hu-HU" sz="1000" dirty="0">
                        <a:solidFill>
                          <a:schemeClr val="tx1">
                            <a:lumMod val="95000"/>
                            <a:lumOff val="5000"/>
                          </a:schemeClr>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solidFill>
                          <a:effectLst/>
                          <a:latin typeface="+mn-lt"/>
                          <a:ea typeface="+mn-ea"/>
                          <a:cs typeface="+mn-cs"/>
                        </a:rPr>
                        <a:t>514</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solidFill>
                          <a:effectLst/>
                          <a:latin typeface="+mn-lt"/>
                          <a:ea typeface="+mn-ea"/>
                          <a:cs typeface="+mn-cs"/>
                        </a:rPr>
                        <a:t>29,88%</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20119">
                <a:tc vMerge="1">
                  <a:txBody>
                    <a:bodyPr/>
                    <a:lstStyle/>
                    <a:p>
                      <a:endParaRPr lang="hu-HU"/>
                    </a:p>
                  </a:txBody>
                  <a:tcPr/>
                </a:tc>
                <a:tc vMerge="1">
                  <a:txBody>
                    <a:bodyPr/>
                    <a:lstStyle/>
                    <a:p>
                      <a:endParaRPr lang="hu-HU"/>
                    </a:p>
                  </a:txBody>
                  <a:tcPr/>
                </a:tc>
                <a:tc vMerge="1">
                  <a:txBody>
                    <a:bodyPr/>
                    <a:lstStyle/>
                    <a:p>
                      <a:endParaRPr lang="hu-HU"/>
                    </a:p>
                  </a:txBody>
                  <a:tcPr/>
                </a:tc>
                <a:tc>
                  <a:txBody>
                    <a:bodyPr/>
                    <a:lstStyle/>
                    <a:p>
                      <a:pPr>
                        <a:lnSpc>
                          <a:spcPct val="107000"/>
                        </a:lnSpc>
                        <a:spcAft>
                          <a:spcPts val="800"/>
                        </a:spcAft>
                      </a:pPr>
                      <a:r>
                        <a:rPr lang="hu-HU" sz="1000" dirty="0">
                          <a:solidFill>
                            <a:schemeClr val="tx1">
                              <a:lumMod val="95000"/>
                              <a:lumOff val="5000"/>
                            </a:schemeClr>
                          </a:solidFill>
                          <a:effectLst/>
                        </a:rPr>
                        <a:t>tanulmányi eredmények, a központi írásbeli és szóbeli vizsga alapján</a:t>
                      </a:r>
                      <a:endParaRPr lang="hu-HU" sz="1000" dirty="0">
                        <a:solidFill>
                          <a:schemeClr val="tx1">
                            <a:lumMod val="95000"/>
                            <a:lumOff val="5000"/>
                          </a:schemeClr>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solidFill>
                          <a:effectLst/>
                          <a:latin typeface="+mn-lt"/>
                          <a:ea typeface="+mn-ea"/>
                          <a:cs typeface="+mn-cs"/>
                        </a:rPr>
                        <a:t>887</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solidFill>
                          <a:effectLst/>
                          <a:latin typeface="+mn-lt"/>
                          <a:ea typeface="+mn-ea"/>
                          <a:cs typeface="+mn-cs"/>
                        </a:rPr>
                        <a:t>51,57%</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37558">
                <a:tc rowSpan="3">
                  <a:txBody>
                    <a:bodyPr/>
                    <a:lstStyle/>
                    <a:p>
                      <a:pPr marL="0" algn="l" defTabSz="914400" rtl="0" eaLnBrk="1" latinLnBrk="0" hangingPunct="1">
                        <a:lnSpc>
                          <a:spcPct val="107000"/>
                        </a:lnSpc>
                        <a:spcAft>
                          <a:spcPts val="0"/>
                        </a:spcAft>
                      </a:pPr>
                      <a:r>
                        <a:rPr lang="hu-HU" sz="1000" b="1" kern="1200" dirty="0">
                          <a:solidFill>
                            <a:schemeClr val="tx1"/>
                          </a:solidFill>
                          <a:effectLst/>
                          <a:latin typeface="+mn-lt"/>
                          <a:ea typeface="+mn-ea"/>
                          <a:cs typeface="+mn-cs"/>
                        </a:rPr>
                        <a:t>Szakgimnázium</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rowSpan="3">
                  <a:txBody>
                    <a:bodyPr/>
                    <a:lstStyle/>
                    <a:p>
                      <a:pPr marL="0" algn="ctr" defTabSz="914400" rtl="0" eaLnBrk="1" latinLnBrk="0" hangingPunct="1">
                        <a:lnSpc>
                          <a:spcPct val="107000"/>
                        </a:lnSpc>
                        <a:spcAft>
                          <a:spcPts val="0"/>
                        </a:spcAft>
                      </a:pPr>
                      <a:r>
                        <a:rPr lang="hu-HU" sz="1050" strike="noStrike" kern="1200" dirty="0">
                          <a:solidFill>
                            <a:schemeClr val="tx1"/>
                          </a:solidFill>
                          <a:effectLst/>
                          <a:latin typeface="+mn-lt"/>
                          <a:ea typeface="+mn-ea"/>
                          <a:cs typeface="+mn-cs"/>
                        </a:rPr>
                        <a:t>63/69</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lnSpc>
                          <a:spcPct val="107000"/>
                        </a:lnSpc>
                        <a:spcAft>
                          <a:spcPts val="0"/>
                        </a:spcAft>
                      </a:pPr>
                      <a:r>
                        <a:rPr lang="hu-HU" sz="1050" strike="noStrike" kern="1200" dirty="0">
                          <a:solidFill>
                            <a:schemeClr val="tx1"/>
                          </a:solidFill>
                          <a:effectLst/>
                          <a:latin typeface="+mn-lt"/>
                          <a:ea typeface="+mn-ea"/>
                          <a:cs typeface="+mn-cs"/>
                        </a:rPr>
                        <a:t>420</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lnSpc>
                          <a:spcPct val="107000"/>
                        </a:lnSpc>
                        <a:spcAft>
                          <a:spcPts val="0"/>
                        </a:spcAft>
                      </a:pPr>
                      <a:r>
                        <a:rPr lang="hu-HU" sz="1000" kern="1200" dirty="0">
                          <a:solidFill>
                            <a:schemeClr val="tx1">
                              <a:lumMod val="95000"/>
                              <a:lumOff val="5000"/>
                            </a:schemeClr>
                          </a:solidFill>
                          <a:effectLst/>
                          <a:latin typeface="+mn-lt"/>
                          <a:ea typeface="+mn-ea"/>
                          <a:cs typeface="+mn-cs"/>
                        </a:rPr>
                        <a:t>tanulmányi eredmények alapján</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267</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63,57%</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37558">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000" kern="1200" dirty="0">
                          <a:solidFill>
                            <a:schemeClr val="tx1">
                              <a:lumMod val="95000"/>
                              <a:lumOff val="5000"/>
                            </a:schemeClr>
                          </a:solidFill>
                          <a:effectLst/>
                          <a:latin typeface="+mn-lt"/>
                          <a:ea typeface="+mn-ea"/>
                          <a:cs typeface="+mn-cs"/>
                        </a:rPr>
                        <a:t>tanulmányi eredmények és a központi írásbeli vizsga alapján</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59</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14,05%</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20119">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000" kern="1200" dirty="0">
                          <a:solidFill>
                            <a:schemeClr val="tx1">
                              <a:lumMod val="95000"/>
                              <a:lumOff val="5000"/>
                            </a:schemeClr>
                          </a:solidFill>
                          <a:effectLst/>
                          <a:latin typeface="+mn-lt"/>
                          <a:ea typeface="+mn-ea"/>
                          <a:cs typeface="+mn-cs"/>
                        </a:rPr>
                        <a:t>tanulmányi eredmények, a központi írásbeli és szóbeli vizsga alapján</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94</a:t>
                      </a:r>
                      <a:endParaRPr lang="hu-HU" sz="1050" strike="sngStrike" kern="1200" dirty="0">
                        <a:solidFill>
                          <a:schemeClr val="tx1">
                            <a:lumMod val="95000"/>
                            <a:lumOff val="5000"/>
                          </a:schemeClr>
                        </a:solidFill>
                        <a:effectLst/>
                        <a:latin typeface="+mn-lt"/>
                        <a:ea typeface="+mn-ea"/>
                        <a:cs typeface="+mn-cs"/>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22,38%</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37558">
                <a:tc rowSpan="3">
                  <a:txBody>
                    <a:bodyPr/>
                    <a:lstStyle/>
                    <a:p>
                      <a:pPr marL="0" algn="l" defTabSz="914400" rtl="0" eaLnBrk="1" latinLnBrk="0" hangingPunct="1">
                        <a:lnSpc>
                          <a:spcPct val="107000"/>
                        </a:lnSpc>
                        <a:spcAft>
                          <a:spcPts val="0"/>
                        </a:spcAft>
                      </a:pPr>
                      <a:r>
                        <a:rPr lang="hu-HU" sz="1000" b="1" kern="1200" dirty="0">
                          <a:solidFill>
                            <a:schemeClr val="tx1"/>
                          </a:solidFill>
                          <a:effectLst/>
                          <a:latin typeface="+mn-lt"/>
                          <a:ea typeface="+mn-ea"/>
                          <a:cs typeface="+mn-cs"/>
                        </a:rPr>
                        <a:t>Technikum</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rowSpan="3">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497/513</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marL="0" algn="ctr" defTabSz="914400" rtl="0" eaLnBrk="1" latinLnBrk="0" hangingPunct="1">
                        <a:lnSpc>
                          <a:spcPct val="107000"/>
                        </a:lnSpc>
                        <a:spcAft>
                          <a:spcPts val="0"/>
                        </a:spcAft>
                      </a:pPr>
                      <a:r>
                        <a:rPr lang="hu-HU" sz="1050" strike="noStrike" kern="1200" dirty="0">
                          <a:solidFill>
                            <a:schemeClr val="tx1"/>
                          </a:solidFill>
                          <a:effectLst/>
                          <a:latin typeface="+mn-lt"/>
                          <a:ea typeface="+mn-ea"/>
                          <a:cs typeface="+mn-cs"/>
                        </a:rPr>
                        <a:t>2050</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l" defTabSz="914400" rtl="0" eaLnBrk="1" latinLnBrk="0" hangingPunct="1">
                        <a:lnSpc>
                          <a:spcPct val="107000"/>
                        </a:lnSpc>
                        <a:spcAft>
                          <a:spcPts val="0"/>
                        </a:spcAft>
                      </a:pPr>
                      <a:r>
                        <a:rPr lang="hu-HU" sz="1000" kern="1200" dirty="0">
                          <a:solidFill>
                            <a:schemeClr val="tx1">
                              <a:lumMod val="95000"/>
                              <a:lumOff val="5000"/>
                            </a:schemeClr>
                          </a:solidFill>
                          <a:effectLst/>
                          <a:latin typeface="+mn-lt"/>
                          <a:ea typeface="+mn-ea"/>
                          <a:cs typeface="+mn-cs"/>
                        </a:rPr>
                        <a:t>tanulmányi eredmények alapján</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1438</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70,15%</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37558">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000" kern="1200" dirty="0">
                          <a:solidFill>
                            <a:schemeClr val="tx1">
                              <a:lumMod val="95000"/>
                              <a:lumOff val="5000"/>
                            </a:schemeClr>
                          </a:solidFill>
                          <a:effectLst/>
                          <a:latin typeface="+mn-lt"/>
                          <a:ea typeface="+mn-ea"/>
                          <a:cs typeface="+mn-cs"/>
                        </a:rPr>
                        <a:t>tanulmányi eredmények és a központi írásbeli vizsga alapján</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351</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17,12%</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20119">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000" kern="1200" dirty="0">
                          <a:solidFill>
                            <a:schemeClr val="tx1">
                              <a:lumMod val="95000"/>
                              <a:lumOff val="5000"/>
                            </a:schemeClr>
                          </a:solidFill>
                          <a:effectLst/>
                          <a:latin typeface="+mn-lt"/>
                          <a:ea typeface="+mn-ea"/>
                          <a:cs typeface="+mn-cs"/>
                        </a:rPr>
                        <a:t>tanulmányi eredmények, a központi írásbeli és szóbeli vizsga alapján</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261</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12,73%</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10291">
                <a:tc rowSpan="3">
                  <a:txBody>
                    <a:bodyPr/>
                    <a:lstStyle/>
                    <a:p>
                      <a:pPr>
                        <a:lnSpc>
                          <a:spcPct val="107000"/>
                        </a:lnSpc>
                        <a:spcAft>
                          <a:spcPts val="0"/>
                        </a:spcAft>
                      </a:pPr>
                      <a:r>
                        <a:rPr lang="hu-HU" sz="1000" dirty="0">
                          <a:solidFill>
                            <a:schemeClr val="tx1"/>
                          </a:solidFill>
                          <a:effectLst/>
                        </a:rPr>
                        <a:t>Szakképző iskola</a:t>
                      </a:r>
                      <a:endParaRPr lang="hu-HU" sz="100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rowSpan="3">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339/357</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1537</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hu-HU" sz="1000" kern="1200" dirty="0">
                          <a:solidFill>
                            <a:schemeClr val="tx1">
                              <a:lumMod val="95000"/>
                              <a:lumOff val="5000"/>
                            </a:schemeClr>
                          </a:solidFill>
                          <a:effectLst/>
                          <a:latin typeface="+mn-lt"/>
                          <a:ea typeface="+mn-ea"/>
                          <a:cs typeface="+mn-cs"/>
                        </a:rPr>
                        <a:t>tanulmányi eredmények alapján </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1533</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99,74%</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37558">
                <a:tc vMerge="1">
                  <a:txBody>
                    <a:bodyPr/>
                    <a:lstStyle/>
                    <a:p>
                      <a:endParaRPr lang="hu-HU"/>
                    </a:p>
                  </a:txBody>
                  <a:tcPr/>
                </a:tc>
                <a:tc vMerge="1">
                  <a:txBody>
                    <a:bodyPr/>
                    <a:lstStyle/>
                    <a:p>
                      <a:endParaRPr lang="hu-HU"/>
                    </a:p>
                  </a:txBody>
                  <a:tcPr/>
                </a:tc>
                <a:tc vMerge="1">
                  <a:txBody>
                    <a:bodyPr/>
                    <a:lstStyle/>
                    <a:p>
                      <a:endParaRPr lang="hu-HU"/>
                    </a:p>
                  </a:txBody>
                  <a:tcPr/>
                </a:tc>
                <a:tc>
                  <a:txBody>
                    <a:bodyPr/>
                    <a:lstStyle/>
                    <a:p>
                      <a:pPr>
                        <a:lnSpc>
                          <a:spcPct val="107000"/>
                        </a:lnSpc>
                        <a:spcAft>
                          <a:spcPts val="800"/>
                        </a:spcAft>
                      </a:pPr>
                      <a:r>
                        <a:rPr lang="hu-HU" sz="1000" kern="1200" dirty="0">
                          <a:solidFill>
                            <a:schemeClr val="tx1">
                              <a:lumMod val="95000"/>
                              <a:lumOff val="5000"/>
                            </a:schemeClr>
                          </a:solidFill>
                          <a:effectLst/>
                          <a:latin typeface="+mn-lt"/>
                          <a:ea typeface="+mn-ea"/>
                          <a:cs typeface="+mn-cs"/>
                        </a:rPr>
                        <a:t>tanulmányi eredmények és a központi írásbeli vizsga alapján</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0</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0,00%</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320119">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hu-HU"/>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000" kern="1200" dirty="0">
                          <a:solidFill>
                            <a:schemeClr val="tx1">
                              <a:lumMod val="95000"/>
                              <a:lumOff val="5000"/>
                            </a:schemeClr>
                          </a:solidFill>
                          <a:effectLst/>
                          <a:latin typeface="+mn-lt"/>
                          <a:ea typeface="+mn-ea"/>
                          <a:cs typeface="+mn-cs"/>
                        </a:rPr>
                        <a:t>tanulmányi eredmények, a központi írásbeli és szóbeli vizsga alapján</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4</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0,26%</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37558">
                <a:tc>
                  <a:txBody>
                    <a:bodyPr/>
                    <a:lstStyle/>
                    <a:p>
                      <a:pPr>
                        <a:lnSpc>
                          <a:spcPct val="107000"/>
                        </a:lnSpc>
                        <a:spcAft>
                          <a:spcPts val="0"/>
                        </a:spcAft>
                      </a:pPr>
                      <a:r>
                        <a:rPr lang="hu-HU" sz="1000" dirty="0">
                          <a:solidFill>
                            <a:schemeClr val="tx1"/>
                          </a:solidFill>
                          <a:effectLst/>
                        </a:rPr>
                        <a:t>Szakiskola</a:t>
                      </a:r>
                      <a:endParaRPr lang="hu-HU" sz="100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90/98</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386</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hu-HU" sz="1000" strike="noStrike" kern="1200" dirty="0">
                          <a:solidFill>
                            <a:schemeClr val="tx1">
                              <a:lumMod val="95000"/>
                              <a:lumOff val="5000"/>
                            </a:schemeClr>
                          </a:solidFill>
                          <a:effectLst/>
                          <a:latin typeface="+mn-lt"/>
                          <a:ea typeface="+mn-ea"/>
                          <a:cs typeface="+mn-cs"/>
                        </a:rPr>
                        <a:t>tanulmányi eredmények és a </a:t>
                      </a:r>
                      <a:r>
                        <a:rPr lang="hu-HU" sz="1000" kern="1200" dirty="0">
                          <a:solidFill>
                            <a:schemeClr val="tx1">
                              <a:lumMod val="95000"/>
                              <a:lumOff val="5000"/>
                            </a:schemeClr>
                          </a:solidFill>
                          <a:effectLst/>
                          <a:latin typeface="+mn-lt"/>
                          <a:ea typeface="+mn-ea"/>
                          <a:cs typeface="+mn-cs"/>
                        </a:rPr>
                        <a:t>szakértői bizottsági vélemény alapján </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386</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100%</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358354">
                <a:tc>
                  <a:txBody>
                    <a:bodyPr/>
                    <a:lstStyle/>
                    <a:p>
                      <a:pPr>
                        <a:lnSpc>
                          <a:spcPct val="107000"/>
                        </a:lnSpc>
                        <a:spcAft>
                          <a:spcPts val="0"/>
                        </a:spcAft>
                      </a:pPr>
                      <a:r>
                        <a:rPr lang="hu-HU" sz="1000" dirty="0">
                          <a:solidFill>
                            <a:schemeClr val="tx1"/>
                          </a:solidFill>
                          <a:effectLst/>
                        </a:rPr>
                        <a:t>Készségfejlesztő iskola</a:t>
                      </a:r>
                      <a:endParaRPr lang="hu-HU" sz="100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76/83</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050" strike="noStrike" kern="1200" dirty="0">
                          <a:solidFill>
                            <a:schemeClr val="tx1">
                              <a:lumMod val="95000"/>
                              <a:lumOff val="5000"/>
                            </a:schemeClr>
                          </a:solidFill>
                          <a:effectLst/>
                          <a:latin typeface="+mn-lt"/>
                          <a:ea typeface="+mn-ea"/>
                          <a:cs typeface="+mn-cs"/>
                        </a:rPr>
                        <a:t>119</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7000"/>
                        </a:lnSpc>
                        <a:spcBef>
                          <a:spcPts val="0"/>
                        </a:spcBef>
                        <a:spcAft>
                          <a:spcPts val="0"/>
                        </a:spcAft>
                        <a:buClrTx/>
                        <a:buSzTx/>
                        <a:buFontTx/>
                        <a:buNone/>
                        <a:defRPr/>
                      </a:pPr>
                      <a:r>
                        <a:rPr lang="hu-HU" sz="1000" strike="noStrike" kern="1200" dirty="0">
                          <a:solidFill>
                            <a:schemeClr val="tx1">
                              <a:lumMod val="95000"/>
                              <a:lumOff val="5000"/>
                            </a:schemeClr>
                          </a:solidFill>
                          <a:effectLst/>
                          <a:latin typeface="+mn-lt"/>
                          <a:ea typeface="+mn-ea"/>
                          <a:cs typeface="+mn-cs"/>
                        </a:rPr>
                        <a:t>tanulmányi eredmények és a </a:t>
                      </a:r>
                      <a:r>
                        <a:rPr lang="hu-HU" sz="1000" kern="1200" dirty="0">
                          <a:solidFill>
                            <a:schemeClr val="tx1">
                              <a:lumMod val="95000"/>
                              <a:lumOff val="5000"/>
                            </a:schemeClr>
                          </a:solidFill>
                          <a:effectLst/>
                          <a:latin typeface="+mn-lt"/>
                          <a:ea typeface="+mn-ea"/>
                          <a:cs typeface="+mn-cs"/>
                        </a:rPr>
                        <a:t>szakértői bizottsági vélemény alapján  </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119</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0"/>
                        </a:spcAft>
                      </a:pPr>
                      <a:r>
                        <a:rPr lang="hu-HU" sz="1050" strike="noStrike" kern="1200" dirty="0">
                          <a:solidFill>
                            <a:schemeClr val="tx1">
                              <a:lumMod val="95000"/>
                              <a:lumOff val="5000"/>
                            </a:schemeClr>
                          </a:solidFill>
                          <a:effectLst/>
                          <a:latin typeface="+mn-lt"/>
                          <a:ea typeface="+mn-ea"/>
                          <a:cs typeface="+mn-cs"/>
                        </a:rPr>
                        <a:t>100%</a:t>
                      </a:r>
                    </a:p>
                  </a:txBody>
                  <a:tcPr marL="53583" marR="53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5</a:t>
            </a:fld>
            <a:endParaRPr lang="hu-HU"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altLang="hu-HU" sz="2800" b="1" dirty="0"/>
              <a:t>A felvételi kérelmek elbírálása a 6 vagy 8 évfolyamos gimnáziumi tanulmányi területeken</a:t>
            </a:r>
            <a:endParaRPr lang="hu-HU" dirty="0"/>
          </a:p>
        </p:txBody>
      </p:sp>
      <p:graphicFrame>
        <p:nvGraphicFramePr>
          <p:cNvPr id="4" name="Tartalom helye 4"/>
          <p:cNvGraphicFramePr>
            <a:graphicFrameLocks noGrp="1"/>
          </p:cNvGraphicFramePr>
          <p:nvPr>
            <p:ph idx="1"/>
            <p:extLst>
              <p:ext uri="{D42A27DB-BD31-4B8C-83A1-F6EECF244321}">
                <p14:modId xmlns:p14="http://schemas.microsoft.com/office/powerpoint/2010/main" val="3757334125"/>
              </p:ext>
            </p:extLst>
          </p:nvPr>
        </p:nvGraphicFramePr>
        <p:xfrm>
          <a:off x="814426" y="1266738"/>
          <a:ext cx="10720253" cy="4815282"/>
        </p:xfrm>
        <a:graphic>
          <a:graphicData uri="http://schemas.openxmlformats.org/drawingml/2006/table">
            <a:tbl>
              <a:tblPr firstRow="1" firstCol="1" bandRow="1">
                <a:tableStyleId>{F5AB1C69-6EDB-4FF4-983F-18BD219EF322}</a:tableStyleId>
              </a:tblPr>
              <a:tblGrid>
                <a:gridCol w="1429551">
                  <a:extLst>
                    <a:ext uri="{9D8B030D-6E8A-4147-A177-3AD203B41FA5}">
                      <a16:colId xmlns:a16="http://schemas.microsoft.com/office/drawing/2014/main" val="20000"/>
                    </a:ext>
                  </a:extLst>
                </a:gridCol>
                <a:gridCol w="2585102">
                  <a:extLst>
                    <a:ext uri="{9D8B030D-6E8A-4147-A177-3AD203B41FA5}">
                      <a16:colId xmlns:a16="http://schemas.microsoft.com/office/drawing/2014/main" val="20001"/>
                    </a:ext>
                  </a:extLst>
                </a:gridCol>
                <a:gridCol w="1166949">
                  <a:extLst>
                    <a:ext uri="{9D8B030D-6E8A-4147-A177-3AD203B41FA5}">
                      <a16:colId xmlns:a16="http://schemas.microsoft.com/office/drawing/2014/main" val="20002"/>
                    </a:ext>
                  </a:extLst>
                </a:gridCol>
                <a:gridCol w="2834979">
                  <a:extLst>
                    <a:ext uri="{9D8B030D-6E8A-4147-A177-3AD203B41FA5}">
                      <a16:colId xmlns:a16="http://schemas.microsoft.com/office/drawing/2014/main" val="20003"/>
                    </a:ext>
                  </a:extLst>
                </a:gridCol>
                <a:gridCol w="1183505">
                  <a:extLst>
                    <a:ext uri="{9D8B030D-6E8A-4147-A177-3AD203B41FA5}">
                      <a16:colId xmlns:a16="http://schemas.microsoft.com/office/drawing/2014/main" val="20004"/>
                    </a:ext>
                  </a:extLst>
                </a:gridCol>
                <a:gridCol w="1520167">
                  <a:extLst>
                    <a:ext uri="{9D8B030D-6E8A-4147-A177-3AD203B41FA5}">
                      <a16:colId xmlns:a16="http://schemas.microsoft.com/office/drawing/2014/main" val="20005"/>
                    </a:ext>
                  </a:extLst>
                </a:gridCol>
              </a:tblGrid>
              <a:tr h="1420882">
                <a:tc>
                  <a:txBody>
                    <a:bodyPr/>
                    <a:lstStyle/>
                    <a:p>
                      <a:pPr>
                        <a:lnSpc>
                          <a:spcPct val="107000"/>
                        </a:lnSpc>
                        <a:spcAft>
                          <a:spcPts val="800"/>
                        </a:spcAft>
                      </a:pPr>
                      <a:r>
                        <a:rPr lang="hu-HU" sz="1200" baseline="0" dirty="0">
                          <a:solidFill>
                            <a:schemeClr val="tx1"/>
                          </a:solidFill>
                          <a:effectLst/>
                        </a:rPr>
                        <a:t>Tanulmányi terület típusa</a:t>
                      </a:r>
                      <a:endParaRPr lang="hu-HU" sz="1200" baseline="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200" baseline="0" dirty="0">
                          <a:solidFill>
                            <a:schemeClr val="tx1"/>
                          </a:solidFill>
                          <a:effectLst/>
                        </a:rPr>
                        <a:t>A tanulmányi területet meghirdető intézmények/feladatellátási helyek száma (db)</a:t>
                      </a:r>
                      <a:endParaRPr lang="hu-HU" sz="1200" baseline="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200" baseline="0" dirty="0">
                          <a:solidFill>
                            <a:schemeClr val="tx1"/>
                          </a:solidFill>
                          <a:effectLst/>
                        </a:rPr>
                        <a:t>Tanulmányi terület száma (db)</a:t>
                      </a:r>
                      <a:endParaRPr lang="hu-HU" sz="1200" baseline="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200" baseline="0" dirty="0">
                          <a:solidFill>
                            <a:schemeClr val="tx1"/>
                          </a:solidFill>
                          <a:effectLst/>
                        </a:rPr>
                        <a:t>A felvételi kérelmek elbírálásának szempontja</a:t>
                      </a:r>
                      <a:endParaRPr lang="hu-HU" sz="1200" baseline="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200" baseline="0">
                          <a:solidFill>
                            <a:schemeClr val="tx1"/>
                          </a:solidFill>
                          <a:effectLst/>
                        </a:rPr>
                        <a:t>Tanulmányi területek száma (db)</a:t>
                      </a:r>
                      <a:endParaRPr lang="hu-HU" sz="1200" baseline="0">
                        <a:solidFill>
                          <a:schemeClr val="tx1"/>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200" baseline="0">
                          <a:solidFill>
                            <a:schemeClr val="tx1"/>
                          </a:solidFill>
                          <a:effectLst/>
                        </a:rPr>
                        <a:t>Tanulmányi területek aránya (%)</a:t>
                      </a:r>
                      <a:endParaRPr lang="hu-HU" sz="1200" baseline="0">
                        <a:solidFill>
                          <a:schemeClr val="tx1"/>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60236">
                <a:tc rowSpan="3">
                  <a:txBody>
                    <a:bodyPr/>
                    <a:lstStyle/>
                    <a:p>
                      <a:pPr algn="l">
                        <a:lnSpc>
                          <a:spcPct val="107000"/>
                        </a:lnSpc>
                        <a:spcAft>
                          <a:spcPts val="0"/>
                        </a:spcAft>
                      </a:pPr>
                      <a:r>
                        <a:rPr lang="hu-HU" sz="1200" baseline="0" dirty="0">
                          <a:solidFill>
                            <a:schemeClr val="tx1"/>
                          </a:solidFill>
                          <a:effectLst/>
                        </a:rPr>
                        <a:t>6 évfolyamos gimnázium</a:t>
                      </a:r>
                      <a:endParaRPr lang="hu-HU" sz="1200" baseline="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rowSpan="3">
                  <a:txBody>
                    <a:bodyPr/>
                    <a:lstStyle/>
                    <a:p>
                      <a:pPr algn="ctr">
                        <a:lnSpc>
                          <a:spcPct val="107000"/>
                        </a:lnSpc>
                        <a:spcAft>
                          <a:spcPts val="0"/>
                        </a:spcAft>
                      </a:pPr>
                      <a:r>
                        <a:rPr lang="hu-HU" sz="1200" strike="noStrike" kern="1200" baseline="0" dirty="0">
                          <a:solidFill>
                            <a:schemeClr val="tx1"/>
                          </a:solidFill>
                          <a:effectLst/>
                          <a:latin typeface="+mn-lt"/>
                          <a:ea typeface="+mn-ea"/>
                          <a:cs typeface="+mn-cs"/>
                        </a:rPr>
                        <a:t>127/127</a:t>
                      </a:r>
                      <a:endParaRPr lang="hu-HU" sz="1200" strike="sngStrike" kern="1200" baseline="0" dirty="0">
                        <a:solidFill>
                          <a:schemeClr val="tx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lnSpc>
                          <a:spcPct val="107000"/>
                        </a:lnSpc>
                        <a:spcAft>
                          <a:spcPts val="0"/>
                        </a:spcAft>
                      </a:pPr>
                      <a:r>
                        <a:rPr lang="hu-HU" sz="1200" strike="noStrike" kern="1200" baseline="0" dirty="0">
                          <a:solidFill>
                            <a:schemeClr val="tx1"/>
                          </a:solidFill>
                          <a:effectLst/>
                          <a:latin typeface="+mn-lt"/>
                          <a:ea typeface="+mn-ea"/>
                          <a:cs typeface="+mn-cs"/>
                        </a:rPr>
                        <a:t>185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200" baseline="0" dirty="0">
                          <a:solidFill>
                            <a:schemeClr val="tx1"/>
                          </a:solidFill>
                          <a:effectLst/>
                        </a:rPr>
                        <a:t>tanulmányi eredmények alapján</a:t>
                      </a:r>
                      <a:endParaRPr lang="hu-HU" sz="1200" baseline="0" dirty="0">
                        <a:solidFill>
                          <a:schemeClr val="tx1"/>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kern="1200" baseline="0" dirty="0">
                          <a:solidFill>
                            <a:schemeClr val="tx1">
                              <a:lumMod val="95000"/>
                              <a:lumOff val="5000"/>
                            </a:schemeClr>
                          </a:solidFill>
                          <a:effectLst/>
                          <a:latin typeface="+mn-lt"/>
                          <a:ea typeface="+mn-ea"/>
                          <a:cs typeface="+mn-cs"/>
                        </a:rPr>
                        <a:t>17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baseline="0" dirty="0">
                          <a:solidFill>
                            <a:schemeClr val="tx1"/>
                          </a:solidFill>
                          <a:effectLst/>
                          <a:latin typeface="+mn-lt"/>
                          <a:ea typeface="+mn-ea"/>
                          <a:cs typeface="+mn-cs"/>
                        </a:rPr>
                        <a:t>9,19%</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69401">
                <a:tc vMerge="1">
                  <a:txBody>
                    <a:bodyPr/>
                    <a:lstStyle/>
                    <a:p>
                      <a:endParaRPr lang="hu-HU"/>
                    </a:p>
                  </a:txBody>
                  <a:tcPr/>
                </a:tc>
                <a:tc vMerge="1">
                  <a:txBody>
                    <a:bodyPr/>
                    <a:lstStyle/>
                    <a:p>
                      <a:endParaRPr lang="hu-HU"/>
                    </a:p>
                  </a:txBody>
                  <a:tcPr/>
                </a:tc>
                <a:tc vMerge="1">
                  <a:txBody>
                    <a:bodyPr/>
                    <a:lstStyle/>
                    <a:p>
                      <a:endParaRPr lang="hu-HU"/>
                    </a:p>
                  </a:txBody>
                  <a:tcPr/>
                </a:tc>
                <a:tc>
                  <a:txBody>
                    <a:bodyPr/>
                    <a:lstStyle/>
                    <a:p>
                      <a:pPr>
                        <a:lnSpc>
                          <a:spcPct val="107000"/>
                        </a:lnSpc>
                        <a:spcAft>
                          <a:spcPts val="800"/>
                        </a:spcAft>
                      </a:pPr>
                      <a:r>
                        <a:rPr lang="hu-HU" sz="1200" baseline="0" dirty="0">
                          <a:solidFill>
                            <a:schemeClr val="tx1">
                              <a:lumMod val="95000"/>
                              <a:lumOff val="5000"/>
                            </a:schemeClr>
                          </a:solidFill>
                          <a:effectLst/>
                        </a:rPr>
                        <a:t>tanulmányi eredmények és a központi írásbeli vizsga alapján</a:t>
                      </a:r>
                      <a:endParaRPr lang="hu-HU" sz="1200" baseline="0" dirty="0">
                        <a:solidFill>
                          <a:schemeClr val="tx1">
                            <a:lumMod val="95000"/>
                            <a:lumOff val="5000"/>
                          </a:schemeClr>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baseline="0" dirty="0">
                          <a:solidFill>
                            <a:schemeClr val="tx1"/>
                          </a:solidFill>
                          <a:effectLst/>
                          <a:latin typeface="+mn-lt"/>
                          <a:ea typeface="+mn-ea"/>
                          <a:cs typeface="+mn-cs"/>
                        </a:rPr>
                        <a:t>53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baseline="0" dirty="0">
                          <a:solidFill>
                            <a:schemeClr val="tx1"/>
                          </a:solidFill>
                          <a:effectLst/>
                          <a:latin typeface="+mn-lt"/>
                          <a:ea typeface="+mn-ea"/>
                          <a:cs typeface="+mn-cs"/>
                        </a:rPr>
                        <a:t>28,65%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93057">
                <a:tc vMerge="1">
                  <a:txBody>
                    <a:bodyPr/>
                    <a:lstStyle/>
                    <a:p>
                      <a:endParaRPr lang="hu-HU"/>
                    </a:p>
                  </a:txBody>
                  <a:tcPr/>
                </a:tc>
                <a:tc vMerge="1">
                  <a:txBody>
                    <a:bodyPr/>
                    <a:lstStyle/>
                    <a:p>
                      <a:endParaRPr lang="hu-HU"/>
                    </a:p>
                  </a:txBody>
                  <a:tcPr/>
                </a:tc>
                <a:tc vMerge="1">
                  <a:txBody>
                    <a:bodyPr/>
                    <a:lstStyle/>
                    <a:p>
                      <a:endParaRPr lang="hu-HU"/>
                    </a:p>
                  </a:txBody>
                  <a:tcPr/>
                </a:tc>
                <a:tc>
                  <a:txBody>
                    <a:bodyPr/>
                    <a:lstStyle/>
                    <a:p>
                      <a:pPr>
                        <a:lnSpc>
                          <a:spcPct val="107000"/>
                        </a:lnSpc>
                        <a:spcAft>
                          <a:spcPts val="800"/>
                        </a:spcAft>
                      </a:pPr>
                      <a:r>
                        <a:rPr lang="hu-HU" sz="1200" baseline="0" dirty="0">
                          <a:solidFill>
                            <a:schemeClr val="tx1">
                              <a:lumMod val="95000"/>
                              <a:lumOff val="5000"/>
                            </a:schemeClr>
                          </a:solidFill>
                          <a:effectLst/>
                        </a:rPr>
                        <a:t>tanulmányi eredmények, a központi írásbeli és szóbeli vizsga alapján</a:t>
                      </a:r>
                      <a:endParaRPr lang="hu-HU" sz="1200" baseline="0" dirty="0">
                        <a:solidFill>
                          <a:schemeClr val="tx1">
                            <a:lumMod val="95000"/>
                            <a:lumOff val="5000"/>
                          </a:schemeClr>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baseline="0" dirty="0">
                          <a:solidFill>
                            <a:schemeClr val="tx1"/>
                          </a:solidFill>
                          <a:effectLst/>
                          <a:latin typeface="+mn-lt"/>
                          <a:ea typeface="+mn-ea"/>
                          <a:cs typeface="+mn-cs"/>
                        </a:rPr>
                        <a:t>115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baseline="0" dirty="0">
                          <a:solidFill>
                            <a:schemeClr val="tx1"/>
                          </a:solidFill>
                          <a:effectLst/>
                          <a:latin typeface="+mn-lt"/>
                          <a:ea typeface="+mn-ea"/>
                          <a:cs typeface="+mn-cs"/>
                        </a:rPr>
                        <a:t>62,16%</a:t>
                      </a:r>
                      <a:endParaRPr lang="hu-HU" sz="1200" strike="sngStrike" kern="1200" baseline="0" dirty="0">
                        <a:solidFill>
                          <a:schemeClr val="tx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4747">
                <a:tc rowSpan="3">
                  <a:txBody>
                    <a:bodyPr/>
                    <a:lstStyle/>
                    <a:p>
                      <a:pPr>
                        <a:lnSpc>
                          <a:spcPct val="107000"/>
                        </a:lnSpc>
                        <a:spcAft>
                          <a:spcPts val="0"/>
                        </a:spcAft>
                      </a:pPr>
                      <a:r>
                        <a:rPr lang="hu-HU" sz="1200" baseline="0">
                          <a:solidFill>
                            <a:schemeClr val="tx1"/>
                          </a:solidFill>
                          <a:effectLst/>
                        </a:rPr>
                        <a:t>8 évfolyamos gimnázium</a:t>
                      </a:r>
                      <a:endParaRPr lang="hu-HU" sz="1200" baseline="0">
                        <a:solidFill>
                          <a:schemeClr val="tx1"/>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lnSpc>
                          <a:spcPct val="107000"/>
                        </a:lnSpc>
                        <a:spcAft>
                          <a:spcPts val="0"/>
                        </a:spcAft>
                      </a:pPr>
                      <a:r>
                        <a:rPr lang="hu-HU" sz="1200" strike="noStrike" kern="1200" baseline="0" dirty="0">
                          <a:solidFill>
                            <a:schemeClr val="tx1"/>
                          </a:solidFill>
                          <a:effectLst/>
                          <a:latin typeface="+mn-lt"/>
                          <a:ea typeface="+mn-ea"/>
                          <a:cs typeface="+mn-cs"/>
                        </a:rPr>
                        <a:t>85/85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lnSpc>
                          <a:spcPct val="107000"/>
                        </a:lnSpc>
                        <a:spcAft>
                          <a:spcPts val="0"/>
                        </a:spcAft>
                      </a:pPr>
                      <a:r>
                        <a:rPr lang="hu-HU" sz="1200" kern="1200" baseline="0" dirty="0">
                          <a:solidFill>
                            <a:schemeClr val="tx1"/>
                          </a:solidFill>
                          <a:effectLst/>
                          <a:latin typeface="+mn-lt"/>
                          <a:ea typeface="+mn-ea"/>
                          <a:cs typeface="+mn-cs"/>
                        </a:rPr>
                        <a:t>124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hu-HU" sz="1200" baseline="0" dirty="0">
                          <a:solidFill>
                            <a:schemeClr val="tx1">
                              <a:lumMod val="95000"/>
                              <a:lumOff val="5000"/>
                            </a:schemeClr>
                          </a:solidFill>
                          <a:effectLst/>
                        </a:rPr>
                        <a:t>tanulmányi eredmények alapján</a:t>
                      </a:r>
                      <a:endParaRPr lang="hu-HU" sz="1200" baseline="0" dirty="0">
                        <a:solidFill>
                          <a:schemeClr val="tx1">
                            <a:lumMod val="95000"/>
                            <a:lumOff val="5000"/>
                          </a:schemeClr>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kern="1200" baseline="0" dirty="0">
                          <a:solidFill>
                            <a:schemeClr val="tx1">
                              <a:lumMod val="95000"/>
                              <a:lumOff val="5000"/>
                            </a:schemeClr>
                          </a:solidFill>
                          <a:effectLst/>
                          <a:latin typeface="+mn-lt"/>
                          <a:ea typeface="+mn-ea"/>
                          <a:cs typeface="+mn-cs"/>
                        </a:rPr>
                        <a:t>19</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baseline="0" dirty="0">
                          <a:solidFill>
                            <a:schemeClr val="tx1"/>
                          </a:solidFill>
                          <a:effectLst/>
                          <a:latin typeface="+mn-lt"/>
                          <a:ea typeface="+mn-ea"/>
                          <a:cs typeface="+mn-cs"/>
                        </a:rPr>
                        <a:t>15,32%</a:t>
                      </a:r>
                      <a:endParaRPr lang="hu-HU" sz="1200" strike="sngStrike" kern="1200" baseline="0" dirty="0">
                        <a:solidFill>
                          <a:schemeClr val="tx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23902">
                <a:tc vMerge="1">
                  <a:txBody>
                    <a:bodyPr/>
                    <a:lstStyle/>
                    <a:p>
                      <a:endParaRPr lang="hu-HU"/>
                    </a:p>
                  </a:txBody>
                  <a:tcPr/>
                </a:tc>
                <a:tc vMerge="1">
                  <a:txBody>
                    <a:bodyPr/>
                    <a:lstStyle/>
                    <a:p>
                      <a:endParaRPr lang="hu-HU"/>
                    </a:p>
                  </a:txBody>
                  <a:tcPr/>
                </a:tc>
                <a:tc vMerge="1">
                  <a:txBody>
                    <a:bodyPr/>
                    <a:lstStyle/>
                    <a:p>
                      <a:endParaRPr lang="hu-HU"/>
                    </a:p>
                  </a:txBody>
                  <a:tcPr/>
                </a:tc>
                <a:tc>
                  <a:txBody>
                    <a:bodyPr/>
                    <a:lstStyle/>
                    <a:p>
                      <a:pPr>
                        <a:lnSpc>
                          <a:spcPct val="107000"/>
                        </a:lnSpc>
                        <a:spcAft>
                          <a:spcPts val="800"/>
                        </a:spcAft>
                      </a:pPr>
                      <a:r>
                        <a:rPr lang="hu-HU" sz="1200" baseline="0" dirty="0">
                          <a:solidFill>
                            <a:schemeClr val="tx1">
                              <a:lumMod val="95000"/>
                              <a:lumOff val="5000"/>
                            </a:schemeClr>
                          </a:solidFill>
                          <a:effectLst/>
                        </a:rPr>
                        <a:t>tanulmányi eredmények és a központi írásbeli vizsga alapján</a:t>
                      </a:r>
                      <a:endParaRPr lang="hu-HU" sz="1200" baseline="0" dirty="0">
                        <a:solidFill>
                          <a:schemeClr val="tx1">
                            <a:lumMod val="95000"/>
                            <a:lumOff val="5000"/>
                          </a:schemeClr>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kern="1200" baseline="0" dirty="0">
                          <a:solidFill>
                            <a:schemeClr val="tx1">
                              <a:lumMod val="95000"/>
                              <a:lumOff val="5000"/>
                            </a:schemeClr>
                          </a:solidFill>
                          <a:effectLst/>
                          <a:latin typeface="+mn-lt"/>
                          <a:ea typeface="+mn-ea"/>
                          <a:cs typeface="+mn-cs"/>
                        </a:rPr>
                        <a:t>37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baseline="0" dirty="0">
                          <a:solidFill>
                            <a:schemeClr val="tx1"/>
                          </a:solidFill>
                          <a:effectLst/>
                          <a:latin typeface="+mn-lt"/>
                          <a:ea typeface="+mn-ea"/>
                          <a:cs typeface="+mn-cs"/>
                        </a:rPr>
                        <a:t>29,84%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93057">
                <a:tc vMerge="1">
                  <a:txBody>
                    <a:bodyPr/>
                    <a:lstStyle/>
                    <a:p>
                      <a:endParaRPr lang="hu-HU"/>
                    </a:p>
                  </a:txBody>
                  <a:tcPr/>
                </a:tc>
                <a:tc vMerge="1">
                  <a:txBody>
                    <a:bodyPr/>
                    <a:lstStyle/>
                    <a:p>
                      <a:endParaRPr lang="hu-HU"/>
                    </a:p>
                  </a:txBody>
                  <a:tcPr/>
                </a:tc>
                <a:tc vMerge="1">
                  <a:txBody>
                    <a:bodyPr/>
                    <a:lstStyle/>
                    <a:p>
                      <a:endParaRPr lang="hu-HU"/>
                    </a:p>
                  </a:txBody>
                  <a:tcPr/>
                </a:tc>
                <a:tc>
                  <a:txBody>
                    <a:bodyPr/>
                    <a:lstStyle/>
                    <a:p>
                      <a:pPr>
                        <a:lnSpc>
                          <a:spcPct val="107000"/>
                        </a:lnSpc>
                        <a:spcAft>
                          <a:spcPts val="800"/>
                        </a:spcAft>
                      </a:pPr>
                      <a:r>
                        <a:rPr lang="hu-HU" sz="1200" baseline="0" dirty="0">
                          <a:solidFill>
                            <a:schemeClr val="tx1">
                              <a:lumMod val="95000"/>
                              <a:lumOff val="5000"/>
                            </a:schemeClr>
                          </a:solidFill>
                          <a:effectLst/>
                        </a:rPr>
                        <a:t>tanulmányi eredmények, a központi írásbeli és szóbeli vizsga alapján</a:t>
                      </a:r>
                      <a:endParaRPr lang="hu-HU" sz="1200" baseline="0" dirty="0">
                        <a:solidFill>
                          <a:schemeClr val="tx1">
                            <a:lumMod val="95000"/>
                            <a:lumOff val="5000"/>
                          </a:schemeClr>
                        </a:solidFill>
                        <a:effectLst/>
                        <a:latin typeface="Calibri" panose="020F0502020204030204" charset="0"/>
                        <a:ea typeface="Calibri" panose="020F050202020403020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kern="1200" baseline="0" dirty="0">
                          <a:solidFill>
                            <a:schemeClr val="tx1">
                              <a:lumMod val="95000"/>
                              <a:lumOff val="5000"/>
                            </a:schemeClr>
                          </a:solidFill>
                          <a:effectLst/>
                          <a:latin typeface="+mn-lt"/>
                          <a:ea typeface="+mn-ea"/>
                          <a:cs typeface="+mn-cs"/>
                        </a:rPr>
                        <a:t>68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hu-HU" sz="1200" strike="noStrike" kern="1200" baseline="0" dirty="0">
                          <a:solidFill>
                            <a:schemeClr val="tx1"/>
                          </a:solidFill>
                          <a:effectLst/>
                          <a:latin typeface="+mn-lt"/>
                          <a:ea typeface="+mn-ea"/>
                          <a:cs typeface="+mn-cs"/>
                        </a:rPr>
                        <a:t>54,84%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6</a:t>
            </a:fld>
            <a:endParaRPr lang="hu-HU"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altLang="hu-HU" sz="2600" b="1" dirty="0"/>
              <a:t>A központi írásbeli vizsga adatai</a:t>
            </a:r>
            <a:endParaRPr lang="hu-HU" dirty="0"/>
          </a:p>
        </p:txBody>
      </p:sp>
      <p:graphicFrame>
        <p:nvGraphicFramePr>
          <p:cNvPr id="4" name="Tartalom helye 6"/>
          <p:cNvGraphicFramePr>
            <a:graphicFrameLocks noGrp="1"/>
          </p:cNvGraphicFramePr>
          <p:nvPr>
            <p:ph idx="1"/>
            <p:extLst>
              <p:ext uri="{D42A27DB-BD31-4B8C-83A1-F6EECF244321}">
                <p14:modId xmlns:p14="http://schemas.microsoft.com/office/powerpoint/2010/main" val="1439738784"/>
              </p:ext>
            </p:extLst>
          </p:nvPr>
        </p:nvGraphicFramePr>
        <p:xfrm>
          <a:off x="1238865" y="1183891"/>
          <a:ext cx="9696960" cy="3944154"/>
        </p:xfrm>
        <a:graphic>
          <a:graphicData uri="http://schemas.openxmlformats.org/drawingml/2006/table">
            <a:tbl>
              <a:tblPr>
                <a:tableStyleId>{F5AB1C69-6EDB-4FF4-983F-18BD219EF322}</a:tableStyleId>
              </a:tblPr>
              <a:tblGrid>
                <a:gridCol w="3921840">
                  <a:extLst>
                    <a:ext uri="{9D8B030D-6E8A-4147-A177-3AD203B41FA5}">
                      <a16:colId xmlns:a16="http://schemas.microsoft.com/office/drawing/2014/main" val="20000"/>
                    </a:ext>
                  </a:extLst>
                </a:gridCol>
                <a:gridCol w="2040479">
                  <a:extLst>
                    <a:ext uri="{9D8B030D-6E8A-4147-A177-3AD203B41FA5}">
                      <a16:colId xmlns:a16="http://schemas.microsoft.com/office/drawing/2014/main" val="20001"/>
                    </a:ext>
                  </a:extLst>
                </a:gridCol>
                <a:gridCol w="1294371">
                  <a:extLst>
                    <a:ext uri="{9D8B030D-6E8A-4147-A177-3AD203B41FA5}">
                      <a16:colId xmlns:a16="http://schemas.microsoft.com/office/drawing/2014/main" val="20002"/>
                    </a:ext>
                  </a:extLst>
                </a:gridCol>
                <a:gridCol w="2440270">
                  <a:extLst>
                    <a:ext uri="{9D8B030D-6E8A-4147-A177-3AD203B41FA5}">
                      <a16:colId xmlns:a16="http://schemas.microsoft.com/office/drawing/2014/main" val="20003"/>
                    </a:ext>
                  </a:extLst>
                </a:gridCol>
              </a:tblGrid>
              <a:tr h="277304">
                <a:tc rowSpan="2">
                  <a:txBody>
                    <a:bodyPr/>
                    <a:lstStyle/>
                    <a:p>
                      <a:pPr>
                        <a:lnSpc>
                          <a:spcPct val="107000"/>
                        </a:lnSpc>
                        <a:spcAft>
                          <a:spcPts val="800"/>
                        </a:spcAft>
                      </a:pPr>
                      <a:r>
                        <a:rPr lang="hu-HU" sz="1200" b="1" kern="1200" baseline="0" dirty="0">
                          <a:solidFill>
                            <a:schemeClr val="tx1"/>
                          </a:solidFill>
                          <a:effectLst/>
                          <a:latin typeface="+mn-lt"/>
                          <a:ea typeface="+mn-ea"/>
                          <a:cs typeface="+mn-cs"/>
                        </a:rPr>
                        <a:t> A tanulmányi területek típusa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rowSpan="2">
                  <a:txBody>
                    <a:bodyPr/>
                    <a:lstStyle/>
                    <a:p>
                      <a:pPr>
                        <a:lnSpc>
                          <a:spcPct val="107000"/>
                        </a:lnSpc>
                        <a:spcAft>
                          <a:spcPts val="800"/>
                        </a:spcAft>
                      </a:pPr>
                      <a:r>
                        <a:rPr lang="hu-HU" sz="1200" b="1" kern="1200" baseline="0" dirty="0">
                          <a:solidFill>
                            <a:schemeClr val="tx1"/>
                          </a:solidFill>
                          <a:effectLst/>
                          <a:latin typeface="+mn-lt"/>
                          <a:ea typeface="+mn-ea"/>
                          <a:cs typeface="+mn-cs"/>
                        </a:rPr>
                        <a:t>A részt vevő iskolák száma* </a:t>
                      </a:r>
                      <a:br>
                        <a:rPr lang="hu-HU" sz="1200" b="1" kern="1200" baseline="0" dirty="0">
                          <a:solidFill>
                            <a:schemeClr val="tx1"/>
                          </a:solidFill>
                          <a:effectLst/>
                          <a:latin typeface="+mn-lt"/>
                          <a:ea typeface="+mn-ea"/>
                          <a:cs typeface="+mn-cs"/>
                        </a:rPr>
                      </a:br>
                      <a:r>
                        <a:rPr lang="hu-HU" sz="1200" b="1" kern="1200" baseline="0" dirty="0">
                          <a:solidFill>
                            <a:schemeClr val="tx1"/>
                          </a:solidFill>
                          <a:effectLst/>
                          <a:latin typeface="+mn-lt"/>
                          <a:ea typeface="+mn-ea"/>
                          <a:cs typeface="+mn-cs"/>
                        </a:rPr>
                        <a:t>(és aránya az adott iskolatípusban)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gridSpan="2">
                  <a:txBody>
                    <a:bodyPr/>
                    <a:lstStyle/>
                    <a:p>
                      <a:pPr algn="ctr">
                        <a:lnSpc>
                          <a:spcPct val="107000"/>
                        </a:lnSpc>
                        <a:spcAft>
                          <a:spcPts val="800"/>
                        </a:spcAft>
                      </a:pPr>
                      <a:r>
                        <a:rPr lang="hu-HU" sz="1200" b="1" kern="1200" baseline="0" dirty="0">
                          <a:solidFill>
                            <a:schemeClr val="tx1"/>
                          </a:solidFill>
                          <a:effectLst/>
                          <a:latin typeface="+mn-lt"/>
                          <a:ea typeface="+mn-ea"/>
                          <a:cs typeface="+mn-cs"/>
                        </a:rPr>
                        <a:t>Az írásbelin részt vevő tanulók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hMerge="1">
                  <a:txBody>
                    <a:bodyPr/>
                    <a:lstStyle/>
                    <a:p>
                      <a:endParaRPr lang="hu-HU"/>
                    </a:p>
                  </a:txBody>
                  <a:tcPr/>
                </a:tc>
                <a:extLst>
                  <a:ext uri="{0D108BD9-81ED-4DB2-BD59-A6C34878D82A}">
                    <a16:rowId xmlns:a16="http://schemas.microsoft.com/office/drawing/2014/main" val="10000"/>
                  </a:ext>
                </a:extLst>
              </a:tr>
              <a:tr h="873710">
                <a:tc vMerge="1">
                  <a:txBody>
                    <a:bodyPr/>
                    <a:lstStyle/>
                    <a:p>
                      <a:endParaRPr lang="hu-HU"/>
                    </a:p>
                  </a:txBody>
                  <a:tcPr/>
                </a:tc>
                <a:tc vMerge="1">
                  <a:txBody>
                    <a:bodyPr/>
                    <a:lstStyle/>
                    <a:p>
                      <a:endParaRPr lang="hu-HU"/>
                    </a:p>
                  </a:txBody>
                  <a:tcPr/>
                </a:tc>
                <a:tc>
                  <a:txBody>
                    <a:bodyPr/>
                    <a:lstStyle/>
                    <a:p>
                      <a:pPr>
                        <a:lnSpc>
                          <a:spcPct val="107000"/>
                        </a:lnSpc>
                        <a:spcAft>
                          <a:spcPts val="800"/>
                        </a:spcAft>
                      </a:pPr>
                      <a:r>
                        <a:rPr lang="hu-HU" sz="1200" b="1" kern="1200" baseline="0" dirty="0">
                          <a:solidFill>
                            <a:schemeClr val="tx1"/>
                          </a:solidFill>
                          <a:effectLst/>
                          <a:latin typeface="+mn-lt"/>
                          <a:ea typeface="+mn-ea"/>
                          <a:cs typeface="+mn-cs"/>
                        </a:rPr>
                        <a:t>száma***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nSpc>
                          <a:spcPct val="107000"/>
                        </a:lnSpc>
                        <a:spcAft>
                          <a:spcPts val="800"/>
                        </a:spcAft>
                      </a:pPr>
                      <a:r>
                        <a:rPr lang="hu-HU" sz="1200" b="1" kern="1200" baseline="0" dirty="0">
                          <a:solidFill>
                            <a:schemeClr val="tx1"/>
                          </a:solidFill>
                          <a:effectLst/>
                          <a:latin typeface="+mn-lt"/>
                          <a:ea typeface="+mn-ea"/>
                          <a:cs typeface="+mn-cs"/>
                        </a:rPr>
                        <a:t>aránya az adott képzéstípusban jelentkezést benyújtókhoz képest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1"/>
                  </a:ext>
                </a:extLst>
              </a:tr>
              <a:tr h="873710">
                <a:tc>
                  <a:txBody>
                    <a:bodyPr/>
                    <a:lstStyle/>
                    <a:p>
                      <a:pPr>
                        <a:lnSpc>
                          <a:spcPct val="107000"/>
                        </a:lnSpc>
                        <a:spcAft>
                          <a:spcPts val="800"/>
                        </a:spcAft>
                      </a:pPr>
                      <a:r>
                        <a:rPr lang="hu-HU" sz="1200" b="1" dirty="0">
                          <a:effectLst/>
                        </a:rPr>
                        <a:t>4 (vagy 5) évfolyamos gimnáziumi, </a:t>
                      </a:r>
                      <a:r>
                        <a:rPr lang="hu-HU" sz="1200" b="1" kern="1200" dirty="0">
                          <a:solidFill>
                            <a:schemeClr val="dk1"/>
                          </a:solidFill>
                          <a:effectLst/>
                          <a:latin typeface="+mn-lt"/>
                          <a:ea typeface="+mn-ea"/>
                          <a:cs typeface="+mn-cs"/>
                        </a:rPr>
                        <a:t>szakgimnáziumi, technikumi, illetve szakképző iskolai tanulmányi terület </a:t>
                      </a:r>
                      <a:br>
                        <a:rPr lang="hu-HU" sz="1200" b="1" kern="1200" dirty="0">
                          <a:solidFill>
                            <a:schemeClr val="dk1"/>
                          </a:solidFill>
                          <a:effectLst/>
                          <a:latin typeface="+mn-lt"/>
                          <a:ea typeface="+mn-ea"/>
                          <a:cs typeface="+mn-cs"/>
                        </a:rPr>
                      </a:br>
                      <a:r>
                        <a:rPr lang="hu-HU" sz="1200" b="1" kern="1200" dirty="0">
                          <a:solidFill>
                            <a:schemeClr val="dk1"/>
                          </a:solidFill>
                          <a:effectLst/>
                          <a:latin typeface="+mn-lt"/>
                          <a:ea typeface="+mn-ea"/>
                          <a:cs typeface="+mn-cs"/>
                        </a:rPr>
                        <a:t>(a 9. évfolyamra jelentkezők számára)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800"/>
                        </a:spcAft>
                      </a:pPr>
                      <a:r>
                        <a:rPr lang="hu-HU" sz="1200" strike="noStrike" kern="1200" dirty="0">
                          <a:solidFill>
                            <a:schemeClr val="tx1">
                              <a:lumMod val="95000"/>
                              <a:lumOff val="5000"/>
                            </a:schemeClr>
                          </a:solidFill>
                          <a:effectLst/>
                          <a:latin typeface="+mn-lt"/>
                          <a:ea typeface="+mn-ea"/>
                          <a:cs typeface="+mn-cs"/>
                        </a:rPr>
                        <a:t>530</a:t>
                      </a:r>
                      <a:br>
                        <a:rPr lang="hu-HU" sz="1200" strike="noStrike" kern="1200" dirty="0">
                          <a:solidFill>
                            <a:schemeClr val="tx1">
                              <a:lumMod val="95000"/>
                              <a:lumOff val="5000"/>
                            </a:schemeClr>
                          </a:solidFill>
                          <a:effectLst/>
                          <a:latin typeface="+mn-lt"/>
                          <a:ea typeface="+mn-ea"/>
                          <a:cs typeface="+mn-cs"/>
                        </a:rPr>
                      </a:br>
                      <a:r>
                        <a:rPr lang="hu-HU" sz="1200" strike="noStrike" kern="1200" dirty="0">
                          <a:solidFill>
                            <a:schemeClr val="tx1">
                              <a:lumMod val="95000"/>
                              <a:lumOff val="5000"/>
                            </a:schemeClr>
                          </a:solidFill>
                          <a:effectLst/>
                          <a:latin typeface="+mn-lt"/>
                          <a:ea typeface="+mn-ea"/>
                          <a:cs typeface="+mn-cs"/>
                        </a:rPr>
                        <a:t>(51,61%)</a:t>
                      </a:r>
                      <a:endParaRPr lang="hu-HU" sz="1200" strike="sngStrike" kern="1200" dirty="0">
                        <a:solidFill>
                          <a:srgbClr val="FF0000"/>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latinLnBrk="0" hangingPunct="1">
                        <a:lnSpc>
                          <a:spcPct val="107000"/>
                        </a:lnSpc>
                        <a:spcAft>
                          <a:spcPts val="800"/>
                        </a:spcAft>
                      </a:pPr>
                      <a:r>
                        <a:rPr lang="hu-HU" sz="1200" strike="noStrike" kern="1200" dirty="0">
                          <a:solidFill>
                            <a:schemeClr val="tx1">
                              <a:lumMod val="95000"/>
                              <a:lumOff val="5000"/>
                            </a:schemeClr>
                          </a:solidFill>
                          <a:effectLst/>
                          <a:latin typeface="+mn-lt"/>
                          <a:ea typeface="+mn-ea"/>
                          <a:cs typeface="+mn-cs"/>
                        </a:rPr>
                        <a:t>44 866</a:t>
                      </a:r>
                      <a:endParaRPr lang="hu-HU" sz="1200" strike="sngStrike" kern="1200" dirty="0">
                        <a:solidFill>
                          <a:schemeClr val="tx1">
                            <a:lumMod val="95000"/>
                            <a:lumOff val="5000"/>
                          </a:schemeClr>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latinLnBrk="0" hangingPunct="1">
                        <a:lnSpc>
                          <a:spcPct val="107000"/>
                        </a:lnSpc>
                        <a:spcAft>
                          <a:spcPts val="800"/>
                        </a:spcAft>
                      </a:pPr>
                      <a:r>
                        <a:rPr lang="hu-HU" sz="1200" strike="noStrike" kern="1200" dirty="0">
                          <a:solidFill>
                            <a:schemeClr val="tx1">
                              <a:lumMod val="95000"/>
                              <a:lumOff val="5000"/>
                            </a:schemeClr>
                          </a:solidFill>
                          <a:effectLst/>
                          <a:latin typeface="+mn-lt"/>
                          <a:ea typeface="+mn-ea"/>
                          <a:cs typeface="+mn-cs"/>
                        </a:rPr>
                        <a:t>58,88%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681113">
                <a:tc>
                  <a:txBody>
                    <a:bodyPr/>
                    <a:lstStyle/>
                    <a:p>
                      <a:pPr>
                        <a:lnSpc>
                          <a:spcPct val="107000"/>
                        </a:lnSpc>
                        <a:spcAft>
                          <a:spcPts val="800"/>
                        </a:spcAft>
                      </a:pPr>
                      <a:r>
                        <a:rPr lang="hu-HU" sz="1200" b="1" dirty="0">
                          <a:effectLst/>
                        </a:rPr>
                        <a:t>6 évfolyamos gimnáziumi tanulmányi terület </a:t>
                      </a:r>
                      <a:br>
                        <a:rPr lang="hu-HU" sz="1200" b="1" dirty="0">
                          <a:effectLst/>
                        </a:rPr>
                      </a:br>
                      <a:r>
                        <a:rPr lang="hu-HU" sz="1200" b="1" dirty="0">
                          <a:effectLst/>
                        </a:rPr>
                        <a:t>(a 7. évfolyamra jelentkezők számára)</a:t>
                      </a:r>
                      <a:endParaRPr lang="hu-HU" sz="1200" b="1" dirty="0">
                        <a:effectLst/>
                        <a:latin typeface="Calibri" panose="020F0502020204030204" charset="0"/>
                        <a:ea typeface="Calibri" panose="020F050202020403020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800"/>
                        </a:spcAft>
                      </a:pPr>
                      <a:r>
                        <a:rPr lang="hu-HU" sz="1200" strike="noStrike" kern="1200" dirty="0">
                          <a:solidFill>
                            <a:schemeClr val="tx1">
                              <a:lumMod val="95000"/>
                              <a:lumOff val="5000"/>
                            </a:schemeClr>
                          </a:solidFill>
                          <a:effectLst/>
                          <a:latin typeface="+mn-lt"/>
                          <a:ea typeface="+mn-ea"/>
                          <a:cs typeface="+mn-cs"/>
                        </a:rPr>
                        <a:t>111</a:t>
                      </a:r>
                      <a:br>
                        <a:rPr lang="hu-HU" sz="1200" strike="noStrike" kern="1200" dirty="0">
                          <a:solidFill>
                            <a:schemeClr val="tx1">
                              <a:lumMod val="95000"/>
                              <a:lumOff val="5000"/>
                            </a:schemeClr>
                          </a:solidFill>
                          <a:effectLst/>
                          <a:latin typeface="+mn-lt"/>
                          <a:ea typeface="+mn-ea"/>
                          <a:cs typeface="+mn-cs"/>
                        </a:rPr>
                      </a:br>
                      <a:r>
                        <a:rPr lang="hu-HU" sz="1200" strike="noStrike" kern="1200" dirty="0">
                          <a:solidFill>
                            <a:schemeClr val="tx1"/>
                          </a:solidFill>
                          <a:effectLst/>
                          <a:latin typeface="+mn-lt"/>
                          <a:ea typeface="+mn-ea"/>
                          <a:cs typeface="+mn-cs"/>
                        </a:rPr>
                        <a:t>(87,40%)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400" rtl="0" eaLnBrk="1" latinLnBrk="0" hangingPunct="1">
                        <a:lnSpc>
                          <a:spcPct val="107000"/>
                        </a:lnSpc>
                        <a:spcAft>
                          <a:spcPts val="800"/>
                        </a:spcAft>
                      </a:pPr>
                      <a:r>
                        <a:rPr lang="hu-HU" sz="1200" strike="noStrike" kern="1200" baseline="0" dirty="0">
                          <a:solidFill>
                            <a:schemeClr val="tx1">
                              <a:lumMod val="95000"/>
                              <a:lumOff val="5000"/>
                            </a:schemeClr>
                          </a:solidFill>
                          <a:effectLst/>
                          <a:latin typeface="+mn-lt"/>
                          <a:ea typeface="+mn-ea"/>
                          <a:cs typeface="+mn-cs"/>
                        </a:rPr>
                        <a:t>10 309</a:t>
                      </a:r>
                      <a:endParaRPr lang="hu-HU" sz="1200" strike="noStrike" kern="1200" dirty="0">
                        <a:solidFill>
                          <a:schemeClr val="tx1">
                            <a:lumMod val="95000"/>
                            <a:lumOff val="5000"/>
                          </a:schemeClr>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7000"/>
                        </a:lnSpc>
                        <a:spcAft>
                          <a:spcPts val="800"/>
                        </a:spcAft>
                      </a:pPr>
                      <a:r>
                        <a:rPr lang="hu-HU" sz="1200" strike="noStrike" kern="1200" dirty="0">
                          <a:solidFill>
                            <a:schemeClr val="tx1">
                              <a:lumMod val="95000"/>
                              <a:lumOff val="5000"/>
                            </a:schemeClr>
                          </a:solidFill>
                          <a:effectLst/>
                          <a:latin typeface="+mn-lt"/>
                          <a:ea typeface="+mn-ea"/>
                          <a:cs typeface="+mn-cs"/>
                        </a:rPr>
                        <a:t>127,73%**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681113">
                <a:tc>
                  <a:txBody>
                    <a:bodyPr/>
                    <a:lstStyle/>
                    <a:p>
                      <a:pPr>
                        <a:lnSpc>
                          <a:spcPct val="107000"/>
                        </a:lnSpc>
                        <a:spcAft>
                          <a:spcPts val="800"/>
                        </a:spcAft>
                      </a:pPr>
                      <a:r>
                        <a:rPr lang="hu-HU" sz="1200" b="1" dirty="0">
                          <a:effectLst/>
                        </a:rPr>
                        <a:t>8 évfolyamos gimnáziumi</a:t>
                      </a:r>
                      <a:r>
                        <a:rPr lang="hu-HU" sz="1200" b="1" baseline="0" dirty="0">
                          <a:effectLst/>
                        </a:rPr>
                        <a:t> </a:t>
                      </a:r>
                      <a:r>
                        <a:rPr lang="hu-HU" sz="1200" b="1" dirty="0">
                          <a:effectLst/>
                        </a:rPr>
                        <a:t>tanulmányi terület</a:t>
                      </a:r>
                      <a:br>
                        <a:rPr lang="hu-HU" sz="1200" b="1" dirty="0">
                          <a:solidFill>
                            <a:srgbClr val="FF0000"/>
                          </a:solidFill>
                          <a:effectLst/>
                        </a:rPr>
                      </a:br>
                      <a:r>
                        <a:rPr lang="hu-HU" sz="1200" b="1" dirty="0">
                          <a:effectLst/>
                        </a:rPr>
                        <a:t>(az 5. évfolyamra jelentkezők számára)</a:t>
                      </a:r>
                      <a:endParaRPr lang="hu-HU" sz="1200" b="1" dirty="0">
                        <a:effectLst/>
                        <a:latin typeface="Calibri" panose="020F0502020204030204" charset="0"/>
                        <a:ea typeface="Calibri" panose="020F050202020403020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lnSpc>
                          <a:spcPct val="107000"/>
                        </a:lnSpc>
                        <a:spcAft>
                          <a:spcPts val="800"/>
                        </a:spcAft>
                      </a:pPr>
                      <a:r>
                        <a:rPr lang="hu-HU" sz="1200" strike="noStrike" kern="1200" dirty="0">
                          <a:solidFill>
                            <a:schemeClr val="tx1">
                              <a:lumMod val="95000"/>
                              <a:lumOff val="5000"/>
                            </a:schemeClr>
                          </a:solidFill>
                          <a:effectLst/>
                          <a:latin typeface="+mn-lt"/>
                          <a:ea typeface="+mn-ea"/>
                          <a:cs typeface="+mn-cs"/>
                        </a:rPr>
                        <a:t>71</a:t>
                      </a:r>
                      <a:br>
                        <a:rPr lang="hu-HU" sz="1200" strike="noStrike" kern="1200" dirty="0">
                          <a:solidFill>
                            <a:schemeClr val="tx1">
                              <a:lumMod val="95000"/>
                              <a:lumOff val="5000"/>
                            </a:schemeClr>
                          </a:solidFill>
                          <a:effectLst/>
                          <a:latin typeface="+mn-lt"/>
                          <a:ea typeface="+mn-ea"/>
                          <a:cs typeface="+mn-cs"/>
                        </a:rPr>
                      </a:br>
                      <a:r>
                        <a:rPr lang="hu-HU" sz="1200" strike="noStrike" kern="1200" dirty="0">
                          <a:solidFill>
                            <a:schemeClr val="tx1">
                              <a:lumMod val="95000"/>
                              <a:lumOff val="5000"/>
                            </a:schemeClr>
                          </a:solidFill>
                          <a:effectLst/>
                          <a:latin typeface="+mn-lt"/>
                          <a:ea typeface="+mn-ea"/>
                          <a:cs typeface="+mn-cs"/>
                        </a:rPr>
                        <a:t>(83,53%)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baseline="0" dirty="0">
                          <a:solidFill>
                            <a:schemeClr val="tx1">
                              <a:lumMod val="95000"/>
                              <a:lumOff val="5000"/>
                            </a:schemeClr>
                          </a:solidFill>
                          <a:effectLst/>
                          <a:latin typeface="+mn-lt"/>
                          <a:ea typeface="+mn-ea"/>
                          <a:cs typeface="+mn-cs"/>
                        </a:rPr>
                        <a:t>6144</a:t>
                      </a:r>
                      <a:endParaRPr lang="hu-HU" sz="1200" strike="noStrike" kern="1200" dirty="0">
                        <a:solidFill>
                          <a:schemeClr val="tx1">
                            <a:lumMod val="95000"/>
                            <a:lumOff val="5000"/>
                          </a:schemeClr>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hu-HU" sz="1200" strike="noStrike" kern="1200" dirty="0">
                          <a:solidFill>
                            <a:schemeClr val="tx1">
                              <a:lumMod val="95000"/>
                              <a:lumOff val="5000"/>
                            </a:schemeClr>
                          </a:solidFill>
                          <a:effectLst/>
                          <a:latin typeface="+mn-lt"/>
                          <a:ea typeface="+mn-ea"/>
                          <a:cs typeface="+mn-cs"/>
                        </a:rPr>
                        <a:t>116,54%**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82066">
                <a:tc gridSpan="4">
                  <a:txBody>
                    <a:bodyPr/>
                    <a:lstStyle/>
                    <a:p>
                      <a:pPr algn="ctr">
                        <a:lnSpc>
                          <a:spcPct val="107000"/>
                        </a:lnSpc>
                        <a:spcAft>
                          <a:spcPts val="800"/>
                        </a:spcAft>
                      </a:pPr>
                      <a:r>
                        <a:rPr lang="hu-HU" sz="1200" b="1" dirty="0">
                          <a:solidFill>
                            <a:schemeClr val="tx1">
                              <a:lumMod val="95000"/>
                              <a:lumOff val="5000"/>
                            </a:schemeClr>
                          </a:solidFill>
                          <a:effectLst/>
                        </a:rPr>
                        <a:t>Összes érintett iskola: </a:t>
                      </a:r>
                      <a:r>
                        <a:rPr lang="hu-HU" sz="1200" b="1" strike="noStrike" dirty="0">
                          <a:solidFill>
                            <a:schemeClr val="tx1">
                              <a:lumMod val="95000"/>
                              <a:lumOff val="5000"/>
                            </a:schemeClr>
                          </a:solidFill>
                          <a:effectLst/>
                        </a:rPr>
                        <a:t>553*</a:t>
                      </a:r>
                      <a:endParaRPr lang="hu-HU" sz="1200" b="1" strike="noStrike" dirty="0">
                        <a:solidFill>
                          <a:schemeClr val="tx1">
                            <a:lumMod val="95000"/>
                            <a:lumOff val="5000"/>
                          </a:schemeClr>
                        </a:solidFill>
                        <a:effectLst/>
                        <a:latin typeface="Calibri" panose="020F0502020204030204" charset="0"/>
                        <a:ea typeface="Calibri" panose="020F0502020204030204"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hu-HU"/>
                    </a:p>
                  </a:txBody>
                  <a:tcPr/>
                </a:tc>
                <a:tc hMerge="1">
                  <a:txBody>
                    <a:bodyPr/>
                    <a:lstStyle/>
                    <a:p>
                      <a:endParaRPr lang="hu-HU"/>
                    </a:p>
                  </a:txBody>
                  <a:tcPr/>
                </a:tc>
                <a:tc hMerge="1">
                  <a:txBody>
                    <a:bodyPr/>
                    <a:lstStyle/>
                    <a:p>
                      <a:endParaRPr lang="hu-HU"/>
                    </a:p>
                  </a:txBody>
                  <a:tcPr/>
                </a:tc>
                <a:extLst>
                  <a:ext uri="{0D108BD9-81ED-4DB2-BD59-A6C34878D82A}">
                    <a16:rowId xmlns:a16="http://schemas.microsoft.com/office/drawing/2014/main" val="10005"/>
                  </a:ext>
                </a:extLst>
              </a:tr>
              <a:tr h="275138">
                <a:tc gridSpan="4">
                  <a:txBody>
                    <a:bodyPr/>
                    <a:lstStyle/>
                    <a:p>
                      <a:pPr algn="ctr">
                        <a:lnSpc>
                          <a:spcPct val="107000"/>
                        </a:lnSpc>
                        <a:spcAft>
                          <a:spcPts val="800"/>
                        </a:spcAft>
                      </a:pPr>
                      <a:r>
                        <a:rPr lang="hu-HU" sz="1200" b="1" dirty="0">
                          <a:solidFill>
                            <a:schemeClr val="tx1">
                              <a:lumMod val="95000"/>
                              <a:lumOff val="5000"/>
                            </a:schemeClr>
                          </a:solidFill>
                          <a:effectLst/>
                        </a:rPr>
                        <a:t>Összes érintett tanuló</a:t>
                      </a:r>
                      <a:r>
                        <a:rPr lang="hu-HU" sz="1200" b="1" dirty="0">
                          <a:solidFill>
                            <a:schemeClr val="tx1">
                              <a:lumMod val="95000"/>
                              <a:lumOff val="5000"/>
                            </a:schemeClr>
                          </a:solidFill>
                          <a:effectLst/>
                          <a:sym typeface="+mn-ea"/>
                        </a:rPr>
                        <a:t>***</a:t>
                      </a:r>
                      <a:r>
                        <a:rPr lang="hu-HU" sz="1200" b="1" dirty="0">
                          <a:solidFill>
                            <a:schemeClr val="tx1">
                              <a:lumMod val="95000"/>
                              <a:lumOff val="5000"/>
                            </a:schemeClr>
                          </a:solidFill>
                          <a:effectLst/>
                        </a:rPr>
                        <a:t>: </a:t>
                      </a:r>
                      <a:r>
                        <a:rPr lang="hu-HU" sz="1200" b="1" strike="noStrike" kern="1200" dirty="0">
                          <a:solidFill>
                            <a:schemeClr val="tx1"/>
                          </a:solidFill>
                          <a:effectLst/>
                          <a:latin typeface="+mn-lt"/>
                          <a:ea typeface="+mn-ea"/>
                          <a:cs typeface="+mn-cs"/>
                        </a:rPr>
                        <a:t>61 319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hu-HU"/>
                    </a:p>
                  </a:txBody>
                  <a:tcPr/>
                </a:tc>
                <a:tc hMerge="1">
                  <a:txBody>
                    <a:bodyPr/>
                    <a:lstStyle/>
                    <a:p>
                      <a:endParaRPr lang="hu-HU"/>
                    </a:p>
                  </a:txBody>
                  <a:tcPr/>
                </a:tc>
                <a:tc hMerge="1">
                  <a:txBody>
                    <a:bodyPr/>
                    <a:lstStyle/>
                    <a:p>
                      <a:endParaRPr lang="hu-HU"/>
                    </a:p>
                  </a:txBody>
                  <a:tcPr/>
                </a:tc>
                <a:extLst>
                  <a:ext uri="{0D108BD9-81ED-4DB2-BD59-A6C34878D82A}">
                    <a16:rowId xmlns:a16="http://schemas.microsoft.com/office/drawing/2014/main" val="10006"/>
                  </a:ext>
                </a:extLst>
              </a:tr>
            </a:tbl>
          </a:graphicData>
        </a:graphic>
      </p:graphicFrame>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7</a:t>
            </a:fld>
            <a:endParaRPr lang="hu-HU" sz="800" dirty="0"/>
          </a:p>
        </p:txBody>
      </p:sp>
      <p:sp>
        <p:nvSpPr>
          <p:cNvPr id="7" name="Rectangle 367"/>
          <p:cNvSpPr>
            <a:spLocks noChangeArrowheads="1"/>
          </p:cNvSpPr>
          <p:nvPr/>
        </p:nvSpPr>
        <p:spPr bwMode="auto">
          <a:xfrm>
            <a:off x="1238865" y="5256751"/>
            <a:ext cx="9724104" cy="1015663"/>
          </a:xfrm>
          <a:prstGeom prst="rect">
            <a:avLst/>
          </a:prstGeom>
          <a:noFill/>
          <a:ln w="9525">
            <a:noFill/>
            <a:miter lim="800000"/>
          </a:ln>
        </p:spPr>
        <p:txBody>
          <a:bodyPr wrap="square" anchor="ctr">
            <a:spAutoFit/>
          </a:bodyPr>
          <a:lstStyle/>
          <a:p>
            <a:pPr fontAlgn="base">
              <a:spcBef>
                <a:spcPct val="0"/>
              </a:spcBef>
              <a:spcAft>
                <a:spcPct val="0"/>
              </a:spcAft>
            </a:pPr>
            <a:r>
              <a:rPr lang="hu-HU" altLang="hu-HU" sz="1000" dirty="0">
                <a:cs typeface="Arial" panose="020B0604020202020204" pitchFamily="34" charset="0"/>
              </a:rPr>
              <a:t>* Egy-egy iskola többféle képzéstípusban is hirdetett felvételit, amelynek keretében kérte a központi írásbelin való részvételt a diákoktól.</a:t>
            </a:r>
          </a:p>
          <a:p>
            <a:pPr fontAlgn="base">
              <a:spcBef>
                <a:spcPct val="0"/>
              </a:spcBef>
              <a:spcAft>
                <a:spcPct val="0"/>
              </a:spcAft>
            </a:pPr>
            <a:r>
              <a:rPr lang="hu-HU" altLang="hu-HU" sz="1000" dirty="0">
                <a:cs typeface="Arial" panose="020B0604020202020204" pitchFamily="34" charset="0"/>
              </a:rPr>
              <a:t>** A 6 és 8 évfolyamos gimnáziumok központi írásbeli felvételi vizsgáit megírók a vizsga megírása után dönthetnek úgy, hogy nem nyújtanak be jelentkezést a felvételi eljárásban. Az aktuális eljárásban, a 6 évfolyamos gimnáziumi központi írásbeli vizsgát megírók száma 2 239 fővel meghaladta a 6 évfolyamos gimnáziumba jelentkezők számát, a 8 évfolyamos gimnáziumi központi írásbeli vizsgát megírók száma pedig </a:t>
            </a:r>
            <a:r>
              <a:rPr lang="hu-HU" altLang="hu-HU" sz="1000" dirty="0">
                <a:solidFill>
                  <a:schemeClr val="tx1">
                    <a:lumMod val="95000"/>
                    <a:lumOff val="5000"/>
                  </a:schemeClr>
                </a:solidFill>
                <a:cs typeface="Arial" panose="020B0604020202020204" pitchFamily="34" charset="0"/>
              </a:rPr>
              <a:t>872 </a:t>
            </a:r>
            <a:r>
              <a:rPr lang="hu-HU" altLang="hu-HU" sz="1000" dirty="0">
                <a:cs typeface="Arial" panose="020B0604020202020204" pitchFamily="34" charset="0"/>
              </a:rPr>
              <a:t>fővel meghaladta a 8 évfolyamos gimnáziumba jelentkezők számát.</a:t>
            </a:r>
          </a:p>
          <a:p>
            <a:pPr fontAlgn="base">
              <a:spcBef>
                <a:spcPct val="0"/>
              </a:spcBef>
              <a:spcAft>
                <a:spcPct val="0"/>
              </a:spcAft>
            </a:pPr>
            <a:r>
              <a:rPr lang="hu-HU" altLang="hu-HU" sz="1000" dirty="0">
                <a:cs typeface="Arial" panose="020B0604020202020204" pitchFamily="34" charset="0"/>
              </a:rPr>
              <a:t>***Mentességgel rendelkező (sajátos nevelési igényű vagy </a:t>
            </a:r>
            <a:r>
              <a:rPr lang="hu-HU" sz="1000" dirty="0">
                <a:cs typeface="Arial" panose="020B0604020202020204" pitchFamily="34" charset="0"/>
              </a:rPr>
              <a:t>beilleszkedési, tanulási, magatartási nehézséggel küzdő) </a:t>
            </a:r>
            <a:r>
              <a:rPr lang="hu-HU" altLang="hu-HU" sz="1000" dirty="0">
                <a:cs typeface="Arial" panose="020B0604020202020204" pitchFamily="34" charset="0"/>
              </a:rPr>
              <a:t>vizsgázók nélkül. </a:t>
            </a:r>
            <a:endParaRPr lang="hu-HU" altLang="hu-HU" sz="1100" dirty="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altLang="hu-HU" sz="2600" b="1" dirty="0">
                <a:solidFill>
                  <a:schemeClr val="tx1">
                    <a:lumMod val="95000"/>
                    <a:lumOff val="5000"/>
                  </a:schemeClr>
                </a:solidFill>
              </a:rPr>
              <a:t>A központi írásbeli vizsgákon való részvétel </a:t>
            </a:r>
            <a:br>
              <a:rPr lang="hu-HU" altLang="hu-HU" sz="2600" b="1" dirty="0">
                <a:solidFill>
                  <a:schemeClr val="tx1">
                    <a:lumMod val="95000"/>
                    <a:lumOff val="5000"/>
                  </a:schemeClr>
                </a:solidFill>
              </a:rPr>
            </a:br>
            <a:r>
              <a:rPr lang="hu-HU" altLang="hu-HU" sz="2600" b="1" dirty="0">
                <a:solidFill>
                  <a:schemeClr val="tx1">
                    <a:lumMod val="95000"/>
                    <a:lumOff val="5000"/>
                  </a:schemeClr>
                </a:solidFill>
              </a:rPr>
              <a:t>(9. évfolyamra történő felvételi)</a:t>
            </a:r>
            <a:endParaRPr lang="hu-HU"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8</a:t>
            </a:fld>
            <a:endParaRPr lang="hu-HU" sz="800" dirty="0"/>
          </a:p>
        </p:txBody>
      </p:sp>
      <p:graphicFrame>
        <p:nvGraphicFramePr>
          <p:cNvPr id="10" name="Diagram 9"/>
          <p:cNvGraphicFramePr/>
          <p:nvPr>
            <p:extLst>
              <p:ext uri="{D42A27DB-BD31-4B8C-83A1-F6EECF244321}">
                <p14:modId xmlns:p14="http://schemas.microsoft.com/office/powerpoint/2010/main" val="1738827176"/>
              </p:ext>
            </p:extLst>
          </p:nvPr>
        </p:nvGraphicFramePr>
        <p:xfrm>
          <a:off x="6242079" y="1280159"/>
          <a:ext cx="5015856" cy="4435843"/>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 Box 4"/>
          <p:cNvSpPr txBox="1">
            <a:spLocks noChangeArrowheads="1"/>
          </p:cNvSpPr>
          <p:nvPr/>
        </p:nvSpPr>
        <p:spPr bwMode="auto">
          <a:xfrm>
            <a:off x="903847" y="5863922"/>
            <a:ext cx="10228344" cy="368300"/>
          </a:xfrm>
          <a:prstGeom prst="rect">
            <a:avLst/>
          </a:prstGeom>
          <a:noFill/>
          <a:ln w="9525">
            <a:noFill/>
            <a:miter lim="800000"/>
          </a:ln>
        </p:spPr>
        <p:txBody>
          <a:bodyPr wrap="square">
            <a:spAutoFit/>
          </a:bodyPr>
          <a:lstStyle/>
          <a:p>
            <a:pPr algn="just"/>
            <a:r>
              <a:rPr lang="hu-HU" altLang="hu-HU" sz="900" dirty="0"/>
              <a:t>A 9. évfolyamra történő beiskolázásra vonatkozó központi írásbeli felvételi vizsgát szervező intézmények száma: </a:t>
            </a:r>
            <a:r>
              <a:rPr lang="hu-HU" altLang="hu-HU" sz="900" dirty="0">
                <a:solidFill>
                  <a:schemeClr val="tx1">
                    <a:lumMod val="95000"/>
                    <a:lumOff val="5000"/>
                  </a:schemeClr>
                </a:solidFill>
              </a:rPr>
              <a:t>530 (az ilyen intézmények 51,61%-a).</a:t>
            </a:r>
          </a:p>
          <a:p>
            <a:pPr algn="just"/>
            <a:r>
              <a:rPr lang="hu-HU" altLang="hu-HU" sz="900" dirty="0"/>
              <a:t>* Mentességgel rendelkező vizsgázók nélkül. </a:t>
            </a:r>
          </a:p>
        </p:txBody>
      </p:sp>
      <p:graphicFrame>
        <p:nvGraphicFramePr>
          <p:cNvPr id="12" name="Tartalom helye 3"/>
          <p:cNvGraphicFramePr>
            <a:graphicFrameLocks noGrp="1"/>
          </p:cNvGraphicFramePr>
          <p:nvPr>
            <p:ph idx="1"/>
            <p:extLst>
              <p:ext uri="{D42A27DB-BD31-4B8C-83A1-F6EECF244321}">
                <p14:modId xmlns:p14="http://schemas.microsoft.com/office/powerpoint/2010/main" val="1506499744"/>
              </p:ext>
            </p:extLst>
          </p:nvPr>
        </p:nvGraphicFramePr>
        <p:xfrm>
          <a:off x="838200" y="1417740"/>
          <a:ext cx="5111722" cy="42982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23890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altLang="hu-HU" sz="2600" b="1" dirty="0">
                <a:solidFill>
                  <a:schemeClr val="tx1">
                    <a:lumMod val="95000"/>
                    <a:lumOff val="5000"/>
                  </a:schemeClr>
                </a:solidFill>
              </a:rPr>
              <a:t>A központi írásbeli vizsgákon való részvétel </a:t>
            </a:r>
            <a:br>
              <a:rPr lang="hu-HU" altLang="hu-HU" sz="2600" b="1" dirty="0">
                <a:solidFill>
                  <a:schemeClr val="tx1">
                    <a:lumMod val="95000"/>
                    <a:lumOff val="5000"/>
                  </a:schemeClr>
                </a:solidFill>
              </a:rPr>
            </a:br>
            <a:r>
              <a:rPr lang="hu-HU" altLang="hu-HU" sz="2600" b="1" dirty="0">
                <a:solidFill>
                  <a:schemeClr val="tx1">
                    <a:lumMod val="95000"/>
                    <a:lumOff val="5000"/>
                  </a:schemeClr>
                </a:solidFill>
              </a:rPr>
              <a:t>(8 és 6 évfolyamos gimnáziumi felvételi)</a:t>
            </a:r>
            <a:endParaRPr lang="hu-HU"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9</a:t>
            </a:fld>
            <a:endParaRPr lang="hu-HU" sz="800" dirty="0"/>
          </a:p>
        </p:txBody>
      </p:sp>
      <p:graphicFrame>
        <p:nvGraphicFramePr>
          <p:cNvPr id="7" name="Tartalom helye 8"/>
          <p:cNvGraphicFramePr>
            <a:graphicFrameLocks noGrp="1"/>
          </p:cNvGraphicFramePr>
          <p:nvPr>
            <p:ph idx="1"/>
            <p:extLst>
              <p:ext uri="{D42A27DB-BD31-4B8C-83A1-F6EECF244321}">
                <p14:modId xmlns:p14="http://schemas.microsoft.com/office/powerpoint/2010/main" val="4202022685"/>
              </p:ext>
            </p:extLst>
          </p:nvPr>
        </p:nvGraphicFramePr>
        <p:xfrm>
          <a:off x="734797" y="1392748"/>
          <a:ext cx="5361203" cy="403492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Diagram 7"/>
          <p:cNvGraphicFramePr/>
          <p:nvPr>
            <p:extLst>
              <p:ext uri="{D42A27DB-BD31-4B8C-83A1-F6EECF244321}">
                <p14:modId xmlns:p14="http://schemas.microsoft.com/office/powerpoint/2010/main" val="713757090"/>
              </p:ext>
            </p:extLst>
          </p:nvPr>
        </p:nvGraphicFramePr>
        <p:xfrm>
          <a:off x="6350466" y="1358537"/>
          <a:ext cx="5003333" cy="406913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Box 4"/>
          <p:cNvSpPr txBox="1">
            <a:spLocks noChangeArrowheads="1"/>
          </p:cNvSpPr>
          <p:nvPr/>
        </p:nvSpPr>
        <p:spPr bwMode="auto">
          <a:xfrm>
            <a:off x="743017" y="5657629"/>
            <a:ext cx="10863072" cy="553998"/>
          </a:xfrm>
          <a:prstGeom prst="rect">
            <a:avLst/>
          </a:prstGeom>
          <a:solidFill>
            <a:schemeClr val="bg1"/>
          </a:solidFill>
          <a:ln w="9525">
            <a:noFill/>
            <a:miter lim="800000"/>
          </a:ln>
        </p:spPr>
        <p:txBody>
          <a:bodyPr wrap="square">
            <a:spAutoFit/>
          </a:bodyPr>
          <a:lstStyle/>
          <a:p>
            <a:pPr algn="just"/>
            <a:r>
              <a:rPr lang="hu-HU" altLang="hu-HU" sz="1000" dirty="0"/>
              <a:t>A központi írásbeli </a:t>
            </a:r>
            <a:r>
              <a:rPr lang="hu-HU" altLang="hu-HU" sz="1000" dirty="0">
                <a:solidFill>
                  <a:schemeClr val="tx1">
                    <a:lumMod val="95000"/>
                    <a:lumOff val="5000"/>
                  </a:schemeClr>
                </a:solidFill>
              </a:rPr>
              <a:t>felvételi vizsgát szervező 8 évfolyamos gimnáziumok száma: 71 (az ilyen tanulmányi területet (is) meghirdető gimnáziumok </a:t>
            </a:r>
            <a:r>
              <a:rPr lang="hu-HU" altLang="hu-HU" sz="1000" dirty="0"/>
              <a:t>83,53%-a</a:t>
            </a:r>
            <a:r>
              <a:rPr lang="hu-HU" altLang="hu-HU" sz="1000" dirty="0">
                <a:solidFill>
                  <a:schemeClr val="tx1">
                    <a:lumMod val="95000"/>
                    <a:lumOff val="5000"/>
                  </a:schemeClr>
                </a:solidFill>
              </a:rPr>
              <a:t>).</a:t>
            </a:r>
          </a:p>
          <a:p>
            <a:pPr algn="just"/>
            <a:r>
              <a:rPr lang="hu-HU" altLang="hu-HU" sz="1000" dirty="0">
                <a:solidFill>
                  <a:schemeClr val="tx1">
                    <a:lumMod val="95000"/>
                    <a:lumOff val="5000"/>
                  </a:schemeClr>
                </a:solidFill>
              </a:rPr>
              <a:t>A központi írásbeli felvételi vizsgát szervező 6 évfolyamos gimnáziumok száma: 111 (az ilyen tanulmányi területet (is) meghirdető gimnáziumok </a:t>
            </a:r>
            <a:r>
              <a:rPr lang="hu-HU" altLang="hu-HU" sz="900" dirty="0"/>
              <a:t>87,40%-a</a:t>
            </a:r>
            <a:r>
              <a:rPr lang="hu-HU" altLang="hu-HU" sz="1000" dirty="0">
                <a:solidFill>
                  <a:schemeClr val="tx1">
                    <a:lumMod val="95000"/>
                    <a:lumOff val="5000"/>
                  </a:schemeClr>
                </a:solidFill>
              </a:rPr>
              <a:t>).</a:t>
            </a:r>
          </a:p>
          <a:p>
            <a:pPr algn="just"/>
            <a:r>
              <a:rPr lang="hu-HU" altLang="hu-HU" sz="1000" dirty="0">
                <a:solidFill>
                  <a:schemeClr val="tx1">
                    <a:lumMod val="95000"/>
                    <a:lumOff val="5000"/>
                  </a:schemeClr>
                </a:solidFill>
              </a:rPr>
              <a:t>*Mentességgel rendelkező vizsgázók nélkül.</a:t>
            </a:r>
          </a:p>
        </p:txBody>
      </p:sp>
    </p:spTree>
    <p:extLst>
      <p:ext uri="{BB962C8B-B14F-4D97-AF65-F5344CB8AC3E}">
        <p14:creationId xmlns:p14="http://schemas.microsoft.com/office/powerpoint/2010/main" val="57581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altLang="hu-HU" sz="2400" b="1" dirty="0">
                <a:solidFill>
                  <a:schemeClr val="tx1">
                    <a:lumMod val="95000"/>
                    <a:lumOff val="5000"/>
                  </a:schemeClr>
                </a:solidFill>
                <a:ea typeface="+mn-ea"/>
                <a:cs typeface="Arial" panose="020B0604020202020204" pitchFamily="34" charset="0"/>
              </a:rPr>
              <a:t>A központi írásbeli vizsgán részt vevő* tanulók száma és arányuk a 9. évfolyamra felvételizők számához viszonyítva</a:t>
            </a:r>
            <a:endParaRPr lang="hu-HU" sz="2400"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10</a:t>
            </a:fld>
            <a:endParaRPr lang="hu-HU" sz="800" dirty="0"/>
          </a:p>
        </p:txBody>
      </p:sp>
      <p:graphicFrame>
        <p:nvGraphicFramePr>
          <p:cNvPr id="7" name="Diagram 6"/>
          <p:cNvGraphicFramePr/>
          <p:nvPr>
            <p:extLst>
              <p:ext uri="{D42A27DB-BD31-4B8C-83A1-F6EECF244321}">
                <p14:modId xmlns:p14="http://schemas.microsoft.com/office/powerpoint/2010/main" val="2849804048"/>
              </p:ext>
            </p:extLst>
          </p:nvPr>
        </p:nvGraphicFramePr>
        <p:xfrm>
          <a:off x="1631504" y="1150514"/>
          <a:ext cx="8928992" cy="4814057"/>
        </p:xfrm>
        <a:graphic>
          <a:graphicData uri="http://schemas.openxmlformats.org/drawingml/2006/chart">
            <c:chart xmlns:c="http://schemas.openxmlformats.org/drawingml/2006/chart" xmlns:r="http://schemas.openxmlformats.org/officeDocument/2006/relationships" r:id="rId2"/>
          </a:graphicData>
        </a:graphic>
      </p:graphicFrame>
      <p:sp>
        <p:nvSpPr>
          <p:cNvPr id="8" name="Téglalap 7"/>
          <p:cNvSpPr/>
          <p:nvPr/>
        </p:nvSpPr>
        <p:spPr>
          <a:xfrm>
            <a:off x="909275" y="6118553"/>
            <a:ext cx="3377848" cy="246221"/>
          </a:xfrm>
          <a:prstGeom prst="rect">
            <a:avLst/>
          </a:prstGeom>
        </p:spPr>
        <p:txBody>
          <a:bodyPr wrap="none">
            <a:spAutoFit/>
          </a:bodyPr>
          <a:lstStyle/>
          <a:p>
            <a:pPr lvl="0" algn="just"/>
            <a:r>
              <a:rPr lang="hu-HU" altLang="hu-HU" sz="1000" b="1" dirty="0">
                <a:latin typeface="Verdana" panose="020B0604030504040204" pitchFamily="34" charset="0"/>
                <a:ea typeface="Verdana" panose="020B0604030504040204" pitchFamily="34" charset="0"/>
                <a:cs typeface="Verdana" panose="020B0604030504040204" pitchFamily="34" charset="0"/>
              </a:rPr>
              <a:t>*Mentességgel rendelkező vizsgázók nélkül.</a:t>
            </a:r>
          </a:p>
        </p:txBody>
      </p:sp>
    </p:spTree>
    <p:extLst>
      <p:ext uri="{BB962C8B-B14F-4D97-AF65-F5344CB8AC3E}">
        <p14:creationId xmlns:p14="http://schemas.microsoft.com/office/powerpoint/2010/main" val="3346649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r>
              <a:rPr lang="hu-HU" altLang="hu-HU" sz="2600" b="1" dirty="0">
                <a:solidFill>
                  <a:schemeClr val="tx1">
                    <a:lumMod val="95000"/>
                    <a:lumOff val="5000"/>
                  </a:schemeClr>
                </a:solidFill>
              </a:rPr>
              <a:t>A központi írásbeli vizsgák eredményei</a:t>
            </a:r>
            <a:br>
              <a:rPr lang="hu-HU" altLang="hu-HU" sz="2600" b="1" dirty="0">
                <a:solidFill>
                  <a:schemeClr val="tx1">
                    <a:lumMod val="95000"/>
                    <a:lumOff val="5000"/>
                  </a:schemeClr>
                </a:solidFill>
              </a:rPr>
            </a:br>
            <a:r>
              <a:rPr lang="hu-HU" altLang="hu-HU" sz="2000" b="1" dirty="0">
                <a:solidFill>
                  <a:schemeClr val="tx1">
                    <a:lumMod val="95000"/>
                    <a:lumOff val="5000"/>
                  </a:schemeClr>
                </a:solidFill>
              </a:rPr>
              <a:t>(mentességgel rendelkező és pótló napon író vizsgázók nélkül)</a:t>
            </a:r>
            <a:endParaRPr lang="hu-HU"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11</a:t>
            </a:fld>
            <a:endParaRPr lang="hu-HU" sz="800" dirty="0"/>
          </a:p>
        </p:txBody>
      </p:sp>
      <p:sp>
        <p:nvSpPr>
          <p:cNvPr id="7" name="Tartalom helye 2"/>
          <p:cNvSpPr>
            <a:spLocks noGrp="1"/>
          </p:cNvSpPr>
          <p:nvPr>
            <p:ph idx="1"/>
          </p:nvPr>
        </p:nvSpPr>
        <p:spPr>
          <a:xfrm>
            <a:off x="838200" y="984069"/>
            <a:ext cx="10515600" cy="4911633"/>
          </a:xfrm>
        </p:spPr>
        <p:txBody>
          <a:bodyPr/>
          <a:lstStyle/>
          <a:p>
            <a:pPr algn="ctr">
              <a:lnSpc>
                <a:spcPct val="115000"/>
              </a:lnSpc>
              <a:spcBef>
                <a:spcPts val="1200"/>
              </a:spcBef>
              <a:spcAft>
                <a:spcPts val="0"/>
              </a:spcAft>
            </a:pPr>
            <a:r>
              <a:rPr lang="hu-HU" sz="1400" b="1" kern="0" dirty="0">
                <a:ea typeface="Times New Roman" panose="02020603050405020304" pitchFamily="18" charset="0"/>
                <a:cs typeface="Times New Roman" panose="02020603050405020304" pitchFamily="18" charset="0"/>
              </a:rPr>
              <a:t>A 8. évfolyamosok számára készített feladatlapokon elért eredmények eloszlása</a:t>
            </a:r>
            <a:endParaRPr lang="hu-HU" dirty="0"/>
          </a:p>
        </p:txBody>
      </p:sp>
      <p:graphicFrame>
        <p:nvGraphicFramePr>
          <p:cNvPr id="8" name="Diagram 7"/>
          <p:cNvGraphicFramePr/>
          <p:nvPr>
            <p:extLst>
              <p:ext uri="{D42A27DB-BD31-4B8C-83A1-F6EECF244321}">
                <p14:modId xmlns:p14="http://schemas.microsoft.com/office/powerpoint/2010/main" val="1256915550"/>
              </p:ext>
            </p:extLst>
          </p:nvPr>
        </p:nvGraphicFramePr>
        <p:xfrm>
          <a:off x="1108515" y="1263710"/>
          <a:ext cx="10121980" cy="211374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Diagram 8"/>
          <p:cNvGraphicFramePr/>
          <p:nvPr>
            <p:extLst>
              <p:ext uri="{D42A27DB-BD31-4B8C-83A1-F6EECF244321}">
                <p14:modId xmlns:p14="http://schemas.microsoft.com/office/powerpoint/2010/main" val="310092678"/>
              </p:ext>
            </p:extLst>
          </p:nvPr>
        </p:nvGraphicFramePr>
        <p:xfrm>
          <a:off x="1170039" y="3864152"/>
          <a:ext cx="4740028" cy="2266605"/>
        </p:xfrm>
        <a:graphic>
          <a:graphicData uri="http://schemas.openxmlformats.org/drawingml/2006/chart">
            <c:chart xmlns:c="http://schemas.openxmlformats.org/drawingml/2006/chart" xmlns:r="http://schemas.openxmlformats.org/officeDocument/2006/relationships" r:id="rId3"/>
          </a:graphicData>
        </a:graphic>
      </p:graphicFrame>
      <p:sp>
        <p:nvSpPr>
          <p:cNvPr id="10" name="Téglalap 9"/>
          <p:cNvSpPr/>
          <p:nvPr/>
        </p:nvSpPr>
        <p:spPr>
          <a:xfrm>
            <a:off x="1254375" y="3620997"/>
            <a:ext cx="4692833" cy="361381"/>
          </a:xfrm>
          <a:prstGeom prst="rect">
            <a:avLst/>
          </a:prstGeom>
        </p:spPr>
        <p:txBody>
          <a:bodyPr wrap="square">
            <a:spAutoFit/>
          </a:bodyPr>
          <a:lstStyle/>
          <a:p>
            <a:pPr algn="ctr">
              <a:lnSpc>
                <a:spcPct val="115000"/>
              </a:lnSpc>
              <a:spcBef>
                <a:spcPts val="1200"/>
              </a:spcBef>
              <a:spcAft>
                <a:spcPts val="0"/>
              </a:spcAft>
            </a:pPr>
            <a:r>
              <a:rPr lang="hu-HU" sz="800" b="1" kern="0" dirty="0">
                <a:latin typeface="Verdana" panose="020B0604030504040204" pitchFamily="34" charset="0"/>
                <a:ea typeface="Verdana" panose="020B0604030504040204" pitchFamily="34" charset="0"/>
                <a:cs typeface="Verdana" panose="020B0604030504040204" pitchFamily="34" charset="0"/>
              </a:rPr>
              <a:t>A 6. évfolyamosok számára készített feladatlapokon elért eredmények eloszlása</a:t>
            </a:r>
            <a:endParaRPr lang="hu-HU" sz="800" b="1" kern="0"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13" name="Téglalap 12"/>
          <p:cNvSpPr/>
          <p:nvPr/>
        </p:nvSpPr>
        <p:spPr>
          <a:xfrm>
            <a:off x="6241906" y="3637865"/>
            <a:ext cx="4692833" cy="361381"/>
          </a:xfrm>
          <a:prstGeom prst="rect">
            <a:avLst/>
          </a:prstGeom>
        </p:spPr>
        <p:txBody>
          <a:bodyPr wrap="square">
            <a:spAutoFit/>
          </a:bodyPr>
          <a:lstStyle/>
          <a:p>
            <a:pPr algn="ctr">
              <a:lnSpc>
                <a:spcPct val="115000"/>
              </a:lnSpc>
              <a:spcBef>
                <a:spcPts val="1200"/>
              </a:spcBef>
              <a:spcAft>
                <a:spcPts val="0"/>
              </a:spcAft>
            </a:pPr>
            <a:r>
              <a:rPr lang="hu-HU" sz="800" b="1" kern="0" dirty="0">
                <a:latin typeface="Verdana" panose="020B0604030504040204" pitchFamily="34" charset="0"/>
                <a:ea typeface="Verdana" panose="020B0604030504040204" pitchFamily="34" charset="0"/>
                <a:cs typeface="Verdana" panose="020B0604030504040204" pitchFamily="34" charset="0"/>
              </a:rPr>
              <a:t>A 4. évfolyamosok számára készített feladatlapokon elért eredmények eloszlása</a:t>
            </a:r>
            <a:endParaRPr lang="hu-HU" sz="800" b="1" kern="0" dirty="0">
              <a:effectLst/>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14" name="Diagram 13"/>
          <p:cNvGraphicFramePr/>
          <p:nvPr>
            <p:extLst>
              <p:ext uri="{D42A27DB-BD31-4B8C-83A1-F6EECF244321}">
                <p14:modId xmlns:p14="http://schemas.microsoft.com/office/powerpoint/2010/main" val="3675425153"/>
              </p:ext>
            </p:extLst>
          </p:nvPr>
        </p:nvGraphicFramePr>
        <p:xfrm>
          <a:off x="6095999" y="3925545"/>
          <a:ext cx="5026430" cy="200936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94900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altLang="hu-HU" sz="2400" b="1" dirty="0">
                <a:solidFill>
                  <a:schemeClr val="tx1">
                    <a:lumMod val="95000"/>
                    <a:lumOff val="5000"/>
                  </a:schemeClr>
                </a:solidFill>
              </a:rPr>
              <a:t>Az általános felvételi adatok változásai az elmúlt 10 évben</a:t>
            </a:r>
            <a:br>
              <a:rPr lang="hu-HU" altLang="hu-HU" sz="2400" b="1" dirty="0">
                <a:solidFill>
                  <a:schemeClr val="tx1">
                    <a:lumMod val="95000"/>
                    <a:lumOff val="5000"/>
                  </a:schemeClr>
                </a:solidFill>
              </a:rPr>
            </a:br>
            <a:r>
              <a:rPr lang="hu-HU" altLang="hu-HU" sz="1400" b="1" dirty="0">
                <a:solidFill>
                  <a:schemeClr val="tx1">
                    <a:lumMod val="95000"/>
                    <a:lumOff val="5000"/>
                  </a:schemeClr>
                </a:solidFill>
              </a:rPr>
              <a:t>(a középfokú iskola 9. évfolyamára jelentkezők körében)</a:t>
            </a:r>
            <a:endParaRPr lang="hu-HU" sz="2400"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12</a:t>
            </a:fld>
            <a:endParaRPr lang="hu-HU" sz="800" dirty="0"/>
          </a:p>
        </p:txBody>
      </p:sp>
      <p:graphicFrame>
        <p:nvGraphicFramePr>
          <p:cNvPr id="7" name="Tartalom helye 4"/>
          <p:cNvGraphicFramePr>
            <a:graphicFrameLocks noGrp="1"/>
          </p:cNvGraphicFramePr>
          <p:nvPr>
            <p:ph idx="1"/>
            <p:extLst>
              <p:ext uri="{D42A27DB-BD31-4B8C-83A1-F6EECF244321}">
                <p14:modId xmlns:p14="http://schemas.microsoft.com/office/powerpoint/2010/main" val="4190981176"/>
              </p:ext>
            </p:extLst>
          </p:nvPr>
        </p:nvGraphicFramePr>
        <p:xfrm>
          <a:off x="957943" y="1171575"/>
          <a:ext cx="10464683" cy="506144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60611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altLang="hu-HU" sz="2400" b="1" dirty="0">
                <a:solidFill>
                  <a:schemeClr val="tx1">
                    <a:lumMod val="95000"/>
                    <a:lumOff val="5000"/>
                  </a:schemeClr>
                </a:solidFill>
                <a:ea typeface="+mn-ea"/>
                <a:cs typeface="Arial" panose="020B0604020202020204" pitchFamily="34" charset="0"/>
              </a:rPr>
              <a:t>Az általános felvételi adatok változásai az elmúlt 10 évben</a:t>
            </a:r>
            <a:br>
              <a:rPr lang="hu-HU" altLang="hu-HU" sz="2800" b="1" dirty="0">
                <a:solidFill>
                  <a:schemeClr val="tx1">
                    <a:lumMod val="95000"/>
                    <a:lumOff val="5000"/>
                  </a:schemeClr>
                </a:solidFill>
                <a:ea typeface="+mn-ea"/>
                <a:cs typeface="Arial" panose="020B0604020202020204" pitchFamily="34" charset="0"/>
              </a:rPr>
            </a:br>
            <a:r>
              <a:rPr lang="hu-HU" altLang="hu-HU" sz="1400" b="1" dirty="0">
                <a:solidFill>
                  <a:schemeClr val="tx1">
                    <a:lumMod val="95000"/>
                    <a:lumOff val="5000"/>
                  </a:schemeClr>
                </a:solidFill>
                <a:ea typeface="+mn-ea"/>
                <a:cs typeface="Arial" panose="020B0604020202020204" pitchFamily="34" charset="0"/>
              </a:rPr>
              <a:t>(a 6 évfolyamos gimnáziumba jelentkezők körében)</a:t>
            </a:r>
            <a:endParaRPr lang="hu-HU" sz="2400"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13</a:t>
            </a:fld>
            <a:endParaRPr lang="hu-HU" sz="800" dirty="0"/>
          </a:p>
        </p:txBody>
      </p:sp>
      <p:graphicFrame>
        <p:nvGraphicFramePr>
          <p:cNvPr id="10" name="Tartalom helye 4"/>
          <p:cNvGraphicFramePr>
            <a:graphicFrameLocks noGrp="1"/>
          </p:cNvGraphicFramePr>
          <p:nvPr>
            <p:ph idx="1"/>
            <p:extLst>
              <p:ext uri="{D42A27DB-BD31-4B8C-83A1-F6EECF244321}">
                <p14:modId xmlns:p14="http://schemas.microsoft.com/office/powerpoint/2010/main" val="3661351648"/>
              </p:ext>
            </p:extLst>
          </p:nvPr>
        </p:nvGraphicFramePr>
        <p:xfrm>
          <a:off x="838200" y="1393825"/>
          <a:ext cx="10380406" cy="484758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95312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altLang="hu-HU" sz="2400" b="1" dirty="0">
                <a:solidFill>
                  <a:schemeClr val="tx1">
                    <a:lumMod val="95000"/>
                    <a:lumOff val="5000"/>
                  </a:schemeClr>
                </a:solidFill>
              </a:rPr>
              <a:t>Az általános felvételi adatok változásai az elmúlt 10 évben</a:t>
            </a:r>
            <a:br>
              <a:rPr lang="hu-HU" altLang="hu-HU" sz="2400" b="1" dirty="0">
                <a:solidFill>
                  <a:schemeClr val="tx1">
                    <a:lumMod val="95000"/>
                    <a:lumOff val="5000"/>
                  </a:schemeClr>
                </a:solidFill>
              </a:rPr>
            </a:br>
            <a:r>
              <a:rPr lang="hu-HU" altLang="hu-HU" sz="1400" b="1" dirty="0">
                <a:solidFill>
                  <a:schemeClr val="tx1">
                    <a:lumMod val="95000"/>
                    <a:lumOff val="5000"/>
                  </a:schemeClr>
                </a:solidFill>
              </a:rPr>
              <a:t>(a 8 évfolyamos gimnáziumba jelentkezők körében)</a:t>
            </a:r>
            <a:endParaRPr lang="hu-HU" sz="2400"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14</a:t>
            </a:fld>
            <a:endParaRPr lang="hu-HU" sz="800" dirty="0"/>
          </a:p>
        </p:txBody>
      </p:sp>
      <p:graphicFrame>
        <p:nvGraphicFramePr>
          <p:cNvPr id="7" name="Tartalom helye 3"/>
          <p:cNvGraphicFramePr>
            <a:graphicFrameLocks noGrp="1"/>
          </p:cNvGraphicFramePr>
          <p:nvPr>
            <p:ph idx="1"/>
            <p:extLst>
              <p:ext uri="{D42A27DB-BD31-4B8C-83A1-F6EECF244321}">
                <p14:modId xmlns:p14="http://schemas.microsoft.com/office/powerpoint/2010/main" val="557655736"/>
              </p:ext>
            </p:extLst>
          </p:nvPr>
        </p:nvGraphicFramePr>
        <p:xfrm>
          <a:off x="838200" y="1371599"/>
          <a:ext cx="10515600" cy="48865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2148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altLang="hu-HU" sz="2400" b="1" dirty="0">
                <a:solidFill>
                  <a:schemeClr val="tx1">
                    <a:lumMod val="95000"/>
                    <a:lumOff val="5000"/>
                  </a:schemeClr>
                </a:solidFill>
                <a:ea typeface="+mn-ea"/>
                <a:cs typeface="Arial" panose="020B0604020202020204" pitchFamily="34" charset="0"/>
              </a:rPr>
              <a:t>A 9. évfolyamra jelentkezők továbbtanulási szándéka </a:t>
            </a:r>
            <a:br>
              <a:rPr lang="hu-HU" altLang="hu-HU" sz="2400" b="1" dirty="0">
                <a:solidFill>
                  <a:schemeClr val="tx1">
                    <a:lumMod val="95000"/>
                    <a:lumOff val="5000"/>
                  </a:schemeClr>
                </a:solidFill>
                <a:ea typeface="+mn-ea"/>
                <a:cs typeface="Arial" panose="020B0604020202020204" pitchFamily="34" charset="0"/>
              </a:rPr>
            </a:br>
            <a:r>
              <a:rPr lang="hu-HU" altLang="hu-HU" sz="2400" b="1" dirty="0">
                <a:solidFill>
                  <a:schemeClr val="tx1">
                    <a:lumMod val="95000"/>
                    <a:lumOff val="5000"/>
                  </a:schemeClr>
                </a:solidFill>
                <a:ea typeface="+mn-ea"/>
                <a:cs typeface="Arial" panose="020B0604020202020204" pitchFamily="34" charset="0"/>
              </a:rPr>
              <a:t>az elmúlt 10</a:t>
            </a:r>
            <a:r>
              <a:rPr lang="hu-HU" altLang="hu-HU" sz="1600" b="1" dirty="0">
                <a:solidFill>
                  <a:schemeClr val="tx1">
                    <a:lumMod val="95000"/>
                    <a:lumOff val="5000"/>
                  </a:schemeClr>
                </a:solidFill>
                <a:ea typeface="+mn-ea"/>
                <a:cs typeface="Arial" panose="020B0604020202020204" pitchFamily="34" charset="0"/>
              </a:rPr>
              <a:t> </a:t>
            </a:r>
            <a:r>
              <a:rPr lang="hu-HU" altLang="hu-HU" sz="2400" b="1" dirty="0">
                <a:solidFill>
                  <a:schemeClr val="tx1">
                    <a:lumMod val="95000"/>
                    <a:lumOff val="5000"/>
                  </a:schemeClr>
                </a:solidFill>
                <a:ea typeface="+mn-ea"/>
                <a:cs typeface="Arial" panose="020B0604020202020204" pitchFamily="34" charset="0"/>
              </a:rPr>
              <a:t>évben</a:t>
            </a:r>
            <a:br>
              <a:rPr lang="hu-HU" altLang="hu-HU" sz="2400" b="1" dirty="0">
                <a:solidFill>
                  <a:schemeClr val="tx1">
                    <a:lumMod val="95000"/>
                    <a:lumOff val="5000"/>
                  </a:schemeClr>
                </a:solidFill>
                <a:ea typeface="+mn-ea"/>
                <a:cs typeface="Arial" panose="020B0604020202020204" pitchFamily="34" charset="0"/>
              </a:rPr>
            </a:br>
            <a:r>
              <a:rPr lang="hu-HU" altLang="hu-HU" sz="1600" b="1" dirty="0">
                <a:solidFill>
                  <a:schemeClr val="tx1">
                    <a:lumMod val="95000"/>
                    <a:lumOff val="5000"/>
                  </a:schemeClr>
                </a:solidFill>
                <a:ea typeface="+mn-ea"/>
                <a:cs typeface="Arial" panose="020B0604020202020204" pitchFamily="34" charset="0"/>
              </a:rPr>
              <a:t>(az első helyen benyújtott tanulói jelentkezések alapján)</a:t>
            </a:r>
            <a:endParaRPr lang="hu-HU" sz="2400"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15</a:t>
            </a:fld>
            <a:endParaRPr lang="hu-HU" sz="800" dirty="0"/>
          </a:p>
        </p:txBody>
      </p:sp>
      <p:graphicFrame>
        <p:nvGraphicFramePr>
          <p:cNvPr id="9" name="Diagram 8"/>
          <p:cNvGraphicFramePr>
            <a:graphicFrameLocks/>
          </p:cNvGraphicFramePr>
          <p:nvPr>
            <p:extLst>
              <p:ext uri="{D42A27DB-BD31-4B8C-83A1-F6EECF244321}">
                <p14:modId xmlns:p14="http://schemas.microsoft.com/office/powerpoint/2010/main" val="1810112387"/>
              </p:ext>
            </p:extLst>
          </p:nvPr>
        </p:nvGraphicFramePr>
        <p:xfrm>
          <a:off x="632097" y="1099751"/>
          <a:ext cx="11084912" cy="531340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30000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altLang="hu-HU" sz="2400" b="1" dirty="0">
                <a:solidFill>
                  <a:schemeClr val="tx1">
                    <a:lumMod val="95000"/>
                    <a:lumOff val="5000"/>
                  </a:schemeClr>
                </a:solidFill>
              </a:rPr>
              <a:t>A 9. évfolyamra felvételt nyertek aránya az elmúlt 10 évben</a:t>
            </a:r>
            <a:endParaRPr lang="hu-HU" sz="2400"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16</a:t>
            </a:fld>
            <a:endParaRPr lang="hu-HU" sz="800" dirty="0"/>
          </a:p>
        </p:txBody>
      </p:sp>
      <p:graphicFrame>
        <p:nvGraphicFramePr>
          <p:cNvPr id="8" name="Diagram 7"/>
          <p:cNvGraphicFramePr>
            <a:graphicFrameLocks/>
          </p:cNvGraphicFramePr>
          <p:nvPr>
            <p:extLst>
              <p:ext uri="{D42A27DB-BD31-4B8C-83A1-F6EECF244321}">
                <p14:modId xmlns:p14="http://schemas.microsoft.com/office/powerpoint/2010/main" val="2864564831"/>
              </p:ext>
            </p:extLst>
          </p:nvPr>
        </p:nvGraphicFramePr>
        <p:xfrm>
          <a:off x="630194" y="1153611"/>
          <a:ext cx="10873947" cy="531415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25821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altLang="hu-HU" sz="2400" b="1" dirty="0">
                <a:solidFill>
                  <a:schemeClr val="tx1">
                    <a:lumMod val="95000"/>
                    <a:lumOff val="5000"/>
                  </a:schemeClr>
                </a:solidFill>
              </a:rPr>
              <a:t>Az általános felvételi eljárásban felvett tanulók számának változásai az elmúlt 10 évben</a:t>
            </a:r>
            <a:endParaRPr lang="hu-HU" sz="2400"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17</a:t>
            </a:fld>
            <a:endParaRPr lang="hu-HU" sz="800" dirty="0"/>
          </a:p>
        </p:txBody>
      </p:sp>
      <p:graphicFrame>
        <p:nvGraphicFramePr>
          <p:cNvPr id="7" name="Diagram 6"/>
          <p:cNvGraphicFramePr/>
          <p:nvPr>
            <p:extLst>
              <p:ext uri="{D42A27DB-BD31-4B8C-83A1-F6EECF244321}">
                <p14:modId xmlns:p14="http://schemas.microsoft.com/office/powerpoint/2010/main" val="355265152"/>
              </p:ext>
            </p:extLst>
          </p:nvPr>
        </p:nvGraphicFramePr>
        <p:xfrm>
          <a:off x="645952" y="1115736"/>
          <a:ext cx="10914077" cy="518439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6030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altLang="hu-HU" sz="2400" b="1" dirty="0"/>
              <a:t>A 9. évfolyamra történő beiskolázás </a:t>
            </a:r>
            <a:br>
              <a:rPr lang="hu-HU" altLang="hu-HU" sz="2400" b="1" dirty="0"/>
            </a:br>
            <a:r>
              <a:rPr lang="hu-HU" altLang="hu-HU" sz="2400" b="1" dirty="0"/>
              <a:t>néhány számadata</a:t>
            </a:r>
            <a:endParaRPr lang="hu-HU" sz="2400" dirty="0"/>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18</a:t>
            </a:fld>
            <a:endParaRPr lang="hu-HU" sz="800" dirty="0"/>
          </a:p>
        </p:txBody>
      </p:sp>
      <p:sp>
        <p:nvSpPr>
          <p:cNvPr id="7" name="Rectangle 5"/>
          <p:cNvSpPr>
            <a:spLocks noGrp="1" noChangeArrowheads="1"/>
          </p:cNvSpPr>
          <p:nvPr>
            <p:ph idx="1"/>
          </p:nvPr>
        </p:nvSpPr>
        <p:spPr bwMode="auto">
          <a:xfrm>
            <a:off x="616974" y="1351054"/>
            <a:ext cx="10886768" cy="4881966"/>
          </a:xfrm>
          <a:prstGeom prst="rect">
            <a:avLst/>
          </a:prstGeom>
          <a:noFill/>
          <a:ln w="9525">
            <a:noFill/>
            <a:miter lim="800000"/>
          </a:ln>
        </p:spPr>
        <p:txBody>
          <a:bodyPr>
            <a:noAutofit/>
          </a:bodyPr>
          <a:lstStyle/>
          <a:p>
            <a:pPr marL="342900" indent="-342900">
              <a:spcBef>
                <a:spcPts val="600"/>
              </a:spcBef>
              <a:spcAft>
                <a:spcPts val="600"/>
              </a:spcAft>
              <a:buFontTx/>
              <a:buChar char="•"/>
            </a:pPr>
            <a:r>
              <a:rPr lang="hu-HU" altLang="hu-HU" sz="2000" b="1" dirty="0"/>
              <a:t>a jelentkezést leadó tanulók </a:t>
            </a:r>
            <a:r>
              <a:rPr lang="hu-HU" altLang="hu-HU" sz="2000" b="1" dirty="0">
                <a:solidFill>
                  <a:schemeClr val="tx1">
                    <a:lumMod val="95000"/>
                    <a:lumOff val="5000"/>
                  </a:schemeClr>
                </a:solidFill>
              </a:rPr>
              <a:t>száma </a:t>
            </a:r>
            <a:r>
              <a:rPr lang="hu-HU" altLang="hu-HU" sz="2000" b="1" dirty="0"/>
              <a:t>76 198 fő </a:t>
            </a:r>
            <a:br>
              <a:rPr lang="hu-HU" altLang="hu-HU" sz="2000" b="1" dirty="0"/>
            </a:br>
            <a:r>
              <a:rPr lang="hu-HU" altLang="hu-HU" sz="2000" dirty="0"/>
              <a:t>(az előző tanévben 74 926 fő), akik közül </a:t>
            </a:r>
            <a:r>
              <a:rPr lang="hu-HU" altLang="hu-HU" dirty="0"/>
              <a:t>18 627</a:t>
            </a:r>
            <a:r>
              <a:rPr lang="hu-HU" altLang="hu-HU" sz="2000" dirty="0"/>
              <a:t>-en (a jelentkezők 24,45%-a) éltek a módosítás lehetőségével</a:t>
            </a:r>
          </a:p>
          <a:p>
            <a:pPr marL="342900" indent="-342900" algn="just">
              <a:spcBef>
                <a:spcPts val="600"/>
              </a:spcBef>
              <a:spcAft>
                <a:spcPts val="600"/>
              </a:spcAft>
              <a:buFontTx/>
              <a:buChar char="•"/>
            </a:pPr>
            <a:r>
              <a:rPr lang="hu-HU" altLang="hu-HU" sz="2000" b="1" dirty="0"/>
              <a:t>a diákok 98,23%-át felvették az általános felvételi eljárásban </a:t>
            </a:r>
            <a:r>
              <a:rPr lang="hu-HU" altLang="hu-HU" sz="2000" dirty="0"/>
              <a:t>(74 852 tanuló)</a:t>
            </a:r>
          </a:p>
          <a:p>
            <a:pPr marL="342900" indent="-342900" algn="just">
              <a:spcBef>
                <a:spcPts val="600"/>
              </a:spcBef>
              <a:spcAft>
                <a:spcPts val="600"/>
              </a:spcAft>
              <a:buFontTx/>
              <a:buChar char="•"/>
            </a:pPr>
            <a:r>
              <a:rPr lang="hu-HU" altLang="hu-HU" sz="2000" b="1" dirty="0"/>
              <a:t>a felvételiző diákok 77,77%-át az általuk elsőnek jelölt tanulmányi területre vették fel</a:t>
            </a:r>
          </a:p>
          <a:p>
            <a:pPr marL="342900" indent="-342900" algn="just">
              <a:spcBef>
                <a:spcPts val="600"/>
              </a:spcBef>
              <a:spcAft>
                <a:spcPts val="600"/>
              </a:spcAft>
              <a:buFontTx/>
              <a:buChar char="•"/>
            </a:pPr>
            <a:r>
              <a:rPr lang="hu-HU" altLang="hu-HU" sz="2000" b="1" dirty="0"/>
              <a:t>a felvételiző diákok 93,21%-át az általuk első három helyre jelölt tanulmányi terület valamelyikére vették fel</a:t>
            </a:r>
          </a:p>
          <a:p>
            <a:pPr marL="342900" indent="-342900" algn="just">
              <a:spcBef>
                <a:spcPts val="600"/>
              </a:spcBef>
              <a:spcAft>
                <a:spcPts val="600"/>
              </a:spcAft>
              <a:buFontTx/>
              <a:buChar char="•"/>
            </a:pPr>
            <a:r>
              <a:rPr lang="hu-HU" altLang="hu-HU" sz="2000" dirty="0"/>
              <a:t>az ekkor kimaradók részére (1 346 tanuló) bőségesen elegendő üres hely maradt a középfokú intézményekben, amelyekre a rendkívüli felvételi eljárás során felvételt nyerhetnek.</a:t>
            </a:r>
          </a:p>
        </p:txBody>
      </p:sp>
    </p:spTree>
    <p:extLst>
      <p:ext uri="{BB962C8B-B14F-4D97-AF65-F5344CB8AC3E}">
        <p14:creationId xmlns:p14="http://schemas.microsoft.com/office/powerpoint/2010/main" val="1320624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altLang="hu-HU" sz="2400" b="1" dirty="0">
                <a:solidFill>
                  <a:schemeClr val="tx1">
                    <a:lumMod val="95000"/>
                    <a:lumOff val="5000"/>
                  </a:schemeClr>
                </a:solidFill>
              </a:rPr>
              <a:t>A felvételek aránya a 9. évfolyamra a tanulók szándéka szerint az általános felvételi eljárásban</a:t>
            </a:r>
            <a:endParaRPr lang="hu-HU" sz="2400"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19</a:t>
            </a:fld>
            <a:endParaRPr lang="hu-HU" sz="800" dirty="0"/>
          </a:p>
        </p:txBody>
      </p:sp>
      <p:graphicFrame>
        <p:nvGraphicFramePr>
          <p:cNvPr id="8" name="Tartalom helye 4"/>
          <p:cNvGraphicFramePr>
            <a:graphicFrameLocks noGrp="1"/>
          </p:cNvGraphicFramePr>
          <p:nvPr>
            <p:ph idx="1"/>
            <p:extLst>
              <p:ext uri="{D42A27DB-BD31-4B8C-83A1-F6EECF244321}">
                <p14:modId xmlns:p14="http://schemas.microsoft.com/office/powerpoint/2010/main" val="2482590206"/>
              </p:ext>
            </p:extLst>
          </p:nvPr>
        </p:nvGraphicFramePr>
        <p:xfrm>
          <a:off x="755008" y="1436915"/>
          <a:ext cx="10515599" cy="453604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58386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sz="2400" b="1" dirty="0">
                <a:ea typeface="+mn-ea"/>
                <a:cs typeface="Times New Roman" panose="02020603050405020304" pitchFamily="18" charset="0"/>
              </a:rPr>
              <a:t>Felvétel a nyelvi előkészítő évfolyamokra </a:t>
            </a:r>
            <a:br>
              <a:rPr lang="hu-HU" sz="2400" b="1" dirty="0">
                <a:ea typeface="+mn-ea"/>
                <a:cs typeface="Times New Roman" panose="02020603050405020304" pitchFamily="18" charset="0"/>
              </a:rPr>
            </a:br>
            <a:r>
              <a:rPr lang="hu-HU" sz="2400" b="1" dirty="0">
                <a:ea typeface="+mn-ea"/>
                <a:cs typeface="Times New Roman" panose="02020603050405020304" pitchFamily="18" charset="0"/>
              </a:rPr>
              <a:t>az általános felvételi eljárásban</a:t>
            </a:r>
            <a:endParaRPr lang="hu-HU" sz="2400" dirty="0"/>
          </a:p>
        </p:txBody>
      </p:sp>
      <p:sp>
        <p:nvSpPr>
          <p:cNvPr id="5" name="Téglalap 4"/>
          <p:cNvSpPr/>
          <p:nvPr/>
        </p:nvSpPr>
        <p:spPr>
          <a:xfrm>
            <a:off x="4738103" y="6518756"/>
            <a:ext cx="2872902"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20</a:t>
            </a:fld>
            <a:endParaRPr lang="hu-HU" sz="800" dirty="0"/>
          </a:p>
        </p:txBody>
      </p:sp>
      <p:sp>
        <p:nvSpPr>
          <p:cNvPr id="7" name="Rectangle 8"/>
          <p:cNvSpPr>
            <a:spLocks noChangeArrowheads="1"/>
          </p:cNvSpPr>
          <p:nvPr/>
        </p:nvSpPr>
        <p:spPr bwMode="auto">
          <a:xfrm>
            <a:off x="1416173" y="1186486"/>
            <a:ext cx="9516759" cy="261610"/>
          </a:xfrm>
          <a:prstGeom prst="rect">
            <a:avLst/>
          </a:prstGeom>
          <a:noFill/>
          <a:ln w="9525">
            <a:noFill/>
            <a:miter lim="800000"/>
          </a:ln>
        </p:spPr>
        <p:txBody>
          <a:bodyPr wrap="square" lIns="108000" rIns="144000">
            <a:spAutoFit/>
          </a:bodyPr>
          <a:lstStyle/>
          <a:p>
            <a:pPr algn="just" eaLnBrk="0" fontAlgn="base" hangingPunct="0">
              <a:spcBef>
                <a:spcPct val="0"/>
              </a:spcBef>
              <a:spcAft>
                <a:spcPct val="0"/>
              </a:spcAft>
              <a:defRPr/>
            </a:pPr>
            <a:r>
              <a:rPr lang="hu-HU" sz="1100" dirty="0">
                <a:cs typeface="Arial" panose="020B0604020202020204" pitchFamily="34" charset="0"/>
              </a:rPr>
              <a:t>Nyelvi előkészítő tanulmányi területet (is) megjelölt 30052 </a:t>
            </a:r>
            <a:r>
              <a:rPr lang="hu-HU" sz="1100" dirty="0">
                <a:solidFill>
                  <a:schemeClr val="tx1">
                    <a:lumMod val="95000"/>
                    <a:lumOff val="5000"/>
                  </a:schemeClr>
                </a:solidFill>
                <a:cs typeface="Arial" panose="020B0604020202020204" pitchFamily="34" charset="0"/>
              </a:rPr>
              <a:t>tanuló, és közülük </a:t>
            </a:r>
            <a:r>
              <a:rPr lang="hu-HU" sz="1100" dirty="0">
                <a:cs typeface="Arial" panose="020B0604020202020204" pitchFamily="34" charset="0"/>
              </a:rPr>
              <a:t>7940 </a:t>
            </a:r>
            <a:r>
              <a:rPr lang="hu-HU" sz="1100" dirty="0">
                <a:solidFill>
                  <a:schemeClr val="tx1">
                    <a:lumMod val="95000"/>
                    <a:lumOff val="5000"/>
                  </a:schemeClr>
                </a:solidFill>
                <a:cs typeface="Arial" panose="020B0604020202020204" pitchFamily="34" charset="0"/>
              </a:rPr>
              <a:t>tanulót vettek </a:t>
            </a:r>
            <a:r>
              <a:rPr lang="hu-HU" sz="1100" dirty="0">
                <a:cs typeface="Arial" panose="020B0604020202020204" pitchFamily="34" charset="0"/>
              </a:rPr>
              <a:t>fel ilyen tanulmányi területre. </a:t>
            </a:r>
          </a:p>
        </p:txBody>
      </p:sp>
      <p:graphicFrame>
        <p:nvGraphicFramePr>
          <p:cNvPr id="8" name="Táblázat 7"/>
          <p:cNvGraphicFramePr>
            <a:graphicFrameLocks noGrp="1"/>
          </p:cNvGraphicFramePr>
          <p:nvPr>
            <p:extLst>
              <p:ext uri="{D42A27DB-BD31-4B8C-83A1-F6EECF244321}">
                <p14:modId xmlns:p14="http://schemas.microsoft.com/office/powerpoint/2010/main" val="3744573815"/>
              </p:ext>
            </p:extLst>
          </p:nvPr>
        </p:nvGraphicFramePr>
        <p:xfrm>
          <a:off x="1440000" y="1632762"/>
          <a:ext cx="9516759" cy="3383855"/>
        </p:xfrm>
        <a:graphic>
          <a:graphicData uri="http://schemas.openxmlformats.org/drawingml/2006/table">
            <a:tbl>
              <a:tblPr firstRow="1" bandRow="1">
                <a:tableStyleId>{69C7853C-536D-4A76-A0AE-DD22124D55A5}</a:tableStyleId>
              </a:tblPr>
              <a:tblGrid>
                <a:gridCol w="2300867">
                  <a:extLst>
                    <a:ext uri="{9D8B030D-6E8A-4147-A177-3AD203B41FA5}">
                      <a16:colId xmlns:a16="http://schemas.microsoft.com/office/drawing/2014/main" val="20000"/>
                    </a:ext>
                  </a:extLst>
                </a:gridCol>
                <a:gridCol w="1505836">
                  <a:extLst>
                    <a:ext uri="{9D8B030D-6E8A-4147-A177-3AD203B41FA5}">
                      <a16:colId xmlns:a16="http://schemas.microsoft.com/office/drawing/2014/main" val="20001"/>
                    </a:ext>
                  </a:extLst>
                </a:gridCol>
                <a:gridCol w="1903352">
                  <a:extLst>
                    <a:ext uri="{9D8B030D-6E8A-4147-A177-3AD203B41FA5}">
                      <a16:colId xmlns:a16="http://schemas.microsoft.com/office/drawing/2014/main" val="20002"/>
                    </a:ext>
                  </a:extLst>
                </a:gridCol>
                <a:gridCol w="1903352">
                  <a:extLst>
                    <a:ext uri="{9D8B030D-6E8A-4147-A177-3AD203B41FA5}">
                      <a16:colId xmlns:a16="http://schemas.microsoft.com/office/drawing/2014/main" val="20003"/>
                    </a:ext>
                  </a:extLst>
                </a:gridCol>
                <a:gridCol w="1903352">
                  <a:extLst>
                    <a:ext uri="{9D8B030D-6E8A-4147-A177-3AD203B41FA5}">
                      <a16:colId xmlns:a16="http://schemas.microsoft.com/office/drawing/2014/main" val="20004"/>
                    </a:ext>
                  </a:extLst>
                </a:gridCol>
              </a:tblGrid>
              <a:tr h="690988">
                <a:tc>
                  <a:txBody>
                    <a:bodyPr/>
                    <a:lstStyle>
                      <a:lvl1pPr marL="0" algn="l" defTabSz="914400" rtl="0" eaLnBrk="1" latinLnBrk="0" hangingPunct="1">
                        <a:defRPr sz="1800" b="1" kern="1200">
                          <a:solidFill>
                            <a:schemeClr val="lt1"/>
                          </a:solidFill>
                          <a:latin typeface="Times New Roman" panose="02020603050405020304"/>
                        </a:defRPr>
                      </a:lvl1pPr>
                      <a:lvl2pPr marL="457200" algn="l" defTabSz="914400" rtl="0" eaLnBrk="1" latinLnBrk="0" hangingPunct="1">
                        <a:defRPr sz="1800" b="1" kern="1200">
                          <a:solidFill>
                            <a:schemeClr val="lt1"/>
                          </a:solidFill>
                          <a:latin typeface="Times New Roman" panose="02020603050405020304"/>
                        </a:defRPr>
                      </a:lvl2pPr>
                      <a:lvl3pPr marL="914400" algn="l" defTabSz="914400" rtl="0" eaLnBrk="1" latinLnBrk="0" hangingPunct="1">
                        <a:defRPr sz="1800" b="1" kern="1200">
                          <a:solidFill>
                            <a:schemeClr val="lt1"/>
                          </a:solidFill>
                          <a:latin typeface="Times New Roman" panose="02020603050405020304"/>
                        </a:defRPr>
                      </a:lvl3pPr>
                      <a:lvl4pPr marL="1371600" algn="l" defTabSz="914400" rtl="0" eaLnBrk="1" latinLnBrk="0" hangingPunct="1">
                        <a:defRPr sz="1800" b="1" kern="1200">
                          <a:solidFill>
                            <a:schemeClr val="lt1"/>
                          </a:solidFill>
                          <a:latin typeface="Times New Roman" panose="02020603050405020304"/>
                        </a:defRPr>
                      </a:lvl4pPr>
                      <a:lvl5pPr marL="1828800" algn="l" defTabSz="914400" rtl="0" eaLnBrk="1" latinLnBrk="0" hangingPunct="1">
                        <a:defRPr sz="1800" b="1" kern="1200">
                          <a:solidFill>
                            <a:schemeClr val="lt1"/>
                          </a:solidFill>
                          <a:latin typeface="Times New Roman" panose="02020603050405020304"/>
                        </a:defRPr>
                      </a:lvl5pPr>
                      <a:lvl6pPr marL="2286000" algn="l" defTabSz="914400" rtl="0" eaLnBrk="1" latinLnBrk="0" hangingPunct="1">
                        <a:defRPr sz="1800" b="1" kern="1200">
                          <a:solidFill>
                            <a:schemeClr val="lt1"/>
                          </a:solidFill>
                          <a:latin typeface="Times New Roman" panose="02020603050405020304"/>
                        </a:defRPr>
                      </a:lvl6pPr>
                      <a:lvl7pPr marL="2743200" algn="l" defTabSz="914400" rtl="0" eaLnBrk="1" latinLnBrk="0" hangingPunct="1">
                        <a:defRPr sz="1800" b="1" kern="1200">
                          <a:solidFill>
                            <a:schemeClr val="lt1"/>
                          </a:solidFill>
                          <a:latin typeface="Times New Roman" panose="02020603050405020304"/>
                        </a:defRPr>
                      </a:lvl7pPr>
                      <a:lvl8pPr marL="3200400" algn="l" defTabSz="914400" rtl="0" eaLnBrk="1" latinLnBrk="0" hangingPunct="1">
                        <a:defRPr sz="1800" b="1" kern="1200">
                          <a:solidFill>
                            <a:schemeClr val="lt1"/>
                          </a:solidFill>
                          <a:latin typeface="Times New Roman" panose="02020603050405020304"/>
                        </a:defRPr>
                      </a:lvl8pPr>
                      <a:lvl9pPr marL="3657600" algn="l" defTabSz="914400" rtl="0" eaLnBrk="1" latinLnBrk="0" hangingPunct="1">
                        <a:defRPr sz="1800" b="1" kern="1200">
                          <a:solidFill>
                            <a:schemeClr val="lt1"/>
                          </a:solidFill>
                          <a:latin typeface="Times New Roman" panose="02020603050405020304"/>
                        </a:defRPr>
                      </a:lvl9pPr>
                    </a:lstStyle>
                    <a:p>
                      <a:pPr algn="ctr"/>
                      <a:r>
                        <a:rPr lang="hu-HU" sz="1200" dirty="0">
                          <a:solidFill>
                            <a:schemeClr val="tx1"/>
                          </a:solidFill>
                          <a:latin typeface="+mn-lt"/>
                        </a:rPr>
                        <a:t>Képzéstípus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lvl1pPr marL="0" algn="l" defTabSz="914400" rtl="0" eaLnBrk="1" latinLnBrk="0" hangingPunct="1">
                        <a:defRPr sz="1800" b="1" kern="1200">
                          <a:solidFill>
                            <a:schemeClr val="lt1"/>
                          </a:solidFill>
                          <a:latin typeface="Times New Roman" panose="02020603050405020304"/>
                        </a:defRPr>
                      </a:lvl1pPr>
                      <a:lvl2pPr marL="457200" algn="l" defTabSz="914400" rtl="0" eaLnBrk="1" latinLnBrk="0" hangingPunct="1">
                        <a:defRPr sz="1800" b="1" kern="1200">
                          <a:solidFill>
                            <a:schemeClr val="lt1"/>
                          </a:solidFill>
                          <a:latin typeface="Times New Roman" panose="02020603050405020304"/>
                        </a:defRPr>
                      </a:lvl2pPr>
                      <a:lvl3pPr marL="914400" algn="l" defTabSz="914400" rtl="0" eaLnBrk="1" latinLnBrk="0" hangingPunct="1">
                        <a:defRPr sz="1800" b="1" kern="1200">
                          <a:solidFill>
                            <a:schemeClr val="lt1"/>
                          </a:solidFill>
                          <a:latin typeface="Times New Roman" panose="02020603050405020304"/>
                        </a:defRPr>
                      </a:lvl3pPr>
                      <a:lvl4pPr marL="1371600" algn="l" defTabSz="914400" rtl="0" eaLnBrk="1" latinLnBrk="0" hangingPunct="1">
                        <a:defRPr sz="1800" b="1" kern="1200">
                          <a:solidFill>
                            <a:schemeClr val="lt1"/>
                          </a:solidFill>
                          <a:latin typeface="Times New Roman" panose="02020603050405020304"/>
                        </a:defRPr>
                      </a:lvl4pPr>
                      <a:lvl5pPr marL="1828800" algn="l" defTabSz="914400" rtl="0" eaLnBrk="1" latinLnBrk="0" hangingPunct="1">
                        <a:defRPr sz="1800" b="1" kern="1200">
                          <a:solidFill>
                            <a:schemeClr val="lt1"/>
                          </a:solidFill>
                          <a:latin typeface="Times New Roman" panose="02020603050405020304"/>
                        </a:defRPr>
                      </a:lvl5pPr>
                      <a:lvl6pPr marL="2286000" algn="l" defTabSz="914400" rtl="0" eaLnBrk="1" latinLnBrk="0" hangingPunct="1">
                        <a:defRPr sz="1800" b="1" kern="1200">
                          <a:solidFill>
                            <a:schemeClr val="lt1"/>
                          </a:solidFill>
                          <a:latin typeface="Times New Roman" panose="02020603050405020304"/>
                        </a:defRPr>
                      </a:lvl6pPr>
                      <a:lvl7pPr marL="2743200" algn="l" defTabSz="914400" rtl="0" eaLnBrk="1" latinLnBrk="0" hangingPunct="1">
                        <a:defRPr sz="1800" b="1" kern="1200">
                          <a:solidFill>
                            <a:schemeClr val="lt1"/>
                          </a:solidFill>
                          <a:latin typeface="Times New Roman" panose="02020603050405020304"/>
                        </a:defRPr>
                      </a:lvl7pPr>
                      <a:lvl8pPr marL="3200400" algn="l" defTabSz="914400" rtl="0" eaLnBrk="1" latinLnBrk="0" hangingPunct="1">
                        <a:defRPr sz="1800" b="1" kern="1200">
                          <a:solidFill>
                            <a:schemeClr val="lt1"/>
                          </a:solidFill>
                          <a:latin typeface="Times New Roman" panose="02020603050405020304"/>
                        </a:defRPr>
                      </a:lvl8pPr>
                      <a:lvl9pPr marL="3657600" algn="l" defTabSz="914400" rtl="0" eaLnBrk="1" latinLnBrk="0" hangingPunct="1">
                        <a:defRPr sz="1800" b="1" kern="1200">
                          <a:solidFill>
                            <a:schemeClr val="lt1"/>
                          </a:solidFill>
                          <a:latin typeface="Times New Roman" panose="02020603050405020304"/>
                        </a:defRPr>
                      </a:lvl9pPr>
                    </a:lstStyle>
                    <a:p>
                      <a:pPr algn="ctr"/>
                      <a:r>
                        <a:rPr lang="hu-HU" sz="1200" dirty="0">
                          <a:solidFill>
                            <a:schemeClr val="tx1"/>
                          </a:solidFill>
                          <a:latin typeface="+mn-lt"/>
                        </a:rPr>
                        <a:t>Intézmények száma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lvl1pPr marL="0" algn="l" defTabSz="914400" rtl="0" eaLnBrk="1" latinLnBrk="0" hangingPunct="1">
                        <a:defRPr sz="1800" b="1" kern="1200">
                          <a:solidFill>
                            <a:schemeClr val="lt1"/>
                          </a:solidFill>
                          <a:latin typeface="Times New Roman" panose="02020603050405020304"/>
                        </a:defRPr>
                      </a:lvl1pPr>
                      <a:lvl2pPr marL="457200" algn="l" defTabSz="914400" rtl="0" eaLnBrk="1" latinLnBrk="0" hangingPunct="1">
                        <a:defRPr sz="1800" b="1" kern="1200">
                          <a:solidFill>
                            <a:schemeClr val="lt1"/>
                          </a:solidFill>
                          <a:latin typeface="Times New Roman" panose="02020603050405020304"/>
                        </a:defRPr>
                      </a:lvl2pPr>
                      <a:lvl3pPr marL="914400" algn="l" defTabSz="914400" rtl="0" eaLnBrk="1" latinLnBrk="0" hangingPunct="1">
                        <a:defRPr sz="1800" b="1" kern="1200">
                          <a:solidFill>
                            <a:schemeClr val="lt1"/>
                          </a:solidFill>
                          <a:latin typeface="Times New Roman" panose="02020603050405020304"/>
                        </a:defRPr>
                      </a:lvl3pPr>
                      <a:lvl4pPr marL="1371600" algn="l" defTabSz="914400" rtl="0" eaLnBrk="1" latinLnBrk="0" hangingPunct="1">
                        <a:defRPr sz="1800" b="1" kern="1200">
                          <a:solidFill>
                            <a:schemeClr val="lt1"/>
                          </a:solidFill>
                          <a:latin typeface="Times New Roman" panose="02020603050405020304"/>
                        </a:defRPr>
                      </a:lvl4pPr>
                      <a:lvl5pPr marL="1828800" algn="l" defTabSz="914400" rtl="0" eaLnBrk="1" latinLnBrk="0" hangingPunct="1">
                        <a:defRPr sz="1800" b="1" kern="1200">
                          <a:solidFill>
                            <a:schemeClr val="lt1"/>
                          </a:solidFill>
                          <a:latin typeface="Times New Roman" panose="02020603050405020304"/>
                        </a:defRPr>
                      </a:lvl5pPr>
                      <a:lvl6pPr marL="2286000" algn="l" defTabSz="914400" rtl="0" eaLnBrk="1" latinLnBrk="0" hangingPunct="1">
                        <a:defRPr sz="1800" b="1" kern="1200">
                          <a:solidFill>
                            <a:schemeClr val="lt1"/>
                          </a:solidFill>
                          <a:latin typeface="Times New Roman" panose="02020603050405020304"/>
                        </a:defRPr>
                      </a:lvl6pPr>
                      <a:lvl7pPr marL="2743200" algn="l" defTabSz="914400" rtl="0" eaLnBrk="1" latinLnBrk="0" hangingPunct="1">
                        <a:defRPr sz="1800" b="1" kern="1200">
                          <a:solidFill>
                            <a:schemeClr val="lt1"/>
                          </a:solidFill>
                          <a:latin typeface="Times New Roman" panose="02020603050405020304"/>
                        </a:defRPr>
                      </a:lvl7pPr>
                      <a:lvl8pPr marL="3200400" algn="l" defTabSz="914400" rtl="0" eaLnBrk="1" latinLnBrk="0" hangingPunct="1">
                        <a:defRPr sz="1800" b="1" kern="1200">
                          <a:solidFill>
                            <a:schemeClr val="lt1"/>
                          </a:solidFill>
                          <a:latin typeface="Times New Roman" panose="02020603050405020304"/>
                        </a:defRPr>
                      </a:lvl8pPr>
                      <a:lvl9pPr marL="3657600" algn="l" defTabSz="914400" rtl="0" eaLnBrk="1" latinLnBrk="0" hangingPunct="1">
                        <a:defRPr sz="1800" b="1" kern="1200">
                          <a:solidFill>
                            <a:schemeClr val="lt1"/>
                          </a:solidFill>
                          <a:latin typeface="Times New Roman" panose="02020603050405020304"/>
                        </a:defRPr>
                      </a:lvl9pPr>
                    </a:lstStyle>
                    <a:p>
                      <a:pPr algn="ctr"/>
                      <a:r>
                        <a:rPr lang="hu-HU" sz="1200" dirty="0">
                          <a:solidFill>
                            <a:schemeClr val="tx1"/>
                          </a:solidFill>
                          <a:latin typeface="+mn-lt"/>
                        </a:rPr>
                        <a:t>Feladatellátási helyek száma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lvl1pPr marL="0" algn="l" defTabSz="914400" rtl="0" eaLnBrk="1" latinLnBrk="0" hangingPunct="1">
                        <a:defRPr sz="1800" b="1" kern="1200">
                          <a:solidFill>
                            <a:schemeClr val="lt1"/>
                          </a:solidFill>
                          <a:latin typeface="Times New Roman" panose="02020603050405020304"/>
                        </a:defRPr>
                      </a:lvl1pPr>
                      <a:lvl2pPr marL="457200" algn="l" defTabSz="914400" rtl="0" eaLnBrk="1" latinLnBrk="0" hangingPunct="1">
                        <a:defRPr sz="1800" b="1" kern="1200">
                          <a:solidFill>
                            <a:schemeClr val="lt1"/>
                          </a:solidFill>
                          <a:latin typeface="Times New Roman" panose="02020603050405020304"/>
                        </a:defRPr>
                      </a:lvl2pPr>
                      <a:lvl3pPr marL="914400" algn="l" defTabSz="914400" rtl="0" eaLnBrk="1" latinLnBrk="0" hangingPunct="1">
                        <a:defRPr sz="1800" b="1" kern="1200">
                          <a:solidFill>
                            <a:schemeClr val="lt1"/>
                          </a:solidFill>
                          <a:latin typeface="Times New Roman" panose="02020603050405020304"/>
                        </a:defRPr>
                      </a:lvl3pPr>
                      <a:lvl4pPr marL="1371600" algn="l" defTabSz="914400" rtl="0" eaLnBrk="1" latinLnBrk="0" hangingPunct="1">
                        <a:defRPr sz="1800" b="1" kern="1200">
                          <a:solidFill>
                            <a:schemeClr val="lt1"/>
                          </a:solidFill>
                          <a:latin typeface="Times New Roman" panose="02020603050405020304"/>
                        </a:defRPr>
                      </a:lvl4pPr>
                      <a:lvl5pPr marL="1828800" algn="l" defTabSz="914400" rtl="0" eaLnBrk="1" latinLnBrk="0" hangingPunct="1">
                        <a:defRPr sz="1800" b="1" kern="1200">
                          <a:solidFill>
                            <a:schemeClr val="lt1"/>
                          </a:solidFill>
                          <a:latin typeface="Times New Roman" panose="02020603050405020304"/>
                        </a:defRPr>
                      </a:lvl5pPr>
                      <a:lvl6pPr marL="2286000" algn="l" defTabSz="914400" rtl="0" eaLnBrk="1" latinLnBrk="0" hangingPunct="1">
                        <a:defRPr sz="1800" b="1" kern="1200">
                          <a:solidFill>
                            <a:schemeClr val="lt1"/>
                          </a:solidFill>
                          <a:latin typeface="Times New Roman" panose="02020603050405020304"/>
                        </a:defRPr>
                      </a:lvl6pPr>
                      <a:lvl7pPr marL="2743200" algn="l" defTabSz="914400" rtl="0" eaLnBrk="1" latinLnBrk="0" hangingPunct="1">
                        <a:defRPr sz="1800" b="1" kern="1200">
                          <a:solidFill>
                            <a:schemeClr val="lt1"/>
                          </a:solidFill>
                          <a:latin typeface="Times New Roman" panose="02020603050405020304"/>
                        </a:defRPr>
                      </a:lvl7pPr>
                      <a:lvl8pPr marL="3200400" algn="l" defTabSz="914400" rtl="0" eaLnBrk="1" latinLnBrk="0" hangingPunct="1">
                        <a:defRPr sz="1800" b="1" kern="1200">
                          <a:solidFill>
                            <a:schemeClr val="lt1"/>
                          </a:solidFill>
                          <a:latin typeface="Times New Roman" panose="02020603050405020304"/>
                        </a:defRPr>
                      </a:lvl8pPr>
                      <a:lvl9pPr marL="3657600" algn="l" defTabSz="914400" rtl="0" eaLnBrk="1" latinLnBrk="0" hangingPunct="1">
                        <a:defRPr sz="1800" b="1" kern="1200">
                          <a:solidFill>
                            <a:schemeClr val="lt1"/>
                          </a:solidFill>
                          <a:latin typeface="Times New Roman" panose="02020603050405020304"/>
                        </a:defRPr>
                      </a:lvl9pPr>
                    </a:lstStyle>
                    <a:p>
                      <a:pPr algn="ctr"/>
                      <a:r>
                        <a:rPr lang="hu-HU" sz="1200" dirty="0">
                          <a:solidFill>
                            <a:schemeClr val="tx1"/>
                          </a:solidFill>
                          <a:latin typeface="+mn-lt"/>
                        </a:rPr>
                        <a:t>Tanulmányi területek</a:t>
                      </a:r>
                      <a:r>
                        <a:rPr lang="hu-HU" sz="1200" baseline="0" dirty="0">
                          <a:solidFill>
                            <a:schemeClr val="tx1"/>
                          </a:solidFill>
                          <a:latin typeface="+mn-lt"/>
                        </a:rPr>
                        <a:t> száma</a:t>
                      </a:r>
                      <a:endParaRPr lang="hu-HU" sz="12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lvl1pPr marL="0" algn="l" defTabSz="914400" rtl="0" eaLnBrk="1" latinLnBrk="0" hangingPunct="1">
                        <a:defRPr sz="1800" b="1" kern="1200">
                          <a:solidFill>
                            <a:schemeClr val="lt1"/>
                          </a:solidFill>
                          <a:latin typeface="Times New Roman" panose="02020603050405020304"/>
                        </a:defRPr>
                      </a:lvl1pPr>
                      <a:lvl2pPr marL="457200" algn="l" defTabSz="914400" rtl="0" eaLnBrk="1" latinLnBrk="0" hangingPunct="1">
                        <a:defRPr sz="1800" b="1" kern="1200">
                          <a:solidFill>
                            <a:schemeClr val="lt1"/>
                          </a:solidFill>
                          <a:latin typeface="Times New Roman" panose="02020603050405020304"/>
                        </a:defRPr>
                      </a:lvl2pPr>
                      <a:lvl3pPr marL="914400" algn="l" defTabSz="914400" rtl="0" eaLnBrk="1" latinLnBrk="0" hangingPunct="1">
                        <a:defRPr sz="1800" b="1" kern="1200">
                          <a:solidFill>
                            <a:schemeClr val="lt1"/>
                          </a:solidFill>
                          <a:latin typeface="Times New Roman" panose="02020603050405020304"/>
                        </a:defRPr>
                      </a:lvl3pPr>
                      <a:lvl4pPr marL="1371600" algn="l" defTabSz="914400" rtl="0" eaLnBrk="1" latinLnBrk="0" hangingPunct="1">
                        <a:defRPr sz="1800" b="1" kern="1200">
                          <a:solidFill>
                            <a:schemeClr val="lt1"/>
                          </a:solidFill>
                          <a:latin typeface="Times New Roman" panose="02020603050405020304"/>
                        </a:defRPr>
                      </a:lvl4pPr>
                      <a:lvl5pPr marL="1828800" algn="l" defTabSz="914400" rtl="0" eaLnBrk="1" latinLnBrk="0" hangingPunct="1">
                        <a:defRPr sz="1800" b="1" kern="1200">
                          <a:solidFill>
                            <a:schemeClr val="lt1"/>
                          </a:solidFill>
                          <a:latin typeface="Times New Roman" panose="02020603050405020304"/>
                        </a:defRPr>
                      </a:lvl5pPr>
                      <a:lvl6pPr marL="2286000" algn="l" defTabSz="914400" rtl="0" eaLnBrk="1" latinLnBrk="0" hangingPunct="1">
                        <a:defRPr sz="1800" b="1" kern="1200">
                          <a:solidFill>
                            <a:schemeClr val="lt1"/>
                          </a:solidFill>
                          <a:latin typeface="Times New Roman" panose="02020603050405020304"/>
                        </a:defRPr>
                      </a:lvl6pPr>
                      <a:lvl7pPr marL="2743200" algn="l" defTabSz="914400" rtl="0" eaLnBrk="1" latinLnBrk="0" hangingPunct="1">
                        <a:defRPr sz="1800" b="1" kern="1200">
                          <a:solidFill>
                            <a:schemeClr val="lt1"/>
                          </a:solidFill>
                          <a:latin typeface="Times New Roman" panose="02020603050405020304"/>
                        </a:defRPr>
                      </a:lvl7pPr>
                      <a:lvl8pPr marL="3200400" algn="l" defTabSz="914400" rtl="0" eaLnBrk="1" latinLnBrk="0" hangingPunct="1">
                        <a:defRPr sz="1800" b="1" kern="1200">
                          <a:solidFill>
                            <a:schemeClr val="lt1"/>
                          </a:solidFill>
                          <a:latin typeface="Times New Roman" panose="02020603050405020304"/>
                        </a:defRPr>
                      </a:lvl8pPr>
                      <a:lvl9pPr marL="3657600" algn="l" defTabSz="914400" rtl="0" eaLnBrk="1" latinLnBrk="0" hangingPunct="1">
                        <a:defRPr sz="1800" b="1" kern="1200">
                          <a:solidFill>
                            <a:schemeClr val="lt1"/>
                          </a:solidFill>
                          <a:latin typeface="Times New Roman" panose="02020603050405020304"/>
                        </a:defRPr>
                      </a:lvl9pPr>
                    </a:lstStyle>
                    <a:p>
                      <a:pPr algn="ctr"/>
                      <a:r>
                        <a:rPr lang="hu-HU" sz="1200" dirty="0">
                          <a:solidFill>
                            <a:schemeClr val="tx1"/>
                          </a:solidFill>
                          <a:latin typeface="+mn-lt"/>
                        </a:rPr>
                        <a:t>Felvett tanulók száma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681407">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l"/>
                      <a:r>
                        <a:rPr lang="hu-HU" sz="1200" b="1" dirty="0">
                          <a:latin typeface="+mn-lt"/>
                        </a:rPr>
                        <a:t>4 (vagy 5) évfolyamos gimnázium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rPr>
                        <a:t>167</a:t>
                      </a:r>
                      <a:endParaRPr lang="hu-HU" sz="1200" b="0" strike="noStrike" kern="1200" dirty="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rPr>
                        <a:t>168</a:t>
                      </a:r>
                      <a:endParaRPr lang="hu-HU" sz="1200" b="0" strike="noStrike" kern="1200" dirty="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rPr>
                        <a:t>302</a:t>
                      </a:r>
                      <a:endParaRPr lang="hu-HU" sz="1200" b="0" strike="noStrike" kern="1200" dirty="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rPr>
                        <a:t>5 928</a:t>
                      </a:r>
                      <a:endParaRPr lang="hu-HU" sz="1200" b="0" strike="noStrike" kern="1200" dirty="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extLst>
                  <a:ext uri="{0D108BD9-81ED-4DB2-BD59-A6C34878D82A}">
                    <a16:rowId xmlns:a16="http://schemas.microsoft.com/office/drawing/2014/main" val="10001"/>
                  </a:ext>
                </a:extLst>
              </a:tr>
              <a:tr h="527788">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l"/>
                      <a:r>
                        <a:rPr lang="hu-HU" sz="1200" b="1" kern="1200" dirty="0">
                          <a:solidFill>
                            <a:schemeClr val="dk1"/>
                          </a:solidFill>
                          <a:latin typeface="+mn-lt"/>
                          <a:ea typeface="+mn-ea"/>
                          <a:cs typeface="+mn-cs"/>
                        </a:rPr>
                        <a:t>Technikum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rPr>
                        <a:t>50</a:t>
                      </a:r>
                      <a:r>
                        <a:rPr lang="hu-HU" sz="1200" b="0" strike="sngStrike" kern="1200" dirty="0">
                          <a:solidFill>
                            <a:srgbClr val="FF0000"/>
                          </a:solidFill>
                          <a:latin typeface="+mn-lt"/>
                        </a:rPr>
                        <a:t> </a:t>
                      </a:r>
                      <a:endParaRPr lang="hu-HU" sz="1200" b="0" strike="sngStrike" kern="1200" dirty="0">
                        <a:solidFill>
                          <a:srgbClr val="FF0000"/>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rPr>
                        <a:t>50</a:t>
                      </a:r>
                      <a:endParaRPr lang="hu-HU" sz="1200" b="0" strike="noStrike" kern="1200" dirty="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rPr>
                        <a:t>89</a:t>
                      </a:r>
                      <a:endParaRPr lang="hu-HU" sz="1200" b="0" strike="noStrike" kern="1200" dirty="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ea typeface="+mn-ea"/>
                          <a:cs typeface="+mn-cs"/>
                        </a:rPr>
                        <a:t>1 772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27788">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l"/>
                      <a:r>
                        <a:rPr lang="hu-HU" sz="1200" b="1" dirty="0">
                          <a:latin typeface="+mn-lt"/>
                        </a:rPr>
                        <a:t>6 évfolyamos gimnázium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ea typeface="+mn-ea"/>
                          <a:cs typeface="+mn-cs"/>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ea typeface="+mn-ea"/>
                          <a:cs typeface="+mn-cs"/>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rPr>
                        <a:t>8</a:t>
                      </a:r>
                      <a:endParaRPr lang="hu-HU" sz="1200" b="0" strike="noStrike" kern="1200" dirty="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ea typeface="+mn-ea"/>
                          <a:cs typeface="+mn-cs"/>
                        </a:rPr>
                        <a:t>184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extLst>
                  <a:ext uri="{0D108BD9-81ED-4DB2-BD59-A6C34878D82A}">
                    <a16:rowId xmlns:a16="http://schemas.microsoft.com/office/drawing/2014/main" val="10003"/>
                  </a:ext>
                </a:extLst>
              </a:tr>
              <a:tr h="527788">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l"/>
                      <a:r>
                        <a:rPr lang="hu-HU" sz="1200" b="1" dirty="0">
                          <a:latin typeface="+mn-lt"/>
                        </a:rPr>
                        <a:t>8 évfolyamos gimnázium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rPr>
                        <a:t>2</a:t>
                      </a:r>
                      <a:endParaRPr lang="hu-HU" sz="1200" b="0" strike="noStrike" kern="1200" dirty="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ea typeface="+mn-ea"/>
                          <a:cs typeface="+mn-cs"/>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rPr>
                        <a:t>4</a:t>
                      </a:r>
                      <a:endParaRPr lang="hu-HU" sz="1200" b="0" strike="noStrike" kern="1200" dirty="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fontAlgn="b"/>
                      <a:r>
                        <a:rPr lang="hu-HU" sz="1200" b="0" strike="noStrike" kern="1200" dirty="0">
                          <a:solidFill>
                            <a:schemeClr val="tx1"/>
                          </a:solidFill>
                          <a:latin typeface="+mn-lt"/>
                        </a:rPr>
                        <a:t>56</a:t>
                      </a:r>
                      <a:endParaRPr lang="hu-HU" sz="1200" b="0" strike="noStrike" kern="1200" dirty="0">
                        <a:solidFill>
                          <a:schemeClr val="tx1"/>
                        </a:solidFill>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8096">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l"/>
                      <a:r>
                        <a:rPr lang="hu-HU" sz="1200" b="1" kern="1200" dirty="0">
                          <a:latin typeface="+mn-lt"/>
                        </a:rPr>
                        <a:t>Összesen</a:t>
                      </a:r>
                      <a:endParaRPr lang="hu-HU" sz="1200" b="1" kern="1200" dirty="0">
                        <a:solidFill>
                          <a:schemeClr val="lt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a:r>
                        <a:rPr lang="hu-HU" sz="1200" b="0" strike="noStrike" kern="1200" dirty="0">
                          <a:solidFill>
                            <a:schemeClr val="tx1"/>
                          </a:solidFill>
                          <a:latin typeface="+mn-lt"/>
                          <a:ea typeface="+mn-ea"/>
                          <a:cs typeface="+mn-cs"/>
                        </a:rPr>
                        <a:t>218*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a:r>
                        <a:rPr lang="hu-HU" sz="1200" b="0" strike="noStrike" kern="1200" dirty="0">
                          <a:solidFill>
                            <a:schemeClr val="tx1"/>
                          </a:solidFill>
                          <a:latin typeface="+mn-lt"/>
                        </a:rPr>
                        <a:t>219*</a:t>
                      </a:r>
                      <a:endParaRPr lang="hu-HU" sz="1200" b="0" strike="noStrike"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a:r>
                        <a:rPr lang="hu-HU" sz="1200" b="0" strike="noStrike" kern="1200" dirty="0">
                          <a:solidFill>
                            <a:schemeClr val="tx1"/>
                          </a:solidFill>
                          <a:latin typeface="+mn-lt"/>
                        </a:rPr>
                        <a:t>403</a:t>
                      </a:r>
                      <a:endParaRPr lang="hu-HU" sz="1200" b="0" strike="sngStrike" kern="1200" dirty="0">
                        <a:solidFill>
                          <a:srgbClr val="FF0000"/>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tc>
                  <a:txBody>
                    <a:bodyPr/>
                    <a:lstStyle>
                      <a:lvl1pPr marL="0" algn="l" defTabSz="914400" rtl="0" eaLnBrk="1" latinLnBrk="0" hangingPunct="1">
                        <a:defRPr sz="1800" kern="1200">
                          <a:solidFill>
                            <a:schemeClr val="dk1"/>
                          </a:solidFill>
                          <a:latin typeface="Times New Roman" panose="02020603050405020304"/>
                        </a:defRPr>
                      </a:lvl1pPr>
                      <a:lvl2pPr marL="457200" algn="l" defTabSz="914400" rtl="0" eaLnBrk="1" latinLnBrk="0" hangingPunct="1">
                        <a:defRPr sz="1800" kern="1200">
                          <a:solidFill>
                            <a:schemeClr val="dk1"/>
                          </a:solidFill>
                          <a:latin typeface="Times New Roman" panose="02020603050405020304"/>
                        </a:defRPr>
                      </a:lvl2pPr>
                      <a:lvl3pPr marL="914400" algn="l" defTabSz="914400" rtl="0" eaLnBrk="1" latinLnBrk="0" hangingPunct="1">
                        <a:defRPr sz="1800" kern="1200">
                          <a:solidFill>
                            <a:schemeClr val="dk1"/>
                          </a:solidFill>
                          <a:latin typeface="Times New Roman" panose="02020603050405020304"/>
                        </a:defRPr>
                      </a:lvl3pPr>
                      <a:lvl4pPr marL="1371600" algn="l" defTabSz="914400" rtl="0" eaLnBrk="1" latinLnBrk="0" hangingPunct="1">
                        <a:defRPr sz="1800" kern="1200">
                          <a:solidFill>
                            <a:schemeClr val="dk1"/>
                          </a:solidFill>
                          <a:latin typeface="Times New Roman" panose="02020603050405020304"/>
                        </a:defRPr>
                      </a:lvl4pPr>
                      <a:lvl5pPr marL="1828800" algn="l" defTabSz="914400" rtl="0" eaLnBrk="1" latinLnBrk="0" hangingPunct="1">
                        <a:defRPr sz="1800" kern="1200">
                          <a:solidFill>
                            <a:schemeClr val="dk1"/>
                          </a:solidFill>
                          <a:latin typeface="Times New Roman" panose="02020603050405020304"/>
                        </a:defRPr>
                      </a:lvl5pPr>
                      <a:lvl6pPr marL="2286000" algn="l" defTabSz="914400" rtl="0" eaLnBrk="1" latinLnBrk="0" hangingPunct="1">
                        <a:defRPr sz="1800" kern="1200">
                          <a:solidFill>
                            <a:schemeClr val="dk1"/>
                          </a:solidFill>
                          <a:latin typeface="Times New Roman" panose="02020603050405020304"/>
                        </a:defRPr>
                      </a:lvl6pPr>
                      <a:lvl7pPr marL="2743200" algn="l" defTabSz="914400" rtl="0" eaLnBrk="1" latinLnBrk="0" hangingPunct="1">
                        <a:defRPr sz="1800" kern="1200">
                          <a:solidFill>
                            <a:schemeClr val="dk1"/>
                          </a:solidFill>
                          <a:latin typeface="Times New Roman" panose="02020603050405020304"/>
                        </a:defRPr>
                      </a:lvl7pPr>
                      <a:lvl8pPr marL="3200400" algn="l" defTabSz="914400" rtl="0" eaLnBrk="1" latinLnBrk="0" hangingPunct="1">
                        <a:defRPr sz="1800" kern="1200">
                          <a:solidFill>
                            <a:schemeClr val="dk1"/>
                          </a:solidFill>
                          <a:latin typeface="Times New Roman" panose="02020603050405020304"/>
                        </a:defRPr>
                      </a:lvl8pPr>
                      <a:lvl9pPr marL="3657600" algn="l" defTabSz="914400" rtl="0" eaLnBrk="1" latinLnBrk="0" hangingPunct="1">
                        <a:defRPr sz="1800" kern="1200">
                          <a:solidFill>
                            <a:schemeClr val="dk1"/>
                          </a:solidFill>
                          <a:latin typeface="Times New Roman" panose="02020603050405020304"/>
                        </a:defRPr>
                      </a:lvl9pPr>
                    </a:lstStyle>
                    <a:p>
                      <a:pPr algn="ctr"/>
                      <a:r>
                        <a:rPr lang="hu-HU" sz="1200" b="0" strike="noStrike" kern="1200" dirty="0">
                          <a:solidFill>
                            <a:schemeClr val="tx1"/>
                          </a:solidFill>
                          <a:latin typeface="+mn-lt"/>
                        </a:rPr>
                        <a:t>7 940</a:t>
                      </a:r>
                      <a:endParaRPr lang="hu-HU" sz="1200" b="0" strike="noStrike"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alpha val="40000"/>
                      </a:schemeClr>
                    </a:solidFill>
                  </a:tcPr>
                </a:tc>
                <a:extLst>
                  <a:ext uri="{0D108BD9-81ED-4DB2-BD59-A6C34878D82A}">
                    <a16:rowId xmlns:a16="http://schemas.microsoft.com/office/drawing/2014/main" val="10005"/>
                  </a:ext>
                </a:extLst>
              </a:tr>
            </a:tbl>
          </a:graphicData>
        </a:graphic>
      </p:graphicFrame>
      <p:sp>
        <p:nvSpPr>
          <p:cNvPr id="9" name="Rectangle 8"/>
          <p:cNvSpPr>
            <a:spLocks noChangeArrowheads="1"/>
          </p:cNvSpPr>
          <p:nvPr/>
        </p:nvSpPr>
        <p:spPr bwMode="auto">
          <a:xfrm>
            <a:off x="1416172" y="5317571"/>
            <a:ext cx="9640518" cy="707886"/>
          </a:xfrm>
          <a:prstGeom prst="rect">
            <a:avLst/>
          </a:prstGeom>
          <a:noFill/>
          <a:ln w="9525">
            <a:noFill/>
            <a:miter lim="800000"/>
          </a:ln>
        </p:spPr>
        <p:txBody>
          <a:bodyPr wrap="square" lIns="108000" rIns="144000">
            <a:spAutoFit/>
          </a:bodyPr>
          <a:lstStyle/>
          <a:p>
            <a:pPr algn="just" eaLnBrk="0" fontAlgn="base" hangingPunct="0">
              <a:spcBef>
                <a:spcPct val="0"/>
              </a:spcBef>
              <a:spcAft>
                <a:spcPct val="0"/>
              </a:spcAft>
              <a:defRPr/>
            </a:pPr>
            <a:r>
              <a:rPr lang="hu-HU" sz="1000" dirty="0">
                <a:cs typeface="Arial" panose="020B0604020202020204" pitchFamily="34" charset="0"/>
              </a:rPr>
              <a:t>A nyolcadik évfolyamosok </a:t>
            </a:r>
            <a:r>
              <a:rPr lang="hu-HU" sz="1000" dirty="0">
                <a:solidFill>
                  <a:schemeClr val="tx1">
                    <a:lumMod val="95000"/>
                    <a:lumOff val="5000"/>
                  </a:schemeClr>
                </a:solidFill>
                <a:cs typeface="Arial" panose="020B0604020202020204" pitchFamily="34" charset="0"/>
              </a:rPr>
              <a:t>közül </a:t>
            </a:r>
            <a:r>
              <a:rPr lang="hu-HU" sz="1000" dirty="0">
                <a:cs typeface="Arial" panose="020B0604020202020204" pitchFamily="34" charset="0"/>
              </a:rPr>
              <a:t>28 956-an </a:t>
            </a:r>
            <a:r>
              <a:rPr lang="hu-HU" sz="1000" dirty="0">
                <a:solidFill>
                  <a:schemeClr val="tx1">
                    <a:lumMod val="95000"/>
                    <a:lumOff val="5000"/>
                  </a:schemeClr>
                </a:solidFill>
                <a:cs typeface="Arial" panose="020B0604020202020204" pitchFamily="34" charset="0"/>
              </a:rPr>
              <a:t>jelöltek meg nyelvi előkészítő évfolyammal induló képzést, amiből </a:t>
            </a:r>
            <a:r>
              <a:rPr lang="hu-HU" sz="1000" dirty="0">
                <a:cs typeface="Arial" panose="020B0604020202020204" pitchFamily="34" charset="0"/>
              </a:rPr>
              <a:t>7 700 tanuló </a:t>
            </a:r>
            <a:r>
              <a:rPr lang="hu-HU" sz="1000" dirty="0">
                <a:solidFill>
                  <a:schemeClr val="tx1">
                    <a:lumMod val="95000"/>
                    <a:lumOff val="5000"/>
                  </a:schemeClr>
                </a:solidFill>
                <a:cs typeface="Arial" panose="020B0604020202020204" pitchFamily="34" charset="0"/>
              </a:rPr>
              <a:t>került be ilyen képzésre, ez az általános felvételi eljárásban felvettek </a:t>
            </a:r>
            <a:r>
              <a:rPr lang="hu-HU" sz="1000" dirty="0">
                <a:cs typeface="Arial" panose="020B0604020202020204" pitchFamily="34" charset="0"/>
              </a:rPr>
              <a:t>10,29%-a</a:t>
            </a:r>
            <a:r>
              <a:rPr lang="hu-HU" sz="1000" dirty="0">
                <a:solidFill>
                  <a:schemeClr val="tx1">
                    <a:lumMod val="95000"/>
                    <a:lumOff val="5000"/>
                  </a:schemeClr>
                </a:solidFill>
                <a:cs typeface="Arial" panose="020B0604020202020204" pitchFamily="34" charset="0"/>
              </a:rPr>
              <a:t>.</a:t>
            </a:r>
          </a:p>
          <a:p>
            <a:pPr algn="just" eaLnBrk="0" fontAlgn="base" hangingPunct="0">
              <a:spcBef>
                <a:spcPct val="0"/>
              </a:spcBef>
              <a:spcAft>
                <a:spcPct val="0"/>
              </a:spcAft>
              <a:defRPr/>
            </a:pPr>
            <a:r>
              <a:rPr lang="hu-HU" sz="1000" dirty="0">
                <a:solidFill>
                  <a:schemeClr val="tx1">
                    <a:lumMod val="95000"/>
                    <a:lumOff val="5000"/>
                  </a:schemeClr>
                </a:solidFill>
                <a:cs typeface="Arial" panose="020B0604020202020204" pitchFamily="34" charset="0"/>
              </a:rPr>
              <a:t>A hatodik évfolyamosok közül </a:t>
            </a:r>
            <a:r>
              <a:rPr lang="hu-HU" sz="1000" dirty="0">
                <a:cs typeface="Arial" panose="020B0604020202020204" pitchFamily="34" charset="0"/>
              </a:rPr>
              <a:t>1017-en</a:t>
            </a:r>
            <a:r>
              <a:rPr lang="hu-HU" sz="1000" dirty="0">
                <a:solidFill>
                  <a:schemeClr val="tx1">
                    <a:lumMod val="95000"/>
                    <a:lumOff val="5000"/>
                  </a:schemeClr>
                </a:solidFill>
                <a:cs typeface="Arial" panose="020B0604020202020204" pitchFamily="34" charset="0"/>
              </a:rPr>
              <a:t>, a negyedik évfolyamosok közül pedig 79-en jelöltek </a:t>
            </a:r>
            <a:r>
              <a:rPr lang="hu-HU" sz="1000" dirty="0">
                <a:cs typeface="Arial" panose="020B0604020202020204" pitchFamily="34" charset="0"/>
              </a:rPr>
              <a:t>meg nyelvi előkészítő évfolyammal induló képzést.</a:t>
            </a:r>
          </a:p>
          <a:p>
            <a:pPr algn="just" eaLnBrk="0" fontAlgn="base" hangingPunct="0">
              <a:spcBef>
                <a:spcPct val="0"/>
              </a:spcBef>
              <a:spcAft>
                <a:spcPct val="0"/>
              </a:spcAft>
              <a:defRPr/>
            </a:pPr>
            <a:r>
              <a:rPr lang="hu-HU" altLang="hu-HU" sz="1000" dirty="0">
                <a:cs typeface="Arial" panose="020B0604020202020204" pitchFamily="34" charset="0"/>
              </a:rPr>
              <a:t>* Egy-egy iskola többféle képzéstípusban is hirdetett felvételit</a:t>
            </a:r>
            <a:endParaRPr lang="hu-HU" sz="1000" dirty="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altLang="hu-HU" sz="2400" b="1" dirty="0">
                <a:solidFill>
                  <a:schemeClr val="tx1">
                    <a:lumMod val="95000"/>
                    <a:lumOff val="5000"/>
                  </a:schemeClr>
                </a:solidFill>
              </a:rPr>
              <a:t>Férőhelyek a 2026/2027-es tanévre</a:t>
            </a:r>
            <a:endParaRPr lang="hu-HU" sz="2400"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21</a:t>
            </a:fld>
            <a:endParaRPr lang="hu-HU" sz="800" dirty="0"/>
          </a:p>
        </p:txBody>
      </p:sp>
      <p:graphicFrame>
        <p:nvGraphicFramePr>
          <p:cNvPr id="7" name="Diagram 6"/>
          <p:cNvGraphicFramePr/>
          <p:nvPr>
            <p:extLst>
              <p:ext uri="{D42A27DB-BD31-4B8C-83A1-F6EECF244321}">
                <p14:modId xmlns:p14="http://schemas.microsoft.com/office/powerpoint/2010/main" val="2670832265"/>
              </p:ext>
            </p:extLst>
          </p:nvPr>
        </p:nvGraphicFramePr>
        <p:xfrm>
          <a:off x="1012247" y="992778"/>
          <a:ext cx="4632425" cy="253419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Diagram 7"/>
          <p:cNvGraphicFramePr/>
          <p:nvPr>
            <p:extLst>
              <p:ext uri="{D42A27DB-BD31-4B8C-83A1-F6EECF244321}">
                <p14:modId xmlns:p14="http://schemas.microsoft.com/office/powerpoint/2010/main" val="2640429976"/>
              </p:ext>
            </p:extLst>
          </p:nvPr>
        </p:nvGraphicFramePr>
        <p:xfrm>
          <a:off x="1012247" y="3526971"/>
          <a:ext cx="4632425" cy="240188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Diagram 8"/>
          <p:cNvGraphicFramePr/>
          <p:nvPr>
            <p:extLst>
              <p:ext uri="{D42A27DB-BD31-4B8C-83A1-F6EECF244321}">
                <p14:modId xmlns:p14="http://schemas.microsoft.com/office/powerpoint/2010/main" val="3417745109"/>
              </p:ext>
            </p:extLst>
          </p:nvPr>
        </p:nvGraphicFramePr>
        <p:xfrm>
          <a:off x="5721530" y="992777"/>
          <a:ext cx="5693721" cy="49360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40148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altLang="hu-HU" sz="2400" b="1" dirty="0">
                <a:solidFill>
                  <a:schemeClr val="tx1">
                    <a:lumMod val="95000"/>
                    <a:lumOff val="5000"/>
                  </a:schemeClr>
                </a:solidFill>
                <a:ea typeface="+mn-ea"/>
                <a:cs typeface="Arial" panose="020B0604020202020204" pitchFamily="34" charset="0"/>
              </a:rPr>
              <a:t>A felvett tanulók megoszlása tanulmányi területek szerint a szakgimnáziumokban</a:t>
            </a:r>
            <a:endParaRPr lang="hu-HU" sz="2400"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22</a:t>
            </a:fld>
            <a:endParaRPr lang="hu-HU" sz="800" dirty="0"/>
          </a:p>
        </p:txBody>
      </p:sp>
      <p:graphicFrame>
        <p:nvGraphicFramePr>
          <p:cNvPr id="7" name="Tartalom helye 4"/>
          <p:cNvGraphicFramePr>
            <a:graphicFrameLocks noGrp="1"/>
          </p:cNvGraphicFramePr>
          <p:nvPr>
            <p:ph idx="1"/>
            <p:extLst>
              <p:ext uri="{D42A27DB-BD31-4B8C-83A1-F6EECF244321}">
                <p14:modId xmlns:p14="http://schemas.microsoft.com/office/powerpoint/2010/main" val="3821285183"/>
              </p:ext>
            </p:extLst>
          </p:nvPr>
        </p:nvGraphicFramePr>
        <p:xfrm>
          <a:off x="838200" y="1238866"/>
          <a:ext cx="10515600" cy="495220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22602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p:cNvSpPr>
            <a:spLocks noGrp="1"/>
          </p:cNvSpPr>
          <p:nvPr>
            <p:ph type="title"/>
          </p:nvPr>
        </p:nvSpPr>
        <p:spPr/>
        <p:txBody>
          <a:bodyPr/>
          <a:lstStyle/>
          <a:p>
            <a:pPr algn="ctr">
              <a:lnSpc>
                <a:spcPct val="80000"/>
              </a:lnSpc>
              <a:spcAft>
                <a:spcPts val="300"/>
              </a:spcAft>
            </a:pPr>
            <a:r>
              <a:rPr lang="hu-HU" sz="2400" b="1" dirty="0">
                <a:solidFill>
                  <a:schemeClr val="tx1">
                    <a:lumMod val="95000"/>
                    <a:lumOff val="5000"/>
                  </a:schemeClr>
                </a:solidFill>
                <a:ea typeface="+mn-ea"/>
                <a:cs typeface="Arial" panose="020B0604020202020204" pitchFamily="34" charset="0"/>
              </a:rPr>
              <a:t>A 10 legkeresettebb szakképesítés a szakgimnáziumokban</a:t>
            </a:r>
            <a:br>
              <a:rPr lang="hu-HU" sz="2400" b="1" dirty="0">
                <a:solidFill>
                  <a:schemeClr val="tx1">
                    <a:lumMod val="95000"/>
                    <a:lumOff val="5000"/>
                  </a:schemeClr>
                </a:solidFill>
                <a:ea typeface="+mn-ea"/>
                <a:cs typeface="Arial" panose="020B0604020202020204" pitchFamily="34" charset="0"/>
              </a:rPr>
            </a:br>
            <a:r>
              <a:rPr lang="hu-HU" sz="1200" b="1" dirty="0">
                <a:solidFill>
                  <a:schemeClr val="tx1">
                    <a:lumMod val="95000"/>
                    <a:lumOff val="5000"/>
                  </a:schemeClr>
                </a:solidFill>
                <a:ea typeface="+mn-ea"/>
                <a:cs typeface="Arial" panose="020B0604020202020204" pitchFamily="34" charset="0"/>
              </a:rPr>
              <a:t>(a felvett tanulók száma alapján)</a:t>
            </a:r>
            <a:endParaRPr lang="hu-HU" sz="2400" dirty="0">
              <a:solidFill>
                <a:schemeClr val="tx1">
                  <a:lumMod val="95000"/>
                  <a:lumOff val="5000"/>
                </a:schemeClr>
              </a:solidFill>
            </a:endParaRPr>
          </a:p>
        </p:txBody>
      </p:sp>
      <p:sp>
        <p:nvSpPr>
          <p:cNvPr id="5" name="Téglalap 4"/>
          <p:cNvSpPr/>
          <p:nvPr/>
        </p:nvSpPr>
        <p:spPr>
          <a:xfrm>
            <a:off x="4770964" y="6518756"/>
            <a:ext cx="2807179" cy="215444"/>
          </a:xfrm>
          <a:prstGeom prst="rect">
            <a:avLst/>
          </a:prstGeom>
        </p:spPr>
        <p:txBody>
          <a:bodyPr wrap="none">
            <a:spAutoFit/>
          </a:bodyPr>
          <a:lstStyle/>
          <a:p>
            <a:pPr algn="ctr"/>
            <a:r>
              <a:rPr lang="hu-HU" sz="800" dirty="0"/>
              <a:t>Középfokú felvételi eljárás a 2025/2026. tanévben</a:t>
            </a:r>
          </a:p>
        </p:txBody>
      </p:sp>
      <p:sp>
        <p:nvSpPr>
          <p:cNvPr id="6" name="Dia számának helye 2"/>
          <p:cNvSpPr txBox="1"/>
          <p:nvPr/>
        </p:nvSpPr>
        <p:spPr>
          <a:xfrm>
            <a:off x="10138955" y="6518756"/>
            <a:ext cx="1905000" cy="215444"/>
          </a:xfrm>
          <a:prstGeom prst="rect">
            <a:avLst/>
          </a:prstGeom>
        </p:spPr>
        <p:txBody>
          <a:bodyPr/>
          <a:ls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B0D24A2E-8131-4B48-A68F-1867CEC90784}" type="slidenum">
              <a:rPr lang="hu-HU" sz="800" smtClean="0"/>
              <a:t>23</a:t>
            </a:fld>
            <a:endParaRPr lang="hu-HU" sz="800" dirty="0"/>
          </a:p>
        </p:txBody>
      </p:sp>
      <p:graphicFrame>
        <p:nvGraphicFramePr>
          <p:cNvPr id="7" name="Tartalom helye 5"/>
          <p:cNvGraphicFramePr>
            <a:graphicFrameLocks noGrp="1"/>
          </p:cNvGraphicFramePr>
          <p:nvPr>
            <p:ph idx="1"/>
            <p:extLst>
              <p:ext uri="{D42A27DB-BD31-4B8C-83A1-F6EECF244321}">
                <p14:modId xmlns:p14="http://schemas.microsoft.com/office/powerpoint/2010/main" val="1723255258"/>
              </p:ext>
            </p:extLst>
          </p:nvPr>
        </p:nvGraphicFramePr>
        <p:xfrm>
          <a:off x="1045028" y="1358532"/>
          <a:ext cx="10212779" cy="4790601"/>
        </p:xfrm>
        <a:graphic>
          <a:graphicData uri="http://schemas.openxmlformats.org/drawingml/2006/table">
            <a:tbl>
              <a:tblPr firstRow="1" bandRow="1">
                <a:tableStyleId>{F5AB1C69-6EDB-4FF4-983F-18BD219EF322}</a:tableStyleId>
              </a:tblPr>
              <a:tblGrid>
                <a:gridCol w="7604016">
                  <a:extLst>
                    <a:ext uri="{9D8B030D-6E8A-4147-A177-3AD203B41FA5}">
                      <a16:colId xmlns:a16="http://schemas.microsoft.com/office/drawing/2014/main" val="20000"/>
                    </a:ext>
                  </a:extLst>
                </a:gridCol>
                <a:gridCol w="2608763">
                  <a:extLst>
                    <a:ext uri="{9D8B030D-6E8A-4147-A177-3AD203B41FA5}">
                      <a16:colId xmlns:a16="http://schemas.microsoft.com/office/drawing/2014/main" val="20001"/>
                    </a:ext>
                  </a:extLst>
                </a:gridCol>
              </a:tblGrid>
              <a:tr h="507993">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hu-HU" sz="1600" b="1" u="none" strike="noStrike" kern="1200" dirty="0">
                          <a:ln>
                            <a:solidFill>
                              <a:schemeClr val="tx1"/>
                            </a:solidFill>
                          </a:ln>
                          <a:solidFill>
                            <a:schemeClr val="tx1"/>
                          </a:solidFill>
                        </a:rPr>
                        <a:t>Szakképesítés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hu-HU" sz="1600" u="none" strike="noStrike" kern="1200" dirty="0">
                          <a:ln>
                            <a:solidFill>
                              <a:schemeClr val="tx1"/>
                            </a:solidFill>
                          </a:ln>
                          <a:solidFill>
                            <a:schemeClr val="tx1"/>
                          </a:solidFill>
                        </a:rPr>
                        <a:t>Felvettek száma (fő)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12772">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 képző- és iparművészeti munkatárs (művészeti grafikus)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382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152">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 képző- és iparművészeti munkatárs (mozgókép és animációtervező)</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138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64308">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 képző- és iparművészeti munkatárs (festő)</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100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6152">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 színész II. (színházi- és filmszínész)</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87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6152">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 képző- és iparművészeti munkatárs (divatstílus- és jelmeztervező)</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85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96152">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 táncos II. (kortárs-, modern táncos)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84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96152">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 pedagógiai munkatárs (pedagógiai asszisztens)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69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96152">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 táncos II. (színházi táncos)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65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64308">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 klasszikus zenész II. (klasszikus zenész - húros-vonós)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55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464308">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 képző- és iparművészeti munkatárs (művészeti és médiafotográfus)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hu-HU" sz="1400" b="0" i="0" u="none" strike="noStrike" kern="1200" dirty="0">
                          <a:ln>
                            <a:solidFill>
                              <a:schemeClr val="tx1"/>
                            </a:solidFill>
                          </a:ln>
                          <a:solidFill>
                            <a:schemeClr val="tx1">
                              <a:lumMod val="95000"/>
                              <a:lumOff val="5000"/>
                            </a:schemeClr>
                          </a:solidFill>
                          <a:effectLst/>
                          <a:latin typeface="+mn-lt"/>
                          <a:ea typeface="+mn-ea"/>
                          <a:cs typeface="+mn-cs"/>
                        </a:rPr>
                        <a:t>53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905683676"/>
      </p:ext>
    </p:extLst>
  </p:cSld>
  <p:clrMapOvr>
    <a:masterClrMapping/>
  </p:clrMapOvr>
</p:sld>
</file>

<file path=ppt/theme/theme1.xml><?xml version="1.0" encoding="utf-8"?>
<a:theme xmlns:a="http://schemas.openxmlformats.org/drawingml/2006/main" name="Office-téma">
  <a:themeElements>
    <a:clrScheme name="OH ppt sablon grafikonok">
      <a:dk1>
        <a:srgbClr val="000000"/>
      </a:dk1>
      <a:lt1>
        <a:sysClr val="window" lastClr="FFFFFF"/>
      </a:lt1>
      <a:dk2>
        <a:srgbClr val="1F497D"/>
      </a:dk2>
      <a:lt2>
        <a:srgbClr val="EEECE1"/>
      </a:lt2>
      <a:accent1>
        <a:srgbClr val="00AF66"/>
      </a:accent1>
      <a:accent2>
        <a:srgbClr val="8DB3E2"/>
      </a:accent2>
      <a:accent3>
        <a:srgbClr val="E9A86D"/>
      </a:accent3>
      <a:accent4>
        <a:srgbClr val="C4C914"/>
      </a:accent4>
      <a:accent5>
        <a:srgbClr val="B1B1B1"/>
      </a:accent5>
      <a:accent6>
        <a:srgbClr val="E96DAF"/>
      </a:accent6>
      <a:hlink>
        <a:srgbClr val="0000FF"/>
      </a:hlink>
      <a:folHlink>
        <a:srgbClr val="800080"/>
      </a:folHlink>
    </a:clrScheme>
    <a:fontScheme name="OH ppt sablon 2025">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ctr">
          <a:defRPr sz="800" dirty="0"/>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Alapértelmezett terv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lapértelmezett terv">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Alapértelmezett terv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lapértelmezett terv">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Alapértelmezett terv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lapértelmezett terv">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um" ma:contentTypeID="0x01010040729A8387CC9444967562CF72CBD7EA" ma:contentTypeVersion="19" ma:contentTypeDescription="Új dokumentum létrehozása." ma:contentTypeScope="" ma:versionID="1dd51228a0fe6252676addc1fabcee89">
  <xsd:schema xmlns:xsd="http://www.w3.org/2001/XMLSchema" xmlns:xs="http://www.w3.org/2001/XMLSchema" xmlns:p="http://schemas.microsoft.com/office/2006/metadata/properties" xmlns:ns2="ab1b8aac-d018-4835-828d-090ee27620a2" xmlns:ns3="adbb2f67-abd3-4dbb-8544-77e6fa028966" targetNamespace="http://schemas.microsoft.com/office/2006/metadata/properties" ma:root="true" ma:fieldsID="3bb35fad7a88f5a391335fa5bc516ac6" ns2:_="" ns3:_="">
    <xsd:import namespace="ab1b8aac-d018-4835-828d-090ee27620a2"/>
    <xsd:import namespace="adbb2f67-abd3-4dbb-8544-77e6fa028966"/>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1b8aac-d018-4835-828d-090ee27620a2" elementFormDefault="qualified">
    <xsd:import namespace="http://schemas.microsoft.com/office/2006/documentManagement/types"/>
    <xsd:import namespace="http://schemas.microsoft.com/office/infopath/2007/PartnerControls"/>
    <xsd:element name="_dlc_DocId" ma:index="8" nillable="true" ma:displayName="Dokumentumazonosító értéke" ma:description="Az elemhez rendelt dokumentumazonosító értéke." ma:internalName="_dlc_DocId" ma:readOnly="false">
      <xsd:simpleType>
        <xsd:restriction base="dms:Text"/>
      </xsd:simpleType>
    </xsd:element>
    <xsd:element name="_dlc_DocIdUrl" ma:index="9" nillable="true" ma:displayName="Dokumentumazonosító" ma:description="Állandó hivatkozás a dokumentumra." ma:format="Hyperlink" ma:hidden="true" ma:internalName="_dlc_DocId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false">
      <xsd:simpleType>
        <xsd:restriction base="dms:Boolean"/>
      </xsd:simpleType>
    </xsd:element>
    <xsd:element name="SharedWithUsers" ma:index="11" nillable="true" ma:displayName="Résztvevők"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lcf76f155ced4ddcb4097134ff3c332f" ma:index="15" nillable="true" ma:taxonomy="true" ma:internalName="lcf76f155ced4ddcb4097134ff3c332f" ma:taxonomyFieldName="MediaServiceImageTags" ma:displayName="Képcímkék" ma:readOnly="false" ma:fieldId="{5cf76f15-5ced-4ddc-b409-7134ff3c332f}" ma:taxonomyMulti="true" ma:sspId="57228ef4-d698-4394-b5da-930908513f08"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dbb2f67-abd3-4dbb-8544-77e6fa028966"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dfbf6af0-9fbb-4835-8e84-0168e1c4dc56}" ma:internalName="TaxCatchAll" ma:showField="CatchAllData" ma:web="adbb2f67-abd3-4dbb-8544-77e6fa0289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dlc_DocIdUrl xmlns="ab1b8aac-d018-4835-828d-090ee27620a2">
      <Url xsi:nil="true"/>
      <Description xsi:nil="true"/>
    </_dlc_DocIdUrl>
    <_dlc_DocIdPersistId xmlns="ab1b8aac-d018-4835-828d-090ee27620a2" xsi:nil="true"/>
    <_dlc_DocId xmlns="ab1b8aac-d018-4835-828d-090ee27620a2" xsi:nil="true"/>
    <lcf76f155ced4ddcb4097134ff3c332f xmlns="ab1b8aac-d018-4835-828d-090ee27620a2">
      <Terms xmlns="http://schemas.microsoft.com/office/infopath/2007/PartnerControls"/>
    </lcf76f155ced4ddcb4097134ff3c332f>
    <TaxCatchAll xmlns="adbb2f67-abd3-4dbb-8544-77e6fa028966" xsi:nil="true"/>
    <SharedWithUsers xmlns="ab1b8aac-d018-4835-828d-090ee27620a2">
      <UserInfo>
        <DisplayName/>
        <AccountId xsi:nil="true"/>
        <AccountType/>
      </UserInfo>
    </SharedWithUsers>
  </documentManagement>
</p:properties>
</file>

<file path=customXml/itemProps1.xml><?xml version="1.0" encoding="utf-8"?>
<ds:datastoreItem xmlns:ds="http://schemas.openxmlformats.org/officeDocument/2006/customXml" ds:itemID="{9444994C-B5B6-4590-B92E-CD637F0CB90B}">
  <ds:schemaRefs/>
</ds:datastoreItem>
</file>

<file path=customXml/itemProps2.xml><?xml version="1.0" encoding="utf-8"?>
<ds:datastoreItem xmlns:ds="http://schemas.openxmlformats.org/officeDocument/2006/customXml" ds:itemID="{F5E1C14A-7340-491A-B256-869DF0B04D04}">
  <ds:schemaRefs/>
</ds:datastoreItem>
</file>

<file path=customXml/itemProps3.xml><?xml version="1.0" encoding="utf-8"?>
<ds:datastoreItem xmlns:ds="http://schemas.openxmlformats.org/officeDocument/2006/customXml" ds:itemID="{0A2CBBF2-7D9C-433B-9875-D97DC210A123}">
  <ds:schemaRefs/>
</ds:datastoreItem>
</file>

<file path=docProps/app.xml><?xml version="1.0" encoding="utf-8"?>
<Properties xmlns="http://schemas.openxmlformats.org/officeDocument/2006/extended-properties" xmlns:vt="http://schemas.openxmlformats.org/officeDocument/2006/docPropsVTypes">
  <Template>kifir_felveteli_2025</Template>
  <TotalTime>1366</TotalTime>
  <Words>2081</Words>
  <Application>Microsoft Office PowerPoint</Application>
  <PresentationFormat>Szélesvásznú</PresentationFormat>
  <Paragraphs>431</Paragraphs>
  <Slides>23</Slides>
  <Notes>1</Notes>
  <HiddenSlides>0</HiddenSlides>
  <MMClips>0</MMClips>
  <ScaleCrop>false</ScaleCrop>
  <HeadingPairs>
    <vt:vector size="6" baseType="variant">
      <vt:variant>
        <vt:lpstr>Használt betűtípusok</vt:lpstr>
      </vt:variant>
      <vt:variant>
        <vt:i4>6</vt:i4>
      </vt:variant>
      <vt:variant>
        <vt:lpstr>Téma</vt:lpstr>
      </vt:variant>
      <vt:variant>
        <vt:i4>1</vt:i4>
      </vt:variant>
      <vt:variant>
        <vt:lpstr>Diacímek</vt:lpstr>
      </vt:variant>
      <vt:variant>
        <vt:i4>23</vt:i4>
      </vt:variant>
    </vt:vector>
  </HeadingPairs>
  <TitlesOfParts>
    <vt:vector size="30" baseType="lpstr">
      <vt:lpstr>Arial</vt:lpstr>
      <vt:lpstr>Calibri</vt:lpstr>
      <vt:lpstr>Courier New</vt:lpstr>
      <vt:lpstr>Lato</vt:lpstr>
      <vt:lpstr>Times New Roman</vt:lpstr>
      <vt:lpstr>Verdana</vt:lpstr>
      <vt:lpstr>Office-téma</vt:lpstr>
      <vt:lpstr>Középfokú felvételi eljárás a 2025/2026. tanévben</vt:lpstr>
      <vt:lpstr>A felvételi eljárás alapelvei</vt:lpstr>
      <vt:lpstr>A középfokú felvételi eljárás során használt legfontosabb fogalmak</vt:lpstr>
      <vt:lpstr>A tanulmányi területek, és az azokat meghirdető intézmények számadatai</vt:lpstr>
      <vt:lpstr>A felvételi kérelmek elbírálása a  9. évfolyamra meghirdetett tanulmányi területeken</vt:lpstr>
      <vt:lpstr>A felvételi kérelmek elbírálása a 6 vagy 8 évfolyamos gimnáziumi tanulmányi területeken</vt:lpstr>
      <vt:lpstr>A központi írásbeli vizsga adatai</vt:lpstr>
      <vt:lpstr>A központi írásbeli vizsgákon való részvétel  (9. évfolyamra történő felvételi)</vt:lpstr>
      <vt:lpstr>A központi írásbeli vizsgákon való részvétel  (8 és 6 évfolyamos gimnáziumi felvételi)</vt:lpstr>
      <vt:lpstr>A központi írásbeli vizsgán részt vevő* tanulók száma és arányuk a 9. évfolyamra felvételizők számához viszonyítva</vt:lpstr>
      <vt:lpstr>A központi írásbeli vizsgák eredményei (mentességgel rendelkező és pótló napon író vizsgázók nélkül)</vt:lpstr>
      <vt:lpstr>Az általános felvételi adatok változásai az elmúlt 10 évben (a középfokú iskola 9. évfolyamára jelentkezők körében)</vt:lpstr>
      <vt:lpstr>Az általános felvételi adatok változásai az elmúlt 10 évben (a 6 évfolyamos gimnáziumba jelentkezők körében)</vt:lpstr>
      <vt:lpstr>Az általános felvételi adatok változásai az elmúlt 10 évben (a 8 évfolyamos gimnáziumba jelentkezők körében)</vt:lpstr>
      <vt:lpstr>A 9. évfolyamra jelentkezők továbbtanulási szándéka  az elmúlt 10 évben (az első helyen benyújtott tanulói jelentkezések alapján)</vt:lpstr>
      <vt:lpstr>A 9. évfolyamra felvételt nyertek aránya az elmúlt 10 évben</vt:lpstr>
      <vt:lpstr>Az általános felvételi eljárásban felvett tanulók számának változásai az elmúlt 10 évben</vt:lpstr>
      <vt:lpstr>A 9. évfolyamra történő beiskolázás  néhány számadata</vt:lpstr>
      <vt:lpstr>A felvételek aránya a 9. évfolyamra a tanulók szándéka szerint az általános felvételi eljárásban</vt:lpstr>
      <vt:lpstr>Felvétel a nyelvi előkészítő évfolyamokra  az általános felvételi eljárásban</vt:lpstr>
      <vt:lpstr>Férőhelyek a 2026/2027-es tanévre</vt:lpstr>
      <vt:lpstr>A felvett tanulók megoszlása tanulmányi területek szerint a szakgimnáziumokban</vt:lpstr>
      <vt:lpstr>A 10 legkeresettebb szakképesítés a szakgimnáziumokban (a felvett tanulók száma alapján)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Középfokú felvételi eljárás a 2024/2025. tanévben</dc:title>
  <dc:creator>Bézi Erika 2</dc:creator>
  <cp:lastModifiedBy>Bézi Erika 2</cp:lastModifiedBy>
  <cp:revision>200</cp:revision>
  <dcterms:created xsi:type="dcterms:W3CDTF">2025-04-02T13:41:00Z</dcterms:created>
  <dcterms:modified xsi:type="dcterms:W3CDTF">2026-05-13T11:32:07Z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0x01010040729A8387CC9444967562CF72CBD7EA</vt:lpwstr>
  </property>
  <property fmtid="{D5CDD505-2E9C-101B-9397-08002B2CF9AE}" pid="3" name="ICV">
    <vt:lpwstr>68B9A757F3F1403AA8999EE7AC166A6E_12</vt:lpwstr>
  </property>
  <property fmtid="{D5CDD505-2E9C-101B-9397-08002B2CF9AE}" pid="4" name="KSOProductBuildVer">
    <vt:lpwstr>1033-12.2.0.21179</vt:lpwstr>
  </property>
</Properties>
</file>